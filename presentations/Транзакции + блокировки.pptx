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286" r:id="rId4"/>
    <p:sldId id="299" r:id="rId5"/>
    <p:sldId id="305" r:id="rId6"/>
    <p:sldId id="306" r:id="rId7"/>
    <p:sldId id="307" r:id="rId8"/>
    <p:sldId id="308" r:id="rId9"/>
    <p:sldId id="287" r:id="rId10"/>
    <p:sldId id="288" r:id="rId11"/>
    <p:sldId id="309" r:id="rId12"/>
    <p:sldId id="325" r:id="rId13"/>
    <p:sldId id="326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9" r:id="rId23"/>
    <p:sldId id="323" r:id="rId24"/>
    <p:sldId id="328" r:id="rId25"/>
    <p:sldId id="320" r:id="rId26"/>
    <p:sldId id="324" r:id="rId27"/>
    <p:sldId id="322" r:id="rId28"/>
    <p:sldId id="336" r:id="rId29"/>
    <p:sldId id="372" r:id="rId30"/>
    <p:sldId id="337" r:id="rId31"/>
    <p:sldId id="327" r:id="rId32"/>
    <p:sldId id="374" r:id="rId33"/>
    <p:sldId id="289" r:id="rId34"/>
    <p:sldId id="300" r:id="rId35"/>
    <p:sldId id="376" r:id="rId36"/>
    <p:sldId id="296" r:id="rId37"/>
    <p:sldId id="290" r:id="rId38"/>
    <p:sldId id="291" r:id="rId39"/>
    <p:sldId id="292" r:id="rId40"/>
    <p:sldId id="293" r:id="rId41"/>
    <p:sldId id="294" r:id="rId42"/>
    <p:sldId id="295" r:id="rId43"/>
    <p:sldId id="357" r:id="rId44"/>
    <p:sldId id="258" r:id="rId45"/>
    <p:sldId id="259" r:id="rId46"/>
    <p:sldId id="262" r:id="rId47"/>
    <p:sldId id="263" r:id="rId48"/>
    <p:sldId id="284" r:id="rId49"/>
    <p:sldId id="264" r:id="rId50"/>
    <p:sldId id="267" r:id="rId51"/>
    <p:sldId id="355" r:id="rId52"/>
    <p:sldId id="265" r:id="rId53"/>
    <p:sldId id="358" r:id="rId54"/>
    <p:sldId id="266" r:id="rId55"/>
    <p:sldId id="257" r:id="rId56"/>
    <p:sldId id="279" r:id="rId57"/>
    <p:sldId id="261" r:id="rId58"/>
    <p:sldId id="260" r:id="rId59"/>
    <p:sldId id="276" r:id="rId60"/>
    <p:sldId id="298" r:id="rId61"/>
    <p:sldId id="278" r:id="rId62"/>
    <p:sldId id="275" r:id="rId63"/>
    <p:sldId id="277" r:id="rId64"/>
    <p:sldId id="281" r:id="rId65"/>
    <p:sldId id="280" r:id="rId66"/>
    <p:sldId id="329" r:id="rId67"/>
    <p:sldId id="270" r:id="rId68"/>
    <p:sldId id="272" r:id="rId69"/>
    <p:sldId id="273" r:id="rId70"/>
    <p:sldId id="274" r:id="rId71"/>
    <p:sldId id="331" r:id="rId72"/>
    <p:sldId id="334" r:id="rId73"/>
    <p:sldId id="297" r:id="rId74"/>
    <p:sldId id="301" r:id="rId75"/>
    <p:sldId id="302" r:id="rId76"/>
    <p:sldId id="333" r:id="rId77"/>
    <p:sldId id="332" r:id="rId78"/>
    <p:sldId id="304" r:id="rId79"/>
    <p:sldId id="330" r:id="rId80"/>
    <p:sldId id="303" r:id="rId81"/>
    <p:sldId id="359" r:id="rId82"/>
    <p:sldId id="366" r:id="rId83"/>
    <p:sldId id="367" r:id="rId84"/>
    <p:sldId id="368" r:id="rId85"/>
    <p:sldId id="369" r:id="rId86"/>
    <p:sldId id="370" r:id="rId87"/>
    <p:sldId id="351" r:id="rId88"/>
    <p:sldId id="371" r:id="rId89"/>
    <p:sldId id="339" r:id="rId90"/>
    <p:sldId id="340" r:id="rId91"/>
    <p:sldId id="341" r:id="rId92"/>
    <p:sldId id="360" r:id="rId93"/>
    <p:sldId id="362" r:id="rId94"/>
    <p:sldId id="361" r:id="rId95"/>
    <p:sldId id="363" r:id="rId96"/>
    <p:sldId id="364" r:id="rId97"/>
    <p:sldId id="343" r:id="rId98"/>
    <p:sldId id="365" r:id="rId99"/>
    <p:sldId id="342" r:id="rId100"/>
    <p:sldId id="350" r:id="rId101"/>
    <p:sldId id="344" r:id="rId102"/>
    <p:sldId id="349" r:id="rId103"/>
    <p:sldId id="377" r:id="rId104"/>
    <p:sldId id="345" r:id="rId105"/>
    <p:sldId id="346" r:id="rId106"/>
    <p:sldId id="380" r:id="rId107"/>
    <p:sldId id="378" r:id="rId108"/>
    <p:sldId id="379" r:id="rId109"/>
    <p:sldId id="347" r:id="rId110"/>
    <p:sldId id="348" r:id="rId1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68" autoAdjust="0"/>
    <p:restoredTop sz="94660"/>
  </p:normalViewPr>
  <p:slideViewPr>
    <p:cSldViewPr>
      <p:cViewPr varScale="1">
        <p:scale>
          <a:sx n="103" d="100"/>
          <a:sy n="103" d="100"/>
        </p:scale>
        <p:origin x="99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72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F78C-DD60-4DDE-8EFB-34D0A2554E55}" type="datetimeFigureOut">
              <a:rPr lang="ru-RU" smtClean="0"/>
              <a:pPr/>
              <a:t>03.05.2016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7BD5D-522E-4171-9683-1E79D20DEF7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F78C-DD60-4DDE-8EFB-34D0A2554E55}" type="datetimeFigureOut">
              <a:rPr lang="ru-RU" smtClean="0"/>
              <a:pPr/>
              <a:t>03.05.2016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7BD5D-522E-4171-9683-1E79D20DEF7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F78C-DD60-4DDE-8EFB-34D0A2554E55}" type="datetimeFigureOut">
              <a:rPr lang="ru-RU" smtClean="0"/>
              <a:pPr/>
              <a:t>03.05.2016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7BD5D-522E-4171-9683-1E79D20DEF7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F78C-DD60-4DDE-8EFB-34D0A2554E55}" type="datetimeFigureOut">
              <a:rPr lang="ru-RU" smtClean="0"/>
              <a:pPr/>
              <a:t>03.05.2016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7BD5D-522E-4171-9683-1E79D20DEF7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F78C-DD60-4DDE-8EFB-34D0A2554E55}" type="datetimeFigureOut">
              <a:rPr lang="ru-RU" smtClean="0"/>
              <a:pPr/>
              <a:t>03.05.2016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7BD5D-522E-4171-9683-1E79D20DEF7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F78C-DD60-4DDE-8EFB-34D0A2554E55}" type="datetimeFigureOut">
              <a:rPr lang="ru-RU" smtClean="0"/>
              <a:pPr/>
              <a:t>03.05.2016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7BD5D-522E-4171-9683-1E79D20DEF7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F78C-DD60-4DDE-8EFB-34D0A2554E55}" type="datetimeFigureOut">
              <a:rPr lang="ru-RU" smtClean="0"/>
              <a:pPr/>
              <a:t>03.05.2016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7BD5D-522E-4171-9683-1E79D20DEF7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F78C-DD60-4DDE-8EFB-34D0A2554E55}" type="datetimeFigureOut">
              <a:rPr lang="ru-RU" smtClean="0"/>
              <a:pPr/>
              <a:t>03.05.2016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7BD5D-522E-4171-9683-1E79D20DEF7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F78C-DD60-4DDE-8EFB-34D0A2554E55}" type="datetimeFigureOut">
              <a:rPr lang="ru-RU" smtClean="0"/>
              <a:pPr/>
              <a:t>03.05.2016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7BD5D-522E-4171-9683-1E79D20DEF7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F78C-DD60-4DDE-8EFB-34D0A2554E55}" type="datetimeFigureOut">
              <a:rPr lang="ru-RU" smtClean="0"/>
              <a:pPr/>
              <a:t>03.05.2016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7BD5D-522E-4171-9683-1E79D20DEF7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F78C-DD60-4DDE-8EFB-34D0A2554E55}" type="datetimeFigureOut">
              <a:rPr lang="ru-RU" smtClean="0"/>
              <a:pPr/>
              <a:t>03.05.2016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7BD5D-522E-4171-9683-1E79D20DEF7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6EF78C-DD60-4DDE-8EFB-34D0A2554E55}" type="datetimeFigureOut">
              <a:rPr lang="ru-RU" smtClean="0"/>
              <a:pPr/>
              <a:t>03.05.2016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7BD5D-522E-4171-9683-1E79D20DEF7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Транзакции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Транзакция - это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>
              <a:buNone/>
            </a:pPr>
            <a:r>
              <a:rPr lang="ru-RU" dirty="0" smtClean="0"/>
              <a:t>последовательность операций, производимых над базой данных и переводящих базу данных из одного согласованного состояния в другое согласованное состояние.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Транзакция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некоторое неделимое действие над базой данных, осмысленное с точки зрения пользователя</a:t>
            </a:r>
          </a:p>
          <a:p>
            <a:r>
              <a:rPr lang="ru-RU" dirty="0" smtClean="0"/>
              <a:t>логическая единица работы системы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Транзакция</a:t>
            </a:r>
            <a:r>
              <a:rPr lang="en-US" dirty="0" smtClean="0"/>
              <a:t>- </a:t>
            </a:r>
            <a:r>
              <a:rPr lang="ru-RU" dirty="0" smtClean="0"/>
              <a:t>требования </a:t>
            </a:r>
            <a:r>
              <a:rPr lang="en-US" dirty="0" smtClean="0"/>
              <a:t>ACID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Atomicity </a:t>
            </a:r>
            <a:r>
              <a:rPr lang="en-US" dirty="0"/>
              <a:t>— </a:t>
            </a:r>
            <a:r>
              <a:rPr lang="ru-RU" dirty="0"/>
              <a:t>Атомарность</a:t>
            </a:r>
          </a:p>
          <a:p>
            <a:r>
              <a:rPr lang="en-US" dirty="0" smtClean="0"/>
              <a:t>Consistency </a:t>
            </a:r>
            <a:r>
              <a:rPr lang="en-US" dirty="0"/>
              <a:t>— </a:t>
            </a:r>
            <a:r>
              <a:rPr lang="ru-RU" dirty="0"/>
              <a:t>Согласованность</a:t>
            </a:r>
          </a:p>
          <a:p>
            <a:r>
              <a:rPr lang="en-US" dirty="0" smtClean="0"/>
              <a:t>Isolation </a:t>
            </a:r>
            <a:r>
              <a:rPr lang="en-US" dirty="0"/>
              <a:t>— </a:t>
            </a:r>
            <a:r>
              <a:rPr lang="ru-RU" dirty="0"/>
              <a:t>Изолированность</a:t>
            </a:r>
          </a:p>
          <a:p>
            <a:r>
              <a:rPr lang="en-US" dirty="0" smtClean="0"/>
              <a:t>Durability </a:t>
            </a:r>
            <a:r>
              <a:rPr lang="en-US" dirty="0"/>
              <a:t>— </a:t>
            </a:r>
            <a:r>
              <a:rPr lang="ru-RU" dirty="0"/>
              <a:t>Надежность</a:t>
            </a:r>
          </a:p>
        </p:txBody>
      </p:sp>
    </p:spTree>
    <p:extLst>
      <p:ext uri="{BB962C8B-B14F-4D97-AF65-F5344CB8AC3E}">
        <p14:creationId xmlns:p14="http://schemas.microsoft.com/office/powerpoint/2010/main" val="2273808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Atomicity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10"/>
          </a:xfrm>
        </p:spPr>
        <p:txBody>
          <a:bodyPr>
            <a:normAutofit/>
          </a:bodyPr>
          <a:lstStyle/>
          <a:p>
            <a:r>
              <a:rPr lang="ru-RU" dirty="0" smtClean="0"/>
              <a:t> Каждая транзакция представляет собой единицу работы. </a:t>
            </a:r>
          </a:p>
          <a:p>
            <a:r>
              <a:rPr lang="ru-RU" dirty="0" smtClean="0"/>
              <a:t>Она не может быть разбита на меньшие части. </a:t>
            </a:r>
          </a:p>
          <a:p>
            <a:r>
              <a:rPr lang="ru-RU" dirty="0"/>
              <a:t>В</a:t>
            </a:r>
            <a:r>
              <a:rPr lang="ru-RU" dirty="0" smtClean="0"/>
              <a:t>ыполняются либо все действия, определенные в данной транзакции, либо не выполняется ни одно из них.</a:t>
            </a:r>
          </a:p>
        </p:txBody>
      </p:sp>
    </p:spTree>
    <p:extLst>
      <p:ext uri="{BB962C8B-B14F-4D97-AF65-F5344CB8AC3E}">
        <p14:creationId xmlns:p14="http://schemas.microsoft.com/office/powerpoint/2010/main" val="831241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Consistency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10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Свойство согласованности гарантирует, что по мере выполнения транзакций данные переходят из одного согласованного состояния в другое — транзакция не разрушает взаимной согласованности данных. </a:t>
            </a:r>
          </a:p>
          <a:p>
            <a:r>
              <a:rPr lang="ru-RU" dirty="0" smtClean="0"/>
              <a:t>Для поддержания согласованности данных в процессе транзакции применяются все правила, проверки, ограничения и триггеры.</a:t>
            </a:r>
          </a:p>
        </p:txBody>
      </p:sp>
    </p:spTree>
    <p:extLst>
      <p:ext uri="{BB962C8B-B14F-4D97-AF65-F5344CB8AC3E}">
        <p14:creationId xmlns:p14="http://schemas.microsoft.com/office/powerpoint/2010/main" val="816680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Isolation</a:t>
            </a:r>
            <a:endParaRPr lang="en-US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10"/>
          </a:xfrm>
        </p:spPr>
        <p:txBody>
          <a:bodyPr>
            <a:normAutofit/>
          </a:bodyPr>
          <a:lstStyle/>
          <a:p>
            <a:r>
              <a:rPr lang="ru-RU" dirty="0" smtClean="0"/>
              <a:t>Свойство изолированности означает, что конкурирующие за доступ к базе данных транзакции физически обрабатываются изолированно друг от друга, но для пользователей это выглядит так, как будто они выполняются параллельно. </a:t>
            </a:r>
          </a:p>
        </p:txBody>
      </p:sp>
    </p:spTree>
    <p:extLst>
      <p:ext uri="{BB962C8B-B14F-4D97-AF65-F5344CB8AC3E}">
        <p14:creationId xmlns:p14="http://schemas.microsoft.com/office/powerpoint/2010/main" val="1558623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Durability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10"/>
          </a:xfrm>
        </p:spPr>
        <p:txBody>
          <a:bodyPr>
            <a:normAutofit/>
          </a:bodyPr>
          <a:lstStyle/>
          <a:p>
            <a:r>
              <a:rPr lang="ru-RU" dirty="0" smtClean="0"/>
              <a:t>Свойство долговечности трактуется следующим образом: если транзакция завершена успешно, то те изменения в данных, которые были ею произведены, не могут быть потеряны ни при каких обстоятельствах (даже в случае последующих ошибок).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0207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Согласованность в базах данных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 </a:t>
            </a:r>
            <a:r>
              <a:rPr lang="ru-RU" i="1" dirty="0"/>
              <a:t>База данных находится в </a:t>
            </a:r>
            <a:r>
              <a:rPr lang="ru-RU" b="1" i="1" dirty="0"/>
              <a:t>согласованном состоянии</a:t>
            </a:r>
            <a:r>
              <a:rPr lang="ru-RU" i="1" dirty="0"/>
              <a:t>, если для этого состояния выполнены все </a:t>
            </a:r>
            <a:r>
              <a:rPr lang="ru-RU" b="1" i="1" dirty="0"/>
              <a:t>ограничения целостности</a:t>
            </a:r>
            <a:r>
              <a:rPr lang="ru-RU" i="1" dirty="0"/>
              <a:t>.</a:t>
            </a:r>
            <a:endParaRPr lang="ru-RU" dirty="0"/>
          </a:p>
          <a:p>
            <a:r>
              <a:rPr lang="ru-RU" b="1" i="1" dirty="0"/>
              <a:t>Ограничение целостности</a:t>
            </a:r>
            <a:r>
              <a:rPr lang="ru-RU" i="1" dirty="0"/>
              <a:t> - это некоторое утверждение, которое может быть истинным или ложным в зависимости от состояния базы данных.</a:t>
            </a:r>
            <a:endParaRPr lang="ru-RU" dirty="0"/>
          </a:p>
          <a:p>
            <a:r>
              <a:rPr lang="ru-RU" dirty="0" smtClean="0"/>
              <a:t>Конкурентное использование ресурсов корректными программами может привести к некорректным результатам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Согласованность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Отказы при выполнении программ-клиентов, СУБД, операционной системы и оборудования могут привести к нарушениям согласованности</a:t>
            </a:r>
          </a:p>
          <a:p>
            <a:r>
              <a:rPr lang="ru-RU" dirty="0" smtClean="0"/>
              <a:t> Функция СУБД –гарантировать согласованность при конкурентном выполнении и восстановление согласованности после всех видов отказов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Пример </a:t>
            </a:r>
            <a:r>
              <a:rPr lang="ru-RU" dirty="0" smtClean="0"/>
              <a:t>1</a:t>
            </a:r>
            <a:br>
              <a:rPr lang="ru-RU" dirty="0" smtClean="0"/>
            </a:br>
            <a:r>
              <a:rPr lang="ru-RU" dirty="0" smtClean="0"/>
              <a:t>обрыв транзакции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T1</a:t>
            </a: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5482952" cy="3951288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Read (A);</a:t>
            </a:r>
          </a:p>
          <a:p>
            <a:pPr>
              <a:buNone/>
            </a:pPr>
            <a:r>
              <a:rPr lang="en-US" dirty="0"/>
              <a:t>Read </a:t>
            </a:r>
            <a:r>
              <a:rPr lang="en-US" dirty="0" smtClean="0"/>
              <a:t>(B);</a:t>
            </a:r>
            <a:endParaRPr lang="en-US" dirty="0"/>
          </a:p>
          <a:p>
            <a:pPr>
              <a:buNone/>
            </a:pPr>
            <a:r>
              <a:rPr lang="en-US" dirty="0" smtClean="0"/>
              <a:t>A:=A-100;</a:t>
            </a:r>
          </a:p>
          <a:p>
            <a:pPr>
              <a:buNone/>
            </a:pPr>
            <a:r>
              <a:rPr lang="en-US" dirty="0" smtClean="0"/>
              <a:t>B:=B+100</a:t>
            </a:r>
            <a:r>
              <a:rPr lang="en-US" dirty="0"/>
              <a:t>;</a:t>
            </a:r>
          </a:p>
          <a:p>
            <a:pPr>
              <a:buNone/>
            </a:pPr>
            <a:r>
              <a:rPr lang="en-US" dirty="0" smtClean="0"/>
              <a:t>Write (A)</a:t>
            </a:r>
          </a:p>
          <a:p>
            <a:pPr>
              <a:buNone/>
            </a:pPr>
            <a:r>
              <a:rPr lang="en-US" dirty="0" smtClean="0"/>
              <a:t>…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smtClean="0"/>
              <a:t>Write (B).</a:t>
            </a:r>
            <a:endParaRPr lang="ru-RU" dirty="0"/>
          </a:p>
          <a:p>
            <a:pPr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650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Пример </a:t>
            </a:r>
            <a:r>
              <a:rPr lang="en-US" dirty="0" smtClean="0"/>
              <a:t>2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конкурирующие транзакции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T1</a:t>
            </a: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Read (A);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A:=A+1;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smtClean="0"/>
              <a:t>Write (A).</a:t>
            </a:r>
            <a:endParaRPr lang="ru-RU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T2</a:t>
            </a:r>
            <a:endParaRPr lang="ru-RU" dirty="0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Read (A);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A:=A+1;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Write (A).</a:t>
            </a:r>
            <a:endParaRPr lang="ru-RU" dirty="0" smtClean="0"/>
          </a:p>
          <a:p>
            <a:pPr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7770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Пример </a:t>
            </a:r>
            <a:r>
              <a:rPr lang="en-US" dirty="0" smtClean="0"/>
              <a:t>3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конкурирующие транзакции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T1</a:t>
            </a: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Read (A)</a:t>
            </a:r>
          </a:p>
          <a:p>
            <a:pPr>
              <a:buNone/>
            </a:pPr>
            <a:r>
              <a:rPr lang="en-US" dirty="0" smtClean="0"/>
              <a:t>A:=A+100</a:t>
            </a:r>
          </a:p>
          <a:p>
            <a:pPr>
              <a:buNone/>
            </a:pPr>
            <a:r>
              <a:rPr lang="en-US" dirty="0" smtClean="0"/>
              <a:t>Write (A)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Read </a:t>
            </a:r>
            <a:r>
              <a:rPr lang="en-US" dirty="0"/>
              <a:t>(B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/>
              <a:t>B:=</a:t>
            </a:r>
            <a:r>
              <a:rPr lang="en-US" dirty="0" smtClean="0"/>
              <a:t>B+100</a:t>
            </a:r>
            <a:endParaRPr lang="en-US" dirty="0"/>
          </a:p>
          <a:p>
            <a:pPr>
              <a:buNone/>
            </a:pPr>
            <a:r>
              <a:rPr lang="en-US" dirty="0"/>
              <a:t>Write (B</a:t>
            </a:r>
            <a:r>
              <a:rPr lang="en-US" dirty="0" smtClean="0"/>
              <a:t>)</a:t>
            </a:r>
            <a:endParaRPr lang="ru-RU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ru-RU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T2</a:t>
            </a:r>
            <a:endParaRPr lang="ru-RU" dirty="0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Read (B)</a:t>
            </a:r>
          </a:p>
          <a:p>
            <a:pPr>
              <a:buNone/>
            </a:pPr>
            <a:r>
              <a:rPr lang="en-US" dirty="0"/>
              <a:t>B:=</a:t>
            </a:r>
            <a:r>
              <a:rPr lang="en-US" dirty="0" smtClean="0"/>
              <a:t>B*2;</a:t>
            </a:r>
            <a:endParaRPr lang="en-US" dirty="0"/>
          </a:p>
          <a:p>
            <a:pPr>
              <a:buNone/>
            </a:pPr>
            <a:r>
              <a:rPr lang="en-US" dirty="0" smtClean="0"/>
              <a:t>Write </a:t>
            </a:r>
            <a:r>
              <a:rPr lang="en-US" dirty="0"/>
              <a:t>(B</a:t>
            </a:r>
            <a:r>
              <a:rPr lang="en-US" dirty="0" smtClean="0"/>
              <a:t>)</a:t>
            </a:r>
            <a:endParaRPr lang="ru-RU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Read (A)</a:t>
            </a:r>
          </a:p>
          <a:p>
            <a:pPr>
              <a:buNone/>
            </a:pPr>
            <a:r>
              <a:rPr lang="en-US" dirty="0" smtClean="0"/>
              <a:t>A:=A*2</a:t>
            </a:r>
          </a:p>
          <a:p>
            <a:pPr>
              <a:buNone/>
            </a:pPr>
            <a:r>
              <a:rPr lang="en-US" dirty="0" smtClean="0"/>
              <a:t>Write (A)</a:t>
            </a:r>
            <a:endParaRPr lang="ru-RU" dirty="0" smtClean="0"/>
          </a:p>
          <a:p>
            <a:pPr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847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Транзакции, истории и расписания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База данных: </a:t>
            </a:r>
            <a:r>
              <a:rPr lang="ru-RU" dirty="0" err="1" smtClean="0"/>
              <a:t>x</a:t>
            </a:r>
            <a:r>
              <a:rPr lang="ru-RU" dirty="0" smtClean="0"/>
              <a:t>, </a:t>
            </a:r>
            <a:r>
              <a:rPr lang="ru-RU" dirty="0" err="1" smtClean="0"/>
              <a:t>y</a:t>
            </a:r>
            <a:r>
              <a:rPr lang="ru-RU" dirty="0" smtClean="0"/>
              <a:t>, </a:t>
            </a:r>
            <a:r>
              <a:rPr lang="ru-RU" dirty="0" err="1" smtClean="0"/>
              <a:t>z</a:t>
            </a:r>
            <a:r>
              <a:rPr lang="ru-RU" dirty="0" smtClean="0"/>
              <a:t>, …</a:t>
            </a:r>
          </a:p>
          <a:p>
            <a:r>
              <a:rPr lang="ru-RU" dirty="0" smtClean="0"/>
              <a:t>Операции: </a:t>
            </a:r>
            <a:r>
              <a:rPr lang="en-US" dirty="0" smtClean="0"/>
              <a:t>r(x), w(x)</a:t>
            </a:r>
          </a:p>
          <a:p>
            <a:r>
              <a:rPr lang="ru-RU" dirty="0" smtClean="0"/>
              <a:t>Транзакции: конечная последовательность операций</a:t>
            </a:r>
            <a:br>
              <a:rPr lang="ru-RU" dirty="0" smtClean="0"/>
            </a:br>
            <a:r>
              <a:rPr lang="en-US" dirty="0" smtClean="0"/>
              <a:t>–r</a:t>
            </a:r>
            <a:r>
              <a:rPr lang="en-US" baseline="-25000" dirty="0" smtClean="0"/>
              <a:t>1</a:t>
            </a:r>
            <a:r>
              <a:rPr lang="en-US" dirty="0" smtClean="0"/>
              <a:t>(x)r</a:t>
            </a:r>
            <a:r>
              <a:rPr lang="en-US" baseline="-25000" dirty="0" smtClean="0"/>
              <a:t>1</a:t>
            </a:r>
            <a:r>
              <a:rPr lang="en-US" dirty="0" smtClean="0"/>
              <a:t>(y) w</a:t>
            </a:r>
            <a:r>
              <a:rPr lang="en-US" baseline="-25000" dirty="0" smtClean="0"/>
              <a:t>1</a:t>
            </a:r>
            <a:r>
              <a:rPr lang="en-US" dirty="0" smtClean="0"/>
              <a:t>(z)</a:t>
            </a:r>
          </a:p>
          <a:p>
            <a:r>
              <a:rPr lang="ru-RU" dirty="0" smtClean="0"/>
              <a:t>История: упорядоченная совокупность операций нескольких транзакций</a:t>
            </a:r>
            <a:br>
              <a:rPr lang="ru-RU" dirty="0" smtClean="0"/>
            </a:br>
            <a:r>
              <a:rPr lang="en-US" dirty="0" smtClean="0"/>
              <a:t>–r</a:t>
            </a:r>
            <a:r>
              <a:rPr lang="en-US" baseline="-25000" dirty="0" smtClean="0"/>
              <a:t>1</a:t>
            </a:r>
            <a:r>
              <a:rPr lang="en-US" dirty="0" smtClean="0"/>
              <a:t>(x)r</a:t>
            </a:r>
            <a:r>
              <a:rPr lang="en-US" baseline="-25000" dirty="0" smtClean="0"/>
              <a:t>2</a:t>
            </a:r>
            <a:r>
              <a:rPr lang="en-US" dirty="0" smtClean="0"/>
              <a:t>(x</a:t>
            </a:r>
            <a:r>
              <a:rPr lang="ru-RU" dirty="0" smtClean="0"/>
              <a:t>)</a:t>
            </a:r>
            <a:r>
              <a:rPr lang="en-US" dirty="0" smtClean="0"/>
              <a:t>w</a:t>
            </a:r>
            <a:r>
              <a:rPr lang="en-US" baseline="-25000" dirty="0" smtClean="0"/>
              <a:t>1</a:t>
            </a:r>
            <a:r>
              <a:rPr lang="en-US" dirty="0" smtClean="0"/>
              <a:t>(x) w</a:t>
            </a:r>
            <a:r>
              <a:rPr lang="en-US" baseline="-25000" dirty="0" smtClean="0"/>
              <a:t>2</a:t>
            </a:r>
            <a:r>
              <a:rPr lang="en-US" dirty="0" smtClean="0"/>
              <a:t>(x)</a:t>
            </a:r>
            <a:r>
              <a:rPr lang="ru-RU" dirty="0" smtClean="0"/>
              <a:t>с</a:t>
            </a:r>
            <a:r>
              <a:rPr lang="ru-RU" baseline="-25000" dirty="0" smtClean="0"/>
              <a:t>1</a:t>
            </a:r>
            <a:r>
              <a:rPr lang="ru-RU" dirty="0" smtClean="0"/>
              <a:t> с</a:t>
            </a:r>
            <a:r>
              <a:rPr lang="ru-RU" baseline="-25000" dirty="0" smtClean="0"/>
              <a:t>2</a:t>
            </a:r>
          </a:p>
          <a:p>
            <a:r>
              <a:rPr lang="ru-RU" dirty="0" smtClean="0"/>
              <a:t>Расписание: префикс истории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3277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Проблемы, вызванные </a:t>
            </a:r>
            <a:r>
              <a:rPr lang="ru-RU" dirty="0" err="1" smtClean="0"/>
              <a:t>конкурентностью</a:t>
            </a:r>
            <a:r>
              <a:rPr lang="ru-RU" dirty="0" smtClean="0"/>
              <a:t> выполнения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Потеря обновлений</a:t>
            </a:r>
            <a:br>
              <a:rPr lang="ru-RU" dirty="0" smtClean="0"/>
            </a:br>
            <a:r>
              <a:rPr lang="en-US" dirty="0" smtClean="0"/>
              <a:t>–r</a:t>
            </a:r>
            <a:r>
              <a:rPr lang="en-US" baseline="-25000" dirty="0" smtClean="0"/>
              <a:t>1</a:t>
            </a:r>
            <a:r>
              <a:rPr lang="en-US" dirty="0" smtClean="0"/>
              <a:t>(x) r</a:t>
            </a:r>
            <a:r>
              <a:rPr lang="en-US" baseline="-25000" dirty="0" smtClean="0"/>
              <a:t>2</a:t>
            </a:r>
            <a:r>
              <a:rPr lang="en-US" dirty="0" smtClean="0"/>
              <a:t>(x) w</a:t>
            </a:r>
            <a:r>
              <a:rPr lang="en-US" baseline="-25000" dirty="0" smtClean="0"/>
              <a:t>1</a:t>
            </a:r>
            <a:r>
              <a:rPr lang="en-US" dirty="0" smtClean="0"/>
              <a:t>(x) w</a:t>
            </a:r>
            <a:r>
              <a:rPr lang="en-US" baseline="-25000" dirty="0" smtClean="0"/>
              <a:t>2</a:t>
            </a:r>
            <a:r>
              <a:rPr lang="en-US" dirty="0" smtClean="0"/>
              <a:t>(x)</a:t>
            </a:r>
          </a:p>
          <a:p>
            <a:r>
              <a:rPr lang="ru-RU" dirty="0" smtClean="0"/>
              <a:t>Несогласованное чтение</a:t>
            </a:r>
            <a:br>
              <a:rPr lang="ru-RU" dirty="0" smtClean="0"/>
            </a:br>
            <a:r>
              <a:rPr lang="en-US" dirty="0" smtClean="0"/>
              <a:t>–r</a:t>
            </a:r>
            <a:r>
              <a:rPr lang="en-US" baseline="-25000" dirty="0" smtClean="0"/>
              <a:t>1</a:t>
            </a:r>
            <a:r>
              <a:rPr lang="en-US" dirty="0" smtClean="0"/>
              <a:t>(x) r</a:t>
            </a:r>
            <a:r>
              <a:rPr lang="en-US" baseline="-25000" dirty="0" smtClean="0"/>
              <a:t>2</a:t>
            </a:r>
            <a:r>
              <a:rPr lang="en-US" dirty="0" smtClean="0"/>
              <a:t>(y) w</a:t>
            </a:r>
            <a:r>
              <a:rPr lang="en-US" baseline="-25000" dirty="0" smtClean="0"/>
              <a:t>2</a:t>
            </a:r>
            <a:r>
              <a:rPr lang="en-US" dirty="0" smtClean="0"/>
              <a:t>(y) r</a:t>
            </a:r>
            <a:r>
              <a:rPr lang="en-US" baseline="-25000" dirty="0" smtClean="0"/>
              <a:t>1</a:t>
            </a:r>
            <a:r>
              <a:rPr lang="en-US" dirty="0" smtClean="0"/>
              <a:t>(y)</a:t>
            </a:r>
          </a:p>
          <a:p>
            <a:r>
              <a:rPr lang="ru-RU" dirty="0" smtClean="0"/>
              <a:t>Грязное чтение</a:t>
            </a:r>
            <a:br>
              <a:rPr lang="ru-RU" dirty="0" smtClean="0"/>
            </a:br>
            <a:r>
              <a:rPr lang="pl-PL" dirty="0" smtClean="0"/>
              <a:t>–</a:t>
            </a:r>
            <a:r>
              <a:rPr lang="en-US" dirty="0" smtClean="0"/>
              <a:t>r</a:t>
            </a:r>
            <a:r>
              <a:rPr lang="pl-PL" baseline="-25000" dirty="0" smtClean="0"/>
              <a:t>1</a:t>
            </a:r>
            <a:r>
              <a:rPr lang="pl-PL" dirty="0" smtClean="0"/>
              <a:t>(x) w</a:t>
            </a:r>
            <a:r>
              <a:rPr lang="pl-PL" baseline="-25000" dirty="0" smtClean="0"/>
              <a:t>1</a:t>
            </a:r>
            <a:r>
              <a:rPr lang="pl-PL" dirty="0" smtClean="0"/>
              <a:t>(x) r</a:t>
            </a:r>
            <a:r>
              <a:rPr lang="pl-PL" baseline="-25000" dirty="0" smtClean="0"/>
              <a:t>2</a:t>
            </a:r>
            <a:r>
              <a:rPr lang="pl-PL" dirty="0" smtClean="0"/>
              <a:t>(x) w</a:t>
            </a:r>
            <a:r>
              <a:rPr lang="pl-PL" baseline="-25000" dirty="0" smtClean="0"/>
              <a:t>2</a:t>
            </a:r>
            <a:r>
              <a:rPr lang="pl-PL" dirty="0" smtClean="0"/>
              <a:t>(y) a</a:t>
            </a:r>
            <a:r>
              <a:rPr lang="pl-PL" baseline="-25000" dirty="0" smtClean="0"/>
              <a:t>1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258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Серийное расписание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Расписание, в котором все операции любой транзакции либо предшествуют, либо следуют за операциями любой другой транзакции</a:t>
            </a:r>
          </a:p>
          <a:p>
            <a:r>
              <a:rPr lang="ru-RU" dirty="0" smtClean="0"/>
              <a:t>Серийное расписание всегда корректно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8793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Конфликты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Пара операций из расписания, такая, что</a:t>
            </a:r>
          </a:p>
          <a:p>
            <a:pPr lvl="1"/>
            <a:r>
              <a:rPr lang="ru-RU" dirty="0" smtClean="0"/>
              <a:t>Операции принадлежат разным транзакциям</a:t>
            </a:r>
          </a:p>
          <a:p>
            <a:pPr lvl="1"/>
            <a:r>
              <a:rPr lang="ru-RU" dirty="0" smtClean="0"/>
              <a:t>Работают с одним элементом данных</a:t>
            </a:r>
          </a:p>
          <a:p>
            <a:pPr lvl="1"/>
            <a:r>
              <a:rPr lang="ru-RU" dirty="0" smtClean="0"/>
              <a:t>По крайней мере одна из двух –операция записи</a:t>
            </a:r>
          </a:p>
          <a:p>
            <a:r>
              <a:rPr lang="ru-RU" dirty="0" smtClean="0"/>
              <a:t>Конфликты присутствуют в любом нетривиальном расписании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3677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Эквивалентность и серийность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Множество конфликтов расписания содержит пары, в которых первая операция предшествует второй (и пары находятся в конфликте)</a:t>
            </a:r>
          </a:p>
          <a:p>
            <a:r>
              <a:rPr lang="ru-RU" dirty="0" smtClean="0"/>
              <a:t>Расписания эквивалентны, если их множества конфликтов совпадают</a:t>
            </a:r>
          </a:p>
          <a:p>
            <a:r>
              <a:rPr lang="ru-RU" dirty="0" smtClean="0"/>
              <a:t>Расписание называется серийным, если оно эквивалентно по конфликтам серийному</a:t>
            </a:r>
          </a:p>
          <a:p>
            <a:endParaRPr lang="ru-RU" dirty="0" smtClean="0"/>
          </a:p>
          <a:p>
            <a:r>
              <a:rPr lang="ru-RU" b="1" dirty="0" smtClean="0"/>
              <a:t>Серийные расписания корректны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7136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Критерий серийности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Граф конфликтов (граф </a:t>
            </a:r>
            <a:r>
              <a:rPr lang="ru-RU" dirty="0"/>
              <a:t>серийности)</a:t>
            </a:r>
            <a:endParaRPr lang="ru-RU" dirty="0" smtClean="0"/>
          </a:p>
          <a:p>
            <a:pPr lvl="1"/>
            <a:r>
              <a:rPr lang="ru-RU" dirty="0" smtClean="0"/>
              <a:t>Вершины соответствуют транзакциям</a:t>
            </a:r>
          </a:p>
          <a:p>
            <a:pPr lvl="1"/>
            <a:r>
              <a:rPr lang="ru-RU" dirty="0" smtClean="0"/>
              <a:t>Дуги проводятся для каждого конфликта в направлении конфликта</a:t>
            </a:r>
          </a:p>
          <a:p>
            <a:r>
              <a:rPr lang="ru-RU" dirty="0" smtClean="0"/>
              <a:t>Расписание серийно по конфликтам тогда и только тогда, когда граф серийности не содержит контуров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7616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План доказательства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Граф конфликтов серийного расписания не может иметь контуров, потому что транзакции упорядочены и все дуги направлены от начала к концу расписания</a:t>
            </a:r>
          </a:p>
          <a:p>
            <a:r>
              <a:rPr lang="ru-RU" dirty="0" smtClean="0"/>
              <a:t>Если граф не имеет контуров, эквивалентное серийное расписание можно построить с помощью топологической сортировки графа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772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Сериализуемость</a:t>
            </a:r>
            <a:r>
              <a:rPr lang="ru-RU" dirty="0" smtClean="0"/>
              <a:t> по коммутативности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Любые операции чтения коммутируют</a:t>
            </a:r>
          </a:p>
          <a:p>
            <a:r>
              <a:rPr lang="ru-RU" dirty="0" smtClean="0"/>
              <a:t>Любые операции над разными элементами коммутируют</a:t>
            </a:r>
          </a:p>
          <a:p>
            <a:r>
              <a:rPr lang="ru-RU" dirty="0" smtClean="0"/>
              <a:t>Расписание </a:t>
            </a:r>
            <a:r>
              <a:rPr lang="ru-RU" dirty="0" err="1" smtClean="0"/>
              <a:t>сериализуемо</a:t>
            </a:r>
            <a:r>
              <a:rPr lang="ru-RU" dirty="0" smtClean="0"/>
              <a:t> по коммутативности, если его можно преобразовать в серийное перестановками соседних операций</a:t>
            </a:r>
          </a:p>
          <a:p>
            <a:r>
              <a:rPr lang="ru-RU" dirty="0" err="1" smtClean="0"/>
              <a:t>Сериализуемость</a:t>
            </a:r>
            <a:r>
              <a:rPr lang="ru-RU" dirty="0" smtClean="0"/>
              <a:t> по коммутативности эквивалентна </a:t>
            </a:r>
            <a:r>
              <a:rPr lang="ru-RU" dirty="0" err="1" smtClean="0"/>
              <a:t>сериализуемости</a:t>
            </a:r>
            <a:r>
              <a:rPr lang="ru-RU" dirty="0" smtClean="0"/>
              <a:t> по конфликтам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2445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Использование замков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Операции установки </a:t>
            </a:r>
          </a:p>
          <a:p>
            <a:pPr marL="0" indent="0">
              <a:buNone/>
            </a:pPr>
            <a:r>
              <a:rPr lang="ru-RU" dirty="0" err="1" smtClean="0"/>
              <a:t>lr</a:t>
            </a:r>
            <a:r>
              <a:rPr lang="ru-RU" dirty="0" smtClean="0"/>
              <a:t>(x) – блокировка на чтение, совмещаемая</a:t>
            </a:r>
          </a:p>
          <a:p>
            <a:pPr marL="0" indent="0">
              <a:buNone/>
            </a:pPr>
            <a:r>
              <a:rPr lang="ru-RU" dirty="0" err="1" smtClean="0"/>
              <a:t>lw</a:t>
            </a:r>
            <a:r>
              <a:rPr lang="ru-RU" dirty="0" smtClean="0"/>
              <a:t>(x) – блокировка на запись, монопольная </a:t>
            </a:r>
          </a:p>
          <a:p>
            <a:r>
              <a:rPr lang="ru-RU" dirty="0" smtClean="0"/>
              <a:t>Операции снятия замка </a:t>
            </a:r>
            <a:r>
              <a:rPr lang="ru-RU" dirty="0" err="1" smtClean="0"/>
              <a:t>ur</a:t>
            </a:r>
            <a:r>
              <a:rPr lang="ru-RU" dirty="0" smtClean="0"/>
              <a:t>(x), </a:t>
            </a:r>
            <a:r>
              <a:rPr lang="ru-RU" dirty="0" err="1" smtClean="0"/>
              <a:t>uw</a:t>
            </a:r>
            <a:r>
              <a:rPr lang="ru-RU" dirty="0" smtClean="0"/>
              <a:t>(x)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5076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Решение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T1</a:t>
            </a: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US" dirty="0" err="1" smtClean="0"/>
              <a:t>Lw</a:t>
            </a:r>
            <a:r>
              <a:rPr lang="en-US" dirty="0" smtClean="0"/>
              <a:t>(A);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Read (A);</a:t>
            </a:r>
          </a:p>
          <a:p>
            <a:pPr>
              <a:buNone/>
            </a:pPr>
            <a:r>
              <a:rPr lang="en-US" dirty="0" smtClean="0"/>
              <a:t>A:=A+1;</a:t>
            </a:r>
          </a:p>
          <a:p>
            <a:pPr>
              <a:buNone/>
            </a:pPr>
            <a:r>
              <a:rPr lang="en-US" dirty="0" smtClean="0"/>
              <a:t>Write (A);</a:t>
            </a:r>
          </a:p>
          <a:p>
            <a:pPr>
              <a:buNone/>
            </a:pPr>
            <a:r>
              <a:rPr lang="en-US" dirty="0" err="1" smtClean="0"/>
              <a:t>Uw</a:t>
            </a:r>
            <a:r>
              <a:rPr lang="en-US" dirty="0" smtClean="0"/>
              <a:t>(A).</a:t>
            </a:r>
            <a:endParaRPr lang="ru-RU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T2</a:t>
            </a:r>
            <a:endParaRPr lang="ru-RU" dirty="0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Lw</a:t>
            </a:r>
            <a:r>
              <a:rPr lang="en-US" dirty="0" smtClean="0"/>
              <a:t>(A);</a:t>
            </a:r>
            <a:endParaRPr lang="ru-RU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smtClean="0"/>
              <a:t>Read (A);</a:t>
            </a:r>
          </a:p>
          <a:p>
            <a:pPr>
              <a:buNone/>
            </a:pPr>
            <a:r>
              <a:rPr lang="en-US" dirty="0" smtClean="0"/>
              <a:t>A:=A+1;</a:t>
            </a:r>
          </a:p>
          <a:p>
            <a:pPr>
              <a:buNone/>
            </a:pPr>
            <a:r>
              <a:rPr lang="en-US" dirty="0" smtClean="0"/>
              <a:t>Write (A);</a:t>
            </a:r>
          </a:p>
          <a:p>
            <a:pPr>
              <a:buNone/>
            </a:pPr>
            <a:r>
              <a:rPr lang="en-US" dirty="0" err="1" smtClean="0"/>
              <a:t>Uw</a:t>
            </a:r>
            <a:r>
              <a:rPr lang="en-US" dirty="0" smtClean="0"/>
              <a:t>(A).</a:t>
            </a:r>
            <a:endParaRPr lang="ru-RU" dirty="0" smtClean="0"/>
          </a:p>
          <a:p>
            <a:pPr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3938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Совместимость </a:t>
            </a:r>
            <a:r>
              <a:rPr lang="ru-RU" dirty="0"/>
              <a:t>замков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Замки для одного элемента данных несовместимы, если они устанавливаются разными транзакциями и по крайней мере один из них - на запись. </a:t>
            </a:r>
          </a:p>
          <a:p>
            <a:r>
              <a:rPr lang="ru-RU" dirty="0" smtClean="0"/>
              <a:t>Попытка установки несовместимого замка переводит транзакцию в состояние ожидания</a:t>
            </a:r>
          </a:p>
          <a:p>
            <a:r>
              <a:rPr lang="ru-RU" dirty="0" smtClean="0"/>
              <a:t>Проблемы, связанные с использованием замков: корректность, тупики, производительность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3745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Протокол блокирования 2</a:t>
            </a:r>
            <a:r>
              <a:rPr lang="en-US" dirty="0" smtClean="0"/>
              <a:t>PL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Для каждой операции необходимо предварительно установить замок, все замки должны быть сняты до завершения транзакции</a:t>
            </a:r>
          </a:p>
          <a:p>
            <a:r>
              <a:rPr lang="ru-RU" dirty="0" smtClean="0"/>
              <a:t>Транзакция не может устанавливать новые замки после того, как она сняла какой-либо из замков</a:t>
            </a:r>
          </a:p>
          <a:p>
            <a:r>
              <a:rPr lang="ru-RU" dirty="0"/>
              <a:t>Двухфазный протокол генерирует расписания, </a:t>
            </a:r>
            <a:r>
              <a:rPr lang="ru-RU" dirty="0" err="1"/>
              <a:t>сериализуемые</a:t>
            </a:r>
            <a:r>
              <a:rPr lang="ru-RU" dirty="0"/>
              <a:t> по конфликтам</a:t>
            </a:r>
          </a:p>
          <a:p>
            <a:pPr marL="0" indent="0">
              <a:buNone/>
            </a:pP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7063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500034" y="500042"/>
            <a:ext cx="4040188" cy="639762"/>
          </a:xfrm>
        </p:spPr>
        <p:txBody>
          <a:bodyPr>
            <a:noAutofit/>
          </a:bodyPr>
          <a:lstStyle/>
          <a:p>
            <a:r>
              <a:rPr lang="ru-RU" sz="4400" b="0" dirty="0">
                <a:latin typeface="+mj-lt"/>
                <a:ea typeface="+mj-ea"/>
                <a:cs typeface="+mj-cs"/>
              </a:rPr>
              <a:t>Проблемы: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2"/>
          </p:nvPr>
        </p:nvSpPr>
        <p:spPr>
          <a:xfrm>
            <a:off x="457200" y="1643050"/>
            <a:ext cx="4040188" cy="4483113"/>
          </a:xfrm>
        </p:spPr>
        <p:txBody>
          <a:bodyPr/>
          <a:lstStyle/>
          <a:p>
            <a:r>
              <a:rPr lang="ru-RU" dirty="0" smtClean="0"/>
              <a:t>Бесконечные ожидания</a:t>
            </a:r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ru-RU" dirty="0" smtClean="0"/>
              <a:t>Тупики</a:t>
            </a:r>
            <a:endParaRPr lang="ru-RU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3"/>
          </p:nvPr>
        </p:nvSpPr>
        <p:spPr>
          <a:xfrm>
            <a:off x="4643438" y="571480"/>
            <a:ext cx="4041775" cy="639762"/>
          </a:xfrm>
        </p:spPr>
        <p:txBody>
          <a:bodyPr>
            <a:noAutofit/>
          </a:bodyPr>
          <a:lstStyle/>
          <a:p>
            <a:pPr lvl="0"/>
            <a:r>
              <a:rPr lang="ru-RU" sz="4400" b="0" dirty="0">
                <a:latin typeface="+mj-lt"/>
                <a:ea typeface="+mj-ea"/>
                <a:cs typeface="+mj-cs"/>
              </a:rPr>
              <a:t>Решения</a:t>
            </a:r>
            <a:r>
              <a:rPr lang="ru-RU" sz="4400" b="0" dirty="0" smtClean="0">
                <a:latin typeface="+mj-lt"/>
                <a:ea typeface="+mj-ea"/>
                <a:cs typeface="+mj-cs"/>
              </a:rPr>
              <a:t>:</a:t>
            </a:r>
            <a:endParaRPr lang="ru-RU" sz="4400" dirty="0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4"/>
          </p:nvPr>
        </p:nvSpPr>
        <p:spPr>
          <a:xfrm>
            <a:off x="4645025" y="1500174"/>
            <a:ext cx="4041775" cy="4625989"/>
          </a:xfrm>
        </p:spPr>
        <p:txBody>
          <a:bodyPr/>
          <a:lstStyle/>
          <a:p>
            <a:r>
              <a:rPr lang="ru-RU" dirty="0" smtClean="0"/>
              <a:t>Установить очередь, возможно с приоритетами</a:t>
            </a:r>
          </a:p>
          <a:p>
            <a:endParaRPr lang="ru-RU" dirty="0"/>
          </a:p>
          <a:p>
            <a:endParaRPr lang="ru-RU" dirty="0" smtClean="0"/>
          </a:p>
          <a:p>
            <a:r>
              <a:rPr lang="ru-RU" dirty="0" smtClean="0"/>
              <a:t>Две фазы: установка и снятие блокировок</a:t>
            </a:r>
          </a:p>
          <a:p>
            <a:r>
              <a:rPr lang="ru-RU" dirty="0" smtClean="0"/>
              <a:t>Установить порядок</a:t>
            </a:r>
          </a:p>
          <a:p>
            <a:r>
              <a:rPr lang="ru-RU" dirty="0" smtClean="0"/>
              <a:t>Периодически проверять на тупики и рестарт</a:t>
            </a:r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571472" y="292893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982986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Тупики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W</a:t>
            </a:r>
            <a:r>
              <a:rPr lang="en-US" baseline="-25000" dirty="0" smtClean="0"/>
              <a:t>2</a:t>
            </a:r>
            <a:r>
              <a:rPr lang="en-US" dirty="0" smtClean="0"/>
              <a:t>(x) w</a:t>
            </a:r>
            <a:r>
              <a:rPr lang="en-US" baseline="-25000" dirty="0" smtClean="0"/>
              <a:t>2</a:t>
            </a:r>
            <a:r>
              <a:rPr lang="en-US" dirty="0" smtClean="0"/>
              <a:t>(y) r</a:t>
            </a:r>
            <a:r>
              <a:rPr lang="en-US" baseline="-25000" dirty="0" smtClean="0"/>
              <a:t>1</a:t>
            </a:r>
            <a:r>
              <a:rPr lang="en-US" dirty="0" smtClean="0"/>
              <a:t>(y) r</a:t>
            </a:r>
            <a:r>
              <a:rPr lang="en-US" baseline="-25000" dirty="0" smtClean="0"/>
              <a:t>2</a:t>
            </a:r>
            <a:r>
              <a:rPr lang="en-US" dirty="0" smtClean="0"/>
              <a:t>(x)</a:t>
            </a:r>
          </a:p>
          <a:p>
            <a:r>
              <a:rPr lang="ru-RU" dirty="0" smtClean="0"/>
              <a:t>Транзакции, попавшие в тупик, должны быть оборваны</a:t>
            </a:r>
          </a:p>
          <a:p>
            <a:r>
              <a:rPr lang="ru-RU" dirty="0" smtClean="0"/>
              <a:t>Граф ожиданий</a:t>
            </a:r>
          </a:p>
          <a:p>
            <a:pPr lvl="1"/>
            <a:r>
              <a:rPr lang="ru-RU" dirty="0" smtClean="0"/>
              <a:t>Вершины –активные транзакции</a:t>
            </a:r>
          </a:p>
          <a:p>
            <a:pPr lvl="1"/>
            <a:r>
              <a:rPr lang="ru-RU" dirty="0" smtClean="0"/>
              <a:t>Дуги проводится из ожидающей транзакции в транзакцию, установившую несовместимые замки</a:t>
            </a:r>
          </a:p>
          <a:p>
            <a:r>
              <a:rPr lang="ru-RU" dirty="0" smtClean="0"/>
              <a:t>Тупик имеет место тогда и только тогда, когда в графе ожиданий имеется контур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80095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Протокол для деревьев </a:t>
            </a:r>
            <a:r>
              <a:rPr lang="en-US" dirty="0" smtClean="0"/>
              <a:t>WTL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База данных структурирована как дерево</a:t>
            </a:r>
          </a:p>
          <a:p>
            <a:r>
              <a:rPr lang="ru-RU" dirty="0" smtClean="0"/>
              <a:t>Протокол:</a:t>
            </a:r>
          </a:p>
          <a:p>
            <a:pPr lvl="1"/>
            <a:r>
              <a:rPr lang="ru-RU" dirty="0" smtClean="0"/>
              <a:t>Все замки – на запись</a:t>
            </a:r>
          </a:p>
          <a:p>
            <a:pPr lvl="1"/>
            <a:r>
              <a:rPr lang="ru-RU" dirty="0" smtClean="0"/>
              <a:t>Для установки замка необходимо иметь установленный замок на родительскую вершину (кроме корня дерева)</a:t>
            </a:r>
          </a:p>
          <a:p>
            <a:pPr lvl="1"/>
            <a:r>
              <a:rPr lang="ru-RU" dirty="0"/>
              <a:t>Ни один элемент не блокируется дважды одной и то же транзакцией.</a:t>
            </a:r>
            <a:endParaRPr lang="ru-RU" dirty="0" smtClean="0"/>
          </a:p>
          <a:p>
            <a:pPr lvl="1"/>
            <a:r>
              <a:rPr lang="ru-RU" dirty="0" smtClean="0"/>
              <a:t>Снятие замков возможно в любое время и не препятствует установке новых замков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7727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941980" y="1772816"/>
            <a:ext cx="648072" cy="4320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ru-RU" dirty="0"/>
          </a:p>
        </p:txBody>
      </p:sp>
      <p:sp>
        <p:nvSpPr>
          <p:cNvPr id="5" name="Овал 4"/>
          <p:cNvSpPr/>
          <p:nvPr/>
        </p:nvSpPr>
        <p:spPr>
          <a:xfrm>
            <a:off x="4932040" y="2204864"/>
            <a:ext cx="648072" cy="4320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</a:t>
            </a:r>
            <a:endParaRPr lang="ru-RU" dirty="0"/>
          </a:p>
        </p:txBody>
      </p:sp>
      <p:sp>
        <p:nvSpPr>
          <p:cNvPr id="6" name="Овал 5"/>
          <p:cNvSpPr/>
          <p:nvPr/>
        </p:nvSpPr>
        <p:spPr>
          <a:xfrm>
            <a:off x="5866436" y="2720076"/>
            <a:ext cx="648072" cy="4320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</a:t>
            </a:r>
            <a:endParaRPr lang="ru-RU" dirty="0"/>
          </a:p>
        </p:txBody>
      </p:sp>
      <p:sp>
        <p:nvSpPr>
          <p:cNvPr id="7" name="Овал 6"/>
          <p:cNvSpPr/>
          <p:nvPr/>
        </p:nvSpPr>
        <p:spPr>
          <a:xfrm>
            <a:off x="3173927" y="3767062"/>
            <a:ext cx="648072" cy="4320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</a:t>
            </a:r>
            <a:endParaRPr lang="ru-RU" dirty="0"/>
          </a:p>
        </p:txBody>
      </p:sp>
      <p:sp>
        <p:nvSpPr>
          <p:cNvPr id="8" name="Овал 7"/>
          <p:cNvSpPr/>
          <p:nvPr/>
        </p:nvSpPr>
        <p:spPr>
          <a:xfrm>
            <a:off x="2195736" y="3721562"/>
            <a:ext cx="648072" cy="4320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ru-RU" dirty="0"/>
          </a:p>
        </p:txBody>
      </p:sp>
      <p:sp>
        <p:nvSpPr>
          <p:cNvPr id="9" name="Овал 8"/>
          <p:cNvSpPr/>
          <p:nvPr/>
        </p:nvSpPr>
        <p:spPr>
          <a:xfrm>
            <a:off x="1043608" y="3717032"/>
            <a:ext cx="648072" cy="4320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ru-RU" dirty="0"/>
          </a:p>
        </p:txBody>
      </p:sp>
      <p:sp>
        <p:nvSpPr>
          <p:cNvPr id="10" name="Овал 9"/>
          <p:cNvSpPr/>
          <p:nvPr/>
        </p:nvSpPr>
        <p:spPr>
          <a:xfrm>
            <a:off x="3532343" y="2989782"/>
            <a:ext cx="648072" cy="4320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ru-RU" dirty="0"/>
          </a:p>
        </p:txBody>
      </p:sp>
      <p:sp>
        <p:nvSpPr>
          <p:cNvPr id="11" name="Овал 10"/>
          <p:cNvSpPr/>
          <p:nvPr/>
        </p:nvSpPr>
        <p:spPr>
          <a:xfrm>
            <a:off x="1932518" y="2903240"/>
            <a:ext cx="648072" cy="4320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ru-RU" dirty="0"/>
          </a:p>
        </p:txBody>
      </p:sp>
      <p:sp>
        <p:nvSpPr>
          <p:cNvPr id="12" name="Овал 11"/>
          <p:cNvSpPr/>
          <p:nvPr/>
        </p:nvSpPr>
        <p:spPr>
          <a:xfrm>
            <a:off x="3046072" y="2334072"/>
            <a:ext cx="648072" cy="4320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5542400" y="3711761"/>
            <a:ext cx="648072" cy="4320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</a:t>
            </a:r>
            <a:endParaRPr lang="ru-RU" dirty="0"/>
          </a:p>
        </p:txBody>
      </p:sp>
      <p:sp>
        <p:nvSpPr>
          <p:cNvPr id="14" name="Овал 13"/>
          <p:cNvSpPr/>
          <p:nvPr/>
        </p:nvSpPr>
        <p:spPr>
          <a:xfrm>
            <a:off x="6732240" y="3657938"/>
            <a:ext cx="648072" cy="4320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</a:t>
            </a:r>
            <a:endParaRPr lang="ru-RU" dirty="0"/>
          </a:p>
        </p:txBody>
      </p:sp>
      <p:cxnSp>
        <p:nvCxnSpPr>
          <p:cNvPr id="16" name="Прямая соединительная линия 15"/>
          <p:cNvCxnSpPr>
            <a:stCxn id="4" idx="3"/>
            <a:endCxn id="12" idx="7"/>
          </p:cNvCxnSpPr>
          <p:nvPr/>
        </p:nvCxnSpPr>
        <p:spPr>
          <a:xfrm flipH="1">
            <a:off x="3599236" y="2141592"/>
            <a:ext cx="437652" cy="255752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flipH="1">
            <a:off x="2531688" y="2647052"/>
            <a:ext cx="572351" cy="31154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3610519" y="2714031"/>
            <a:ext cx="302368" cy="255752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 flipH="1">
            <a:off x="1604128" y="3282180"/>
            <a:ext cx="457942" cy="439382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5" idx="1"/>
          </p:cNvCxnSpPr>
          <p:nvPr/>
        </p:nvCxnSpPr>
        <p:spPr>
          <a:xfrm flipH="1" flipV="1">
            <a:off x="4590052" y="2028568"/>
            <a:ext cx="436896" cy="23956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flipH="1" flipV="1">
            <a:off x="5512911" y="2568134"/>
            <a:ext cx="505153" cy="158534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H="1">
            <a:off x="3435494" y="3447814"/>
            <a:ext cx="420885" cy="30982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6429588" y="3112396"/>
            <a:ext cx="626688" cy="545542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 flipH="1">
            <a:off x="5829345" y="3183868"/>
            <a:ext cx="271853" cy="527893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/>
          <p:nvPr/>
        </p:nvCxnSpPr>
        <p:spPr>
          <a:xfrm>
            <a:off x="2320222" y="3356377"/>
            <a:ext cx="236472" cy="355384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726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Корректность </a:t>
            </a:r>
            <a:r>
              <a:rPr lang="en-US" dirty="0" smtClean="0"/>
              <a:t>WTL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Граф </a:t>
            </a:r>
            <a:r>
              <a:rPr lang="ru-RU" dirty="0" err="1" smtClean="0"/>
              <a:t>сериализуемости</a:t>
            </a:r>
            <a:r>
              <a:rPr lang="ru-RU" dirty="0" smtClean="0"/>
              <a:t> ацикличен</a:t>
            </a:r>
          </a:p>
          <a:p>
            <a:r>
              <a:rPr lang="ru-RU" dirty="0" smtClean="0"/>
              <a:t>Пусть y –родитель x, и w</a:t>
            </a:r>
            <a:r>
              <a:rPr lang="ru-RU" baseline="-25000" dirty="0" smtClean="0"/>
              <a:t>1</a:t>
            </a:r>
            <a:r>
              <a:rPr lang="ru-RU" dirty="0" smtClean="0"/>
              <a:t>(x) &lt; w</a:t>
            </a:r>
            <a:r>
              <a:rPr lang="ru-RU" baseline="-25000" dirty="0" smtClean="0"/>
              <a:t>2</a:t>
            </a:r>
            <a:r>
              <a:rPr lang="ru-RU" dirty="0" smtClean="0"/>
              <a:t>(x),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тогда w</a:t>
            </a:r>
            <a:r>
              <a:rPr lang="ru-RU" baseline="-25000" dirty="0" smtClean="0"/>
              <a:t>1</a:t>
            </a:r>
            <a:r>
              <a:rPr lang="ru-RU" dirty="0" smtClean="0"/>
              <a:t>(y) &lt; w</a:t>
            </a:r>
            <a:r>
              <a:rPr lang="ru-RU" baseline="-25000" dirty="0" smtClean="0"/>
              <a:t>2</a:t>
            </a:r>
            <a:r>
              <a:rPr lang="ru-RU" dirty="0" smtClean="0"/>
              <a:t>(y)</a:t>
            </a:r>
          </a:p>
          <a:p>
            <a:r>
              <a:rPr lang="ru-RU" dirty="0" smtClean="0"/>
              <a:t>Транзакции </a:t>
            </a:r>
            <a:r>
              <a:rPr lang="ru-RU" dirty="0" err="1" smtClean="0"/>
              <a:t>сериализуются</a:t>
            </a:r>
            <a:r>
              <a:rPr lang="ru-RU" dirty="0" smtClean="0"/>
              <a:t> в том порядке, в котором они устанавливают замки на корень</a:t>
            </a:r>
          </a:p>
          <a:p>
            <a:r>
              <a:rPr lang="ru-RU" dirty="0" smtClean="0"/>
              <a:t>Протокол WTL свободен от тупиков</a:t>
            </a:r>
          </a:p>
          <a:p>
            <a:pPr lvl="1"/>
            <a:r>
              <a:rPr lang="ru-RU" dirty="0" smtClean="0"/>
              <a:t>Последовательность установки замков определяется последовательностью их установки на корень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9429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Диспетчер транзакций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Модель СУБД: диспетчер (транзакций) и исполнитель запросов</a:t>
            </a:r>
          </a:p>
          <a:p>
            <a:r>
              <a:rPr lang="ru-RU" dirty="0" smtClean="0"/>
              <a:t>Требования к диспетчеру транзакций: корректность и производительность </a:t>
            </a:r>
            <a:endParaRPr lang="en-US" dirty="0" smtClean="0"/>
          </a:p>
          <a:p>
            <a:r>
              <a:rPr lang="ru-RU" dirty="0" smtClean="0"/>
              <a:t>Пессимистические и оптимистические протоколы</a:t>
            </a:r>
          </a:p>
        </p:txBody>
      </p:sp>
    </p:spTree>
    <p:extLst>
      <p:ext uri="{BB962C8B-B14F-4D97-AF65-F5344CB8AC3E}">
        <p14:creationId xmlns:p14="http://schemas.microsoft.com/office/powerpoint/2010/main" val="360448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Виды транзакций в </a:t>
            </a:r>
            <a:r>
              <a:rPr lang="en-US" dirty="0" smtClean="0"/>
              <a:t>SQL Server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Явные транзакции</a:t>
            </a:r>
          </a:p>
          <a:p>
            <a:r>
              <a:rPr lang="ru-RU" dirty="0" smtClean="0"/>
              <a:t>Автоматическая </a:t>
            </a:r>
            <a:r>
              <a:rPr lang="ru-RU" dirty="0"/>
              <a:t>фиксация транзакций</a:t>
            </a:r>
          </a:p>
          <a:p>
            <a:r>
              <a:rPr lang="ru-RU" dirty="0" smtClean="0"/>
              <a:t>Неявные транзакции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8540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Фазы транзакций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14488"/>
            <a:ext cx="8229600" cy="4643470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Начало</a:t>
            </a:r>
            <a:br>
              <a:rPr lang="ru-RU" sz="3600" dirty="0" smtClean="0"/>
            </a:br>
            <a:r>
              <a:rPr lang="en-US" sz="3600" cap="all" dirty="0" smtClean="0"/>
              <a:t>BEGIN transaction</a:t>
            </a:r>
            <a:endParaRPr lang="ru-RU" sz="3600" cap="all" dirty="0" smtClean="0"/>
          </a:p>
          <a:p>
            <a:r>
              <a:rPr lang="ru-RU" sz="3600" dirty="0" smtClean="0"/>
              <a:t>Конец</a:t>
            </a:r>
            <a:br>
              <a:rPr lang="ru-RU" sz="3600" dirty="0" smtClean="0"/>
            </a:br>
            <a:r>
              <a:rPr lang="en-US" sz="3600" cap="all" dirty="0" smtClean="0"/>
              <a:t>Commit</a:t>
            </a:r>
            <a:r>
              <a:rPr lang="ru-RU" sz="3600" cap="all" dirty="0" smtClean="0"/>
              <a:t/>
            </a:r>
            <a:br>
              <a:rPr lang="ru-RU" sz="3600" cap="all" dirty="0" smtClean="0"/>
            </a:br>
            <a:r>
              <a:rPr lang="en-US" sz="3600" cap="all" dirty="0" smtClean="0"/>
              <a:t>Rollback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Автоматическая фиксация </a:t>
            </a:r>
            <a:r>
              <a:rPr lang="ru-RU" dirty="0" smtClean="0"/>
              <a:t>транзакций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Режим </a:t>
            </a:r>
            <a:r>
              <a:rPr lang="ru-RU" dirty="0"/>
              <a:t>по </a:t>
            </a:r>
            <a:r>
              <a:rPr lang="ru-RU" dirty="0" smtClean="0"/>
              <a:t>умолчанию. </a:t>
            </a:r>
          </a:p>
          <a:p>
            <a:r>
              <a:rPr lang="ru-RU" dirty="0" smtClean="0"/>
              <a:t>Каждая </a:t>
            </a:r>
            <a:r>
              <a:rPr lang="ru-RU" dirty="0"/>
              <a:t>отдельная инструкция языка </a:t>
            </a:r>
            <a:r>
              <a:rPr lang="ru-RU" dirty="0" err="1"/>
              <a:t>Transact</a:t>
            </a:r>
            <a:r>
              <a:rPr lang="ru-RU" dirty="0"/>
              <a:t>-SQL фиксируется после завершения. </a:t>
            </a:r>
            <a:endParaRPr lang="ru-RU" dirty="0" smtClean="0"/>
          </a:p>
          <a:p>
            <a:r>
              <a:rPr lang="ru-RU" dirty="0" smtClean="0"/>
              <a:t>Нет </a:t>
            </a:r>
            <a:r>
              <a:rPr lang="ru-RU" dirty="0"/>
              <a:t>необходимости указывать какие-либо инструкции для управления транзакциями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8304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Неявные </a:t>
            </a:r>
            <a:r>
              <a:rPr lang="ru-RU" dirty="0" smtClean="0"/>
              <a:t>транзакции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Установка </a:t>
            </a:r>
            <a:r>
              <a:rPr lang="ru-RU" dirty="0"/>
              <a:t>неявного режима </a:t>
            </a:r>
            <a:r>
              <a:rPr lang="ru-RU" dirty="0" smtClean="0"/>
              <a:t>через </a:t>
            </a:r>
            <a:r>
              <a:rPr lang="ru-RU" dirty="0"/>
              <a:t>инструкцию языка </a:t>
            </a:r>
            <a:r>
              <a:rPr lang="ru-RU" dirty="0" err="1"/>
              <a:t>Transact</a:t>
            </a:r>
            <a:r>
              <a:rPr lang="ru-RU" dirty="0"/>
              <a:t>-SQL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SET </a:t>
            </a:r>
            <a:r>
              <a:rPr lang="ru-RU" dirty="0"/>
              <a:t>IMPLICIT_TRANSACTIONS ON. </a:t>
            </a:r>
            <a:endParaRPr lang="ru-RU" dirty="0" smtClean="0"/>
          </a:p>
          <a:p>
            <a:r>
              <a:rPr lang="ru-RU" dirty="0" smtClean="0"/>
              <a:t>Новая </a:t>
            </a:r>
            <a:r>
              <a:rPr lang="ru-RU" dirty="0"/>
              <a:t>транзакция неявно начинается, когда предыдущая транзакция завершена</a:t>
            </a:r>
            <a:r>
              <a:rPr lang="ru-RU" dirty="0" smtClean="0"/>
              <a:t>,</a:t>
            </a:r>
          </a:p>
          <a:p>
            <a:r>
              <a:rPr lang="ru-RU" dirty="0" smtClean="0"/>
              <a:t>Но </a:t>
            </a:r>
            <a:r>
              <a:rPr lang="ru-RU" dirty="0"/>
              <a:t>каждая транзакция явно завершается инструкцией COMMIT или ROLLBACK.</a:t>
            </a:r>
          </a:p>
          <a:p>
            <a:pPr marL="0" indent="0">
              <a:buNone/>
            </a:pP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92062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Явные транзакции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464496"/>
          </a:xfrm>
        </p:spPr>
        <p:txBody>
          <a:bodyPr>
            <a:normAutofit/>
          </a:bodyPr>
          <a:lstStyle/>
          <a:p>
            <a:pPr marL="514350" indent="-457200"/>
            <a:r>
              <a:rPr lang="ru-RU" dirty="0" smtClean="0"/>
              <a:t>Каждая </a:t>
            </a:r>
            <a:r>
              <a:rPr lang="ru-RU" dirty="0"/>
              <a:t>транзакция явно начинается с инструкции BEGIN TRANSACTION и явно заканчивается инструкцией COMMIT или ROLLBACK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Проблемы параллельного доступа с использованием транзакций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85926"/>
            <a:ext cx="8229600" cy="4340237"/>
          </a:xfrm>
        </p:spPr>
        <p:txBody>
          <a:bodyPr>
            <a:normAutofit/>
          </a:bodyPr>
          <a:lstStyle/>
          <a:p>
            <a:r>
              <a:rPr lang="ru-RU" dirty="0" smtClean="0"/>
              <a:t>потерянное обновление (</a:t>
            </a:r>
            <a:r>
              <a:rPr lang="ru-RU" dirty="0" err="1" smtClean="0"/>
              <a:t>lost</a:t>
            </a:r>
            <a:r>
              <a:rPr lang="ru-RU" dirty="0" smtClean="0"/>
              <a:t> </a:t>
            </a:r>
            <a:r>
              <a:rPr lang="ru-RU" dirty="0" err="1" smtClean="0"/>
              <a:t>update</a:t>
            </a:r>
            <a:r>
              <a:rPr lang="ru-RU" dirty="0" smtClean="0"/>
              <a:t>);</a:t>
            </a:r>
          </a:p>
          <a:p>
            <a:r>
              <a:rPr lang="ru-RU" dirty="0" smtClean="0"/>
              <a:t>«грязное» чтение (</a:t>
            </a:r>
            <a:r>
              <a:rPr lang="ru-RU" dirty="0" err="1" smtClean="0"/>
              <a:t>dirty</a:t>
            </a:r>
            <a:r>
              <a:rPr lang="ru-RU" dirty="0" smtClean="0"/>
              <a:t> </a:t>
            </a:r>
            <a:r>
              <a:rPr lang="ru-RU" dirty="0" err="1" smtClean="0"/>
              <a:t>read</a:t>
            </a:r>
            <a:r>
              <a:rPr lang="ru-RU" dirty="0" smtClean="0"/>
              <a:t>) — </a:t>
            </a:r>
            <a:r>
              <a:rPr lang="ru-RU" dirty="0" err="1" smtClean="0"/>
              <a:t>чтение</a:t>
            </a:r>
            <a:r>
              <a:rPr lang="ru-RU" dirty="0" smtClean="0"/>
              <a:t> данных, которые были записаны откаченной транзакцией;</a:t>
            </a:r>
          </a:p>
          <a:p>
            <a:r>
              <a:rPr lang="ru-RU" dirty="0" smtClean="0"/>
              <a:t>неповторяющееся чтение </a:t>
            </a:r>
            <a:br>
              <a:rPr lang="ru-RU" dirty="0" smtClean="0"/>
            </a:br>
            <a:r>
              <a:rPr lang="ru-RU" dirty="0" smtClean="0"/>
              <a:t>(</a:t>
            </a:r>
            <a:r>
              <a:rPr lang="ru-RU" dirty="0" err="1" smtClean="0"/>
              <a:t>non-repeatable</a:t>
            </a:r>
            <a:r>
              <a:rPr lang="ru-RU" dirty="0" smtClean="0"/>
              <a:t> </a:t>
            </a:r>
            <a:r>
              <a:rPr lang="ru-RU" dirty="0" err="1" smtClean="0"/>
              <a:t>read</a:t>
            </a:r>
            <a:r>
              <a:rPr lang="ru-RU" dirty="0" smtClean="0"/>
              <a:t>);</a:t>
            </a:r>
          </a:p>
          <a:p>
            <a:r>
              <a:rPr lang="ru-RU" dirty="0" smtClean="0"/>
              <a:t>фантомное чтение (</a:t>
            </a:r>
            <a:r>
              <a:rPr lang="ru-RU" dirty="0" err="1" smtClean="0"/>
              <a:t>phantom</a:t>
            </a:r>
            <a:r>
              <a:rPr lang="ru-RU" dirty="0" smtClean="0"/>
              <a:t> </a:t>
            </a:r>
            <a:r>
              <a:rPr lang="ru-RU" dirty="0" err="1" smtClean="0"/>
              <a:t>reads</a:t>
            </a:r>
            <a:r>
              <a:rPr lang="ru-RU" dirty="0" smtClean="0"/>
              <a:t>).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Потерянное обновление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571472" y="1500174"/>
          <a:ext cx="8143932" cy="40005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5282"/>
                <a:gridCol w="4108650"/>
              </a:tblGrid>
              <a:tr h="64753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Транзакция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/>
                        <a:t>Транзакция 2</a:t>
                      </a:r>
                    </a:p>
                  </a:txBody>
                  <a:tcPr anchor="ctr"/>
                </a:tc>
              </a:tr>
              <a:tr h="1117664">
                <a:tc>
                  <a:txBody>
                    <a:bodyPr/>
                    <a:lstStyle/>
                    <a:p>
                      <a:r>
                        <a:rPr lang="en-US" sz="2000" dirty="0"/>
                        <a:t>SELECT f2 FROM tbl1 WHERE f1=1;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SELECT f2 FROM tbl1 WHERE f1=1;</a:t>
                      </a:r>
                    </a:p>
                  </a:txBody>
                  <a:tcPr anchor="ctr"/>
                </a:tc>
              </a:tr>
              <a:tr h="1117664">
                <a:tc>
                  <a:txBody>
                    <a:bodyPr/>
                    <a:lstStyle/>
                    <a:p>
                      <a:r>
                        <a:rPr lang="en-US" sz="2000" dirty="0"/>
                        <a:t>UPDATE tbl1 SET f2=20 WHERE f1=1;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 anchor="ctr"/>
                </a:tc>
              </a:tr>
              <a:tr h="1117664"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UPDATE tbl1 SET f2=25 WHERE f1=1;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«Грязное» чтение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8290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57676"/>
                <a:gridCol w="3971924"/>
              </a:tblGrid>
              <a:tr h="765813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Транзакция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/>
                        <a:t>Транзакция 2</a:t>
                      </a:r>
                    </a:p>
                  </a:txBody>
                  <a:tcPr anchor="ctr"/>
                </a:tc>
              </a:tr>
              <a:tr h="765813">
                <a:tc>
                  <a:txBody>
                    <a:bodyPr/>
                    <a:lstStyle/>
                    <a:p>
                      <a:r>
                        <a:rPr lang="en-US" sz="2000" dirty="0"/>
                        <a:t>SELECT f2 FROM tbl1 WHERE f1=1;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2000"/>
                    </a:p>
                  </a:txBody>
                  <a:tcPr anchor="ctr"/>
                </a:tc>
              </a:tr>
              <a:tr h="765813">
                <a:tc>
                  <a:txBody>
                    <a:bodyPr/>
                    <a:lstStyle/>
                    <a:p>
                      <a:r>
                        <a:rPr lang="en-US" sz="2000" dirty="0"/>
                        <a:t>UPDATE tbl1 SET f2=f2+1 WHERE f1=1;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 anchor="ctr"/>
                </a:tc>
              </a:tr>
              <a:tr h="765813">
                <a:tc>
                  <a:txBody>
                    <a:bodyPr/>
                    <a:lstStyle/>
                    <a:p>
                      <a:endParaRPr lang="ru-RU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SELECT f2 FROM tbl1 WHERE f1=1;</a:t>
                      </a:r>
                    </a:p>
                  </a:txBody>
                  <a:tcPr anchor="ctr"/>
                </a:tc>
              </a:tr>
              <a:tr h="765813">
                <a:tc>
                  <a:txBody>
                    <a:bodyPr/>
                    <a:lstStyle/>
                    <a:p>
                      <a:r>
                        <a:rPr lang="en-US" sz="2000"/>
                        <a:t>ROLLBACK WORK;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Неповторяющееся чтение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4005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4800"/>
                <a:gridCol w="4114800"/>
              </a:tblGrid>
              <a:tr h="861522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Транзакция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/>
                        <a:t>Транзакция 2</a:t>
                      </a:r>
                    </a:p>
                  </a:txBody>
                  <a:tcPr anchor="ctr"/>
                </a:tc>
              </a:tr>
              <a:tr h="892508">
                <a:tc>
                  <a:txBody>
                    <a:bodyPr/>
                    <a:lstStyle/>
                    <a:p>
                      <a:r>
                        <a:rPr lang="en-US" sz="2400"/>
                        <a:t>SELECT f2 FROM tbl1 WHERE f1=1;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SELECT f2 FROM tbl1 WHERE f1=1;</a:t>
                      </a:r>
                    </a:p>
                  </a:txBody>
                  <a:tcPr anchor="ctr"/>
                </a:tc>
              </a:tr>
              <a:tr h="892508">
                <a:tc>
                  <a:txBody>
                    <a:bodyPr/>
                    <a:lstStyle/>
                    <a:p>
                      <a:r>
                        <a:rPr lang="en-US" sz="2400"/>
                        <a:t>UPDATE tbl1 SET f2=f2+1 WHERE f1=1;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anchor="ctr"/>
                </a:tc>
              </a:tr>
              <a:tr h="861522">
                <a:tc>
                  <a:txBody>
                    <a:bodyPr/>
                    <a:lstStyle/>
                    <a:p>
                      <a:r>
                        <a:rPr lang="en-US" sz="2400"/>
                        <a:t>COMMIT;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anchor="ctr"/>
                </a:tc>
              </a:tr>
              <a:tr h="892508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SELECT f2 FROM tbl1 WHERE f1=1;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Фантомное чтение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6254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4800"/>
                <a:gridCol w="4114800"/>
              </a:tblGrid>
              <a:tr h="796531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Транзакция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/>
                        <a:t>Транзакция 2</a:t>
                      </a:r>
                    </a:p>
                  </a:txBody>
                  <a:tcPr anchor="ctr"/>
                </a:tc>
              </a:tr>
              <a:tr h="796531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SELECT SUM(f2) FROM tbl1;</a:t>
                      </a:r>
                    </a:p>
                  </a:txBody>
                  <a:tcPr anchor="ctr"/>
                </a:tc>
              </a:tr>
              <a:tr h="1235870">
                <a:tc>
                  <a:txBody>
                    <a:bodyPr/>
                    <a:lstStyle/>
                    <a:p>
                      <a:r>
                        <a:rPr lang="en-US" sz="2400"/>
                        <a:t>INSERT INTO tbl1 (f1,f2) VALUES (15,20);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anchor="ctr"/>
                </a:tc>
              </a:tr>
              <a:tr h="796531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SELECT SUM(f2) FROM tbl1;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Размер транзакций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14882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Логически </a:t>
            </a:r>
            <a:r>
              <a:rPr lang="ru-RU" i="1" dirty="0" smtClean="0"/>
              <a:t>транзакция</a:t>
            </a:r>
            <a:r>
              <a:rPr lang="ru-RU" dirty="0" smtClean="0"/>
              <a:t> должна объединять только выполнение взаимосвязанных операций. </a:t>
            </a:r>
          </a:p>
          <a:p>
            <a:r>
              <a:rPr lang="ru-RU" dirty="0" smtClean="0"/>
              <a:t>Если делать </a:t>
            </a:r>
            <a:r>
              <a:rPr lang="ru-RU" i="1" dirty="0" smtClean="0"/>
              <a:t>транзакции</a:t>
            </a:r>
            <a:r>
              <a:rPr lang="ru-RU" dirty="0" smtClean="0"/>
              <a:t> "очень большими", состоящими из последовательности не связанных между собой операторов, то любой сбой, автоматически выполняющий откат </a:t>
            </a:r>
            <a:r>
              <a:rPr lang="ru-RU" i="1" dirty="0" smtClean="0"/>
              <a:t>транзакции</a:t>
            </a:r>
            <a:r>
              <a:rPr lang="ru-RU" dirty="0" smtClean="0"/>
              <a:t>, повлияет на отмену действий, которые могли бы быть успешно завершены при более "коротких" </a:t>
            </a:r>
            <a:r>
              <a:rPr lang="ru-RU" i="1" dirty="0" smtClean="0"/>
              <a:t>транзакциях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Фазы транзакций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14488"/>
            <a:ext cx="8229600" cy="4643470"/>
          </a:xfrm>
        </p:spPr>
        <p:txBody>
          <a:bodyPr>
            <a:normAutofit/>
          </a:bodyPr>
          <a:lstStyle/>
          <a:p>
            <a:r>
              <a:rPr lang="ru-RU" sz="3600" dirty="0" smtClean="0"/>
              <a:t>Установить уровень изоляции</a:t>
            </a:r>
            <a:endParaRPr lang="en-US" sz="3600" dirty="0" smtClean="0"/>
          </a:p>
          <a:p>
            <a:r>
              <a:rPr lang="ru-RU" sz="3600" dirty="0" smtClean="0"/>
              <a:t>Начало</a:t>
            </a:r>
            <a:br>
              <a:rPr lang="ru-RU" sz="3600" dirty="0" smtClean="0"/>
            </a:br>
            <a:r>
              <a:rPr lang="en-US" sz="3600" dirty="0" smtClean="0"/>
              <a:t>BEGIN</a:t>
            </a:r>
            <a:r>
              <a:rPr lang="en-US" sz="3600" cap="all" dirty="0" smtClean="0"/>
              <a:t> transaction</a:t>
            </a:r>
            <a:endParaRPr lang="ru-RU" sz="3600" cap="all" dirty="0" smtClean="0"/>
          </a:p>
          <a:p>
            <a:r>
              <a:rPr lang="ru-RU" sz="3600" dirty="0" smtClean="0"/>
              <a:t>Конец</a:t>
            </a:r>
            <a:br>
              <a:rPr lang="ru-RU" sz="3600" dirty="0" smtClean="0"/>
            </a:br>
            <a:r>
              <a:rPr lang="en-US" sz="3600" cap="all" dirty="0" smtClean="0"/>
              <a:t>Commit</a:t>
            </a:r>
            <a:r>
              <a:rPr lang="ru-RU" sz="3600" cap="all" dirty="0" smtClean="0"/>
              <a:t/>
            </a:r>
            <a:br>
              <a:rPr lang="ru-RU" sz="3600" cap="all" dirty="0" smtClean="0"/>
            </a:br>
            <a:r>
              <a:rPr lang="en-US" sz="3600" cap="all" dirty="0" smtClean="0"/>
              <a:t>Rollback</a:t>
            </a:r>
          </a:p>
        </p:txBody>
      </p:sp>
    </p:spTree>
    <p:extLst>
      <p:ext uri="{BB962C8B-B14F-4D97-AF65-F5344CB8AC3E}">
        <p14:creationId xmlns:p14="http://schemas.microsoft.com/office/powerpoint/2010/main" val="2730092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Уровень изоляции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SET TRANSACTION ISOLATION LEVEL</a:t>
            </a:r>
          </a:p>
          <a:p>
            <a:pPr>
              <a:buNone/>
            </a:pPr>
            <a:r>
              <a:rPr lang="en-US" dirty="0" smtClean="0"/>
              <a:t>    { READ UNCOMMITTED</a:t>
            </a:r>
          </a:p>
          <a:p>
            <a:pPr>
              <a:buNone/>
            </a:pPr>
            <a:r>
              <a:rPr lang="en-US" dirty="0" smtClean="0"/>
              <a:t>    | READ COMMITTED</a:t>
            </a:r>
          </a:p>
          <a:p>
            <a:pPr>
              <a:buNone/>
            </a:pPr>
            <a:r>
              <a:rPr lang="en-US" dirty="0" smtClean="0"/>
              <a:t>    | REPEATABLE READ</a:t>
            </a:r>
          </a:p>
          <a:p>
            <a:pPr>
              <a:buNone/>
            </a:pPr>
            <a:r>
              <a:rPr lang="en-US" dirty="0" smtClean="0"/>
              <a:t>    | SNAPSHOT</a:t>
            </a:r>
          </a:p>
          <a:p>
            <a:pPr>
              <a:buNone/>
            </a:pPr>
            <a:r>
              <a:rPr lang="en-US" dirty="0" smtClean="0"/>
              <a:t>    | SERIALIZABLE</a:t>
            </a:r>
          </a:p>
          <a:p>
            <a:pPr>
              <a:buNone/>
            </a:pPr>
            <a:r>
              <a:rPr lang="en-US" dirty="0" smtClean="0"/>
              <a:t>    }</a:t>
            </a:r>
          </a:p>
          <a:p>
            <a:pPr>
              <a:buNone/>
            </a:pPr>
            <a:r>
              <a:rPr lang="en-US" dirty="0" smtClean="0"/>
              <a:t>[ ; ]</a:t>
            </a:r>
            <a:endParaRPr lang="ru-RU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READ UNCOMMITTED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472518" cy="4525963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Не устанавливаются блокировки на чтение</a:t>
            </a:r>
            <a:endParaRPr lang="en-US" dirty="0" smtClean="0"/>
          </a:p>
          <a:p>
            <a:r>
              <a:rPr lang="ru-RU" dirty="0" smtClean="0"/>
              <a:t>Транзакции могут считывать измененные другими транзакциями, но не зафиксированные строки. Это позволяет считывать незафиксированные изменения, которые называются чтением«грязных» данных. </a:t>
            </a:r>
          </a:p>
          <a:p>
            <a:r>
              <a:rPr lang="ru-RU" dirty="0" smtClean="0"/>
              <a:t>Значения в данных могут быть изменены и до окончания транзакции строки могут появляться и исчезать в наборе данных. Это наименьшее ограничение уровней изоляции.</a:t>
            </a:r>
          </a:p>
          <a:p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READ COMMITTED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Нельзя считывать данные, которые были изменены другими транзакциями, но еще не были зафиксированы - «грязные» данных. </a:t>
            </a:r>
          </a:p>
          <a:p>
            <a:r>
              <a:rPr lang="ru-RU" dirty="0" smtClean="0"/>
              <a:t>Считанные данные могут быть изменены другими транзакциями во время работы текущей транзакции, результатом чего будет неповторяемое чтение или недействительные данные. </a:t>
            </a:r>
          </a:p>
          <a:p>
            <a:r>
              <a:rPr lang="ru-RU" dirty="0" smtClean="0"/>
              <a:t>Этот режим в SQL </a:t>
            </a:r>
            <a:r>
              <a:rPr lang="ru-RU" dirty="0" err="1" smtClean="0"/>
              <a:t>Server</a:t>
            </a:r>
            <a:r>
              <a:rPr lang="ru-RU" dirty="0" smtClean="0"/>
              <a:t> установлен по умолчанию.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REPEATABLE READ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Нельзя считывать данные, которые были изменены, но еще не зафиксированы другими транзакциями.</a:t>
            </a:r>
          </a:p>
          <a:p>
            <a:r>
              <a:rPr lang="ru-RU" dirty="0" smtClean="0"/>
              <a:t>Совмещаемые блокировки применяются ко всем считываемым данным и сохраняются до  завершения. Это запрещает другим транзакциям изменять строки, считанные текущей транзакцией. </a:t>
            </a:r>
          </a:p>
          <a:p>
            <a:r>
              <a:rPr lang="ru-RU" dirty="0" smtClean="0"/>
              <a:t>Другие транзакции могут вставлять новые строки, соответствующие условиям поиска текущей транзакции. При повторном чтении диапазона могут появиться новые строки «фантомы».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SNAPSHOT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285860"/>
            <a:ext cx="8568952" cy="5357850"/>
          </a:xfrm>
        </p:spPr>
        <p:txBody>
          <a:bodyPr>
            <a:noAutofit/>
          </a:bodyPr>
          <a:lstStyle/>
          <a:p>
            <a:r>
              <a:rPr lang="ru-RU" sz="2800" dirty="0" smtClean="0"/>
              <a:t>Копирует БД на момент начала транзакции. Текущая транзакция не видит изменений данных, произведенных другими транзакциями после запуска текущей транзакции. </a:t>
            </a:r>
          </a:p>
          <a:p>
            <a:r>
              <a:rPr lang="ru-RU" sz="2800" dirty="0" smtClean="0"/>
              <a:t>Считывание данных транзакциями моментальных снимков не блокирует запись данных другими транзакциями. </a:t>
            </a:r>
          </a:p>
          <a:p>
            <a:r>
              <a:rPr lang="ru-RU" sz="2800" dirty="0" smtClean="0"/>
              <a:t>Если транзакция пытается записать данные, измененные кем-то после ее начала, то она обрывается.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SNAPSHOT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143536"/>
          </a:xfrm>
        </p:spPr>
        <p:txBody>
          <a:bodyPr>
            <a:noAutofit/>
          </a:bodyPr>
          <a:lstStyle/>
          <a:p>
            <a:r>
              <a:rPr lang="ru-RU" sz="2800" dirty="0" smtClean="0"/>
              <a:t>Перед запуском транзакции, использующей уровень изоляции моментальных снимков, необходимо установить параметр базы данных ALLOW_SNAPSHOT_ISOLATION в ON. </a:t>
            </a:r>
            <a:br>
              <a:rPr lang="ru-RU" sz="2800" dirty="0" smtClean="0"/>
            </a:br>
            <a:endParaRPr lang="ru-RU" sz="2800" dirty="0" smtClean="0"/>
          </a:p>
          <a:p>
            <a:r>
              <a:rPr lang="ru-RU" sz="2800" dirty="0" smtClean="0"/>
              <a:t>Транзакция, работающая с уровнем изоляции моментального снимка, может просматривать внесенные ею изменения. </a:t>
            </a: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SNAPSHOT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Select name, </a:t>
            </a:r>
            <a:r>
              <a:rPr lang="en-US" dirty="0" err="1" smtClean="0"/>
              <a:t>snapshot_isolation_state</a:t>
            </a:r>
            <a:r>
              <a:rPr lang="en-US" dirty="0" smtClean="0"/>
              <a:t>, </a:t>
            </a:r>
            <a:r>
              <a:rPr lang="en-US" dirty="0" err="1" smtClean="0"/>
              <a:t>snapshot_isolation_state_desc</a:t>
            </a:r>
            <a:r>
              <a:rPr lang="en-US" dirty="0" smtClean="0"/>
              <a:t> from </a:t>
            </a:r>
            <a:r>
              <a:rPr lang="en-US" dirty="0" err="1" smtClean="0"/>
              <a:t>sys.databases</a:t>
            </a:r>
            <a:endParaRPr lang="ru-RU" dirty="0" smtClean="0"/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en-US" dirty="0" smtClean="0"/>
              <a:t>ALTER DATABASE </a:t>
            </a:r>
            <a:r>
              <a:rPr lang="en-US" dirty="0" err="1" smtClean="0"/>
              <a:t>Database</a:t>
            </a:r>
            <a:r>
              <a:rPr lang="en-US" dirty="0" smtClean="0"/>
              <a:t> SET ALLOW_SNAPSHOT_ISOLATION ON;</a:t>
            </a:r>
            <a:endParaRPr lang="ru-RU" dirty="0" smtClean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SNAPSHOT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r>
              <a:rPr lang="ru-RU" dirty="0" smtClean="0"/>
              <a:t>После </a:t>
            </a:r>
            <a:r>
              <a:rPr lang="ru-RU" dirty="0"/>
              <a:t>включения изоляции моментального снимка обновленные версии строк для каждой транзакции содержатся в </a:t>
            </a:r>
            <a:r>
              <a:rPr lang="ru-RU" dirty="0" err="1"/>
              <a:t>tempdb</a:t>
            </a:r>
            <a:r>
              <a:rPr lang="ru-RU" dirty="0"/>
              <a:t>. </a:t>
            </a:r>
          </a:p>
          <a:p>
            <a:r>
              <a:rPr lang="ru-RU" dirty="0" smtClean="0"/>
              <a:t>Применение </a:t>
            </a:r>
            <a:r>
              <a:rPr lang="ru-RU" dirty="0"/>
              <a:t>такого подхода, предусматривающего отказ от блокировок, способствует значительному снижению вероятности взаимоблокировок в сложных транзакциях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6903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SERIALIZABLE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417638"/>
            <a:ext cx="8363272" cy="4747666"/>
          </a:xfrm>
        </p:spPr>
        <p:txBody>
          <a:bodyPr>
            <a:noAutofit/>
          </a:bodyPr>
          <a:lstStyle/>
          <a:p>
            <a:r>
              <a:rPr lang="ru-RU" sz="2800" dirty="0" smtClean="0"/>
              <a:t>Нельзя считывать данные, которые были изменены другими транзакциями, но еще не были зафиксированы.</a:t>
            </a:r>
          </a:p>
          <a:p>
            <a:r>
              <a:rPr lang="ru-RU" sz="2800" dirty="0" smtClean="0"/>
              <a:t>Другие транзакции не могут изменять данные, считываемые текущей транзакцией.</a:t>
            </a:r>
          </a:p>
          <a:p>
            <a:r>
              <a:rPr lang="ru-RU" sz="2800" dirty="0" smtClean="0"/>
              <a:t>Другие транзакции не могут вставлять новые строки со значениями ключа, считываемых текущей транзакции, до ее завершения. При повторном считывании будет тот же самый набор строк.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SERIALIZABLE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47666"/>
          </a:xfrm>
        </p:spPr>
        <p:txBody>
          <a:bodyPr>
            <a:noAutofit/>
          </a:bodyPr>
          <a:lstStyle/>
          <a:p>
            <a:r>
              <a:rPr lang="ru-RU" sz="2800" dirty="0" smtClean="0"/>
              <a:t>Блокировки считанного диапазона сохраняются до завершения транзакции. </a:t>
            </a:r>
          </a:p>
          <a:p>
            <a:r>
              <a:rPr lang="ru-RU" sz="2800" dirty="0" smtClean="0"/>
              <a:t>Из-за низкого параллелизма этот параметр рекомендуется использовать только при необходимости.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406895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8131789"/>
              </p:ext>
            </p:extLst>
          </p:nvPr>
        </p:nvGraphicFramePr>
        <p:xfrm>
          <a:off x="457200" y="692694"/>
          <a:ext cx="8186768" cy="5093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9059"/>
                <a:gridCol w="1417626"/>
                <a:gridCol w="1417626"/>
                <a:gridCol w="1535762"/>
                <a:gridCol w="1476695"/>
              </a:tblGrid>
              <a:tr h="8324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Уровень изоляции 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noProof="0" dirty="0" smtClean="0"/>
                        <a:t>потерянное</a:t>
                      </a:r>
                      <a:r>
                        <a:rPr lang="en-US" sz="1800" dirty="0" smtClean="0"/>
                        <a:t> </a:t>
                      </a:r>
                      <a:r>
                        <a:rPr lang="ru-RU" sz="1800" noProof="0" dirty="0" smtClean="0"/>
                        <a:t>обновление </a:t>
                      </a:r>
                      <a:endParaRPr lang="ru-RU" sz="1800" noProof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«Грязное» чтение 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Неповторяющееся чтение 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Фантомное чтение 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654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Не зафиксированные операции чтения 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/>
                        <a:t>Нет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Да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/>
                        <a:t>Да</a:t>
                      </a:r>
                      <a:endParaRPr lang="ru-RU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/>
                        <a:t>Да</a:t>
                      </a:r>
                      <a:endParaRPr lang="ru-RU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8654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Зафиксированные операции чтения 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/>
                        <a:t>Нет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Нет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Да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/>
                        <a:t>Да</a:t>
                      </a:r>
                      <a:endParaRPr lang="ru-RU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8654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Повторяющиеся операции чтения 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/>
                        <a:t>Нет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/>
                        <a:t>Нет</a:t>
                      </a:r>
                      <a:endParaRPr lang="ru-RU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Нет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/>
                        <a:t>Да</a:t>
                      </a:r>
                      <a:endParaRPr lang="ru-RU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8324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Моментальный снимок 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/>
                        <a:t>Нет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/>
                        <a:t>Нет</a:t>
                      </a:r>
                      <a:endParaRPr lang="ru-RU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Нет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Нет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8324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/>
                        <a:t>Сериализуемый </a:t>
                      </a:r>
                      <a:endParaRPr lang="ru-RU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/>
                        <a:t>Нет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/>
                        <a:t>Нет</a:t>
                      </a:r>
                      <a:endParaRPr lang="ru-RU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Нет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Нет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TRANSACTION</a:t>
            </a:r>
            <a:r>
              <a:rPr lang="ru-RU" dirty="0" smtClean="0"/>
              <a:t> </a:t>
            </a:r>
            <a:r>
              <a:rPr lang="en-US" dirty="0" smtClean="0"/>
              <a:t>NAME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96"/>
          </a:xfrm>
        </p:spPr>
        <p:txBody>
          <a:bodyPr>
            <a:normAutofit/>
          </a:bodyPr>
          <a:lstStyle/>
          <a:p>
            <a:r>
              <a:rPr lang="ru-RU" dirty="0" smtClean="0"/>
              <a:t>Строка до 32 символов</a:t>
            </a:r>
            <a:endParaRPr lang="ru-RU" dirty="0"/>
          </a:p>
          <a:p>
            <a:r>
              <a:rPr lang="ru-RU" dirty="0" smtClean="0"/>
              <a:t>@</a:t>
            </a:r>
            <a:r>
              <a:rPr lang="ru-RU" dirty="0" err="1" smtClean="0"/>
              <a:t>tran_name_variable</a:t>
            </a:r>
            <a:r>
              <a:rPr lang="ru-RU" dirty="0" smtClean="0"/>
              <a:t> </a:t>
            </a:r>
            <a:br>
              <a:rPr lang="ru-RU" dirty="0" smtClean="0"/>
            </a:br>
            <a:r>
              <a:rPr lang="ru-RU" dirty="0" smtClean="0"/>
              <a:t>Имя определенной пользователем переменной, содержащей допустимое имя транзакции. 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BEGIN TRANSACTION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BEGIN { TRAN | TRANSACTION } </a:t>
            </a:r>
          </a:p>
          <a:p>
            <a:pPr>
              <a:buNone/>
            </a:pPr>
            <a:r>
              <a:rPr lang="en-US" dirty="0" smtClean="0"/>
              <a:t>    [ { </a:t>
            </a:r>
            <a:r>
              <a:rPr lang="en-US" dirty="0" err="1" smtClean="0"/>
              <a:t>transaction_name</a:t>
            </a:r>
            <a:r>
              <a:rPr lang="en-US" dirty="0" smtClean="0"/>
              <a:t> | @</a:t>
            </a:r>
            <a:r>
              <a:rPr lang="en-US" dirty="0" err="1" smtClean="0"/>
              <a:t>tran_name_variable</a:t>
            </a:r>
            <a:r>
              <a:rPr lang="en-US" dirty="0" smtClean="0"/>
              <a:t> }</a:t>
            </a:r>
          </a:p>
          <a:p>
            <a:pPr>
              <a:buNone/>
            </a:pPr>
            <a:r>
              <a:rPr lang="en-US" dirty="0" smtClean="0"/>
              <a:t>]</a:t>
            </a:r>
            <a:endParaRPr lang="ru-RU" dirty="0" smtClean="0"/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 smtClean="0"/>
              <a:t>Начинает транзакцию.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BEGIN { TRAN | TRANSACTION } [ </a:t>
            </a:r>
            <a:r>
              <a:rPr lang="en-US" dirty="0" err="1" smtClean="0"/>
              <a:t>transaction_name</a:t>
            </a:r>
            <a:r>
              <a:rPr lang="en-US" dirty="0" smtClean="0"/>
              <a:t> | @</a:t>
            </a:r>
            <a:r>
              <a:rPr lang="en-US" dirty="0" err="1" smtClean="0"/>
              <a:t>tran_name_variable</a:t>
            </a:r>
            <a:r>
              <a:rPr lang="en-US" dirty="0" smtClean="0"/>
              <a:t> ] ]</a:t>
            </a:r>
          </a:p>
          <a:p>
            <a:pPr>
              <a:buNone/>
            </a:pPr>
            <a:r>
              <a:rPr lang="en-US" dirty="0" smtClean="0"/>
              <a:t>[ ; ]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… </a:t>
            </a:r>
            <a:endParaRPr lang="ru-RU" dirty="0"/>
          </a:p>
          <a:p>
            <a:pPr>
              <a:buNone/>
            </a:pPr>
            <a:r>
              <a:rPr lang="en-US" dirty="0" smtClean="0"/>
              <a:t>COMMIT</a:t>
            </a:r>
            <a:endParaRPr lang="ru-RU" dirty="0"/>
          </a:p>
          <a:p>
            <a:pPr>
              <a:buNone/>
            </a:pPr>
            <a:r>
              <a:rPr lang="ru-RU" dirty="0" smtClean="0"/>
              <a:t>Фиксирует транзакцию.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Вложенные транзакции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5214974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При использовании вложенных транзакций фиксация внутренних транзакций не освобождает ресурсы и не делает их изменения постоянными. Изменения данных становятся постоянными и освобождаются ресурсы только при фиксации внешней транзакции. </a:t>
            </a:r>
          </a:p>
          <a:p>
            <a:r>
              <a:rPr lang="ru-RU" dirty="0" smtClean="0"/>
              <a:t>Вызов каждой инструкции COMMIT TRANSACTION приводит к тому, что значение параметра @@TRANCOUNT уменьшается на 1. Когда значение параметра @@TRANCOUNT уменьшится до нуля, вся внешняя транзакция фиксируется. </a:t>
            </a:r>
          </a:p>
          <a:p>
            <a:r>
              <a:rPr lang="ru-RU" dirty="0" smtClean="0"/>
              <a:t>Функция @@NESTLEVEL возвращает уровень вложенности транзакций.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Вложенные транзакции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5214974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Так как аргумент </a:t>
            </a:r>
            <a:r>
              <a:rPr lang="ru-RU" dirty="0" err="1" smtClean="0"/>
              <a:t>transaction_name</a:t>
            </a:r>
            <a:r>
              <a:rPr lang="ru-RU" dirty="0" smtClean="0"/>
              <a:t> не учитывается компонентом </a:t>
            </a:r>
            <a:r>
              <a:rPr lang="ru-RU" dirty="0" err="1" smtClean="0"/>
              <a:t>Database</a:t>
            </a:r>
            <a:r>
              <a:rPr lang="ru-RU" dirty="0" smtClean="0"/>
              <a:t> </a:t>
            </a:r>
            <a:r>
              <a:rPr lang="ru-RU" dirty="0" err="1" smtClean="0"/>
              <a:t>Engine</a:t>
            </a:r>
            <a:r>
              <a:rPr lang="ru-RU" dirty="0" smtClean="0"/>
              <a:t>, то вызов инструкции COMMIT TRANSACTION, содержащей ссылку на имя внешней транзакции, приводит к тому, что если существуют невыполненные внутренние транзакции, то производится только уменьшение значения параметра @@TRANCOUNT на 1.</a:t>
            </a:r>
          </a:p>
          <a:p>
            <a:r>
              <a:rPr lang="ru-RU" dirty="0" smtClean="0"/>
              <a:t>При обрыве (откате) вложенной транзакции откатываются все внешние.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Вложенные транзакции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521497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tbl</a:t>
            </a:r>
            <a:r>
              <a:rPr lang="en-US" dirty="0"/>
              <a:t>(id </a:t>
            </a:r>
            <a:r>
              <a:rPr lang="en-US" dirty="0" err="1"/>
              <a:t>int</a:t>
            </a:r>
            <a:r>
              <a:rPr lang="en-US" dirty="0"/>
              <a:t> identity</a:t>
            </a:r>
            <a:r>
              <a:rPr lang="en-US" dirty="0" smtClean="0"/>
              <a:t>,</a:t>
            </a:r>
          </a:p>
          <a:p>
            <a:pPr marL="0" indent="0">
              <a:buNone/>
            </a:pPr>
            <a:r>
              <a:rPr lang="en-US" dirty="0" smtClean="0"/>
              <a:t>field </a:t>
            </a:r>
            <a:r>
              <a:rPr lang="en-US" dirty="0" err="1"/>
              <a:t>varchar</a:t>
            </a:r>
            <a:r>
              <a:rPr lang="en-US" dirty="0"/>
              <a:t>(50))</a:t>
            </a:r>
          </a:p>
          <a:p>
            <a:pPr marL="0" indent="0">
              <a:buNone/>
            </a:pPr>
            <a:r>
              <a:rPr lang="en-US" dirty="0"/>
              <a:t>declare @</a:t>
            </a:r>
            <a:r>
              <a:rPr lang="en-US" dirty="0" err="1"/>
              <a:t>i</a:t>
            </a:r>
            <a:r>
              <a:rPr lang="en-US" dirty="0"/>
              <a:t> bit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begin </a:t>
            </a:r>
            <a:r>
              <a:rPr lang="en-US" dirty="0" err="1"/>
              <a:t>tran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insert </a:t>
            </a:r>
            <a:r>
              <a:rPr lang="en-US" dirty="0" err="1"/>
              <a:t>tbl</a:t>
            </a:r>
            <a:r>
              <a:rPr lang="en-US" dirty="0"/>
              <a:t>(field) select 'test1'</a:t>
            </a:r>
          </a:p>
          <a:p>
            <a:pPr marL="0" indent="0">
              <a:buNone/>
            </a:pPr>
            <a:r>
              <a:rPr lang="en-US" dirty="0"/>
              <a:t>  select @</a:t>
            </a:r>
            <a:r>
              <a:rPr lang="en-US" dirty="0" err="1"/>
              <a:t>i</a:t>
            </a:r>
            <a:r>
              <a:rPr lang="en-US" dirty="0"/>
              <a:t>=1 --or 0</a:t>
            </a:r>
          </a:p>
          <a:p>
            <a:pPr marL="0" indent="0">
              <a:buNone/>
            </a:pPr>
            <a:r>
              <a:rPr lang="en-US" dirty="0"/>
              <a:t>  begin </a:t>
            </a:r>
            <a:r>
              <a:rPr lang="en-US" dirty="0" err="1"/>
              <a:t>tran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insert </a:t>
            </a:r>
            <a:r>
              <a:rPr lang="en-US" dirty="0" err="1"/>
              <a:t>tbl</a:t>
            </a:r>
            <a:r>
              <a:rPr lang="en-US" dirty="0"/>
              <a:t>(field) select 'test2'</a:t>
            </a:r>
          </a:p>
          <a:p>
            <a:pPr marL="0" indent="0">
              <a:buNone/>
            </a:pPr>
            <a:r>
              <a:rPr lang="en-US" dirty="0"/>
              <a:t>    if @</a:t>
            </a: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0" indent="0">
              <a:buNone/>
            </a:pPr>
            <a:r>
              <a:rPr lang="en-US" dirty="0"/>
              <a:t>  rollback </a:t>
            </a:r>
            <a:r>
              <a:rPr lang="en-US" dirty="0" err="1"/>
              <a:t>tran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else </a:t>
            </a:r>
          </a:p>
          <a:p>
            <a:pPr marL="0" indent="0">
              <a:buNone/>
            </a:pPr>
            <a:r>
              <a:rPr lang="en-US" dirty="0"/>
              <a:t>  commit </a:t>
            </a:r>
            <a:r>
              <a:rPr lang="en-US" dirty="0" err="1"/>
              <a:t>tran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insert </a:t>
            </a:r>
            <a:r>
              <a:rPr lang="en-US" dirty="0" err="1"/>
              <a:t>tbl</a:t>
            </a:r>
            <a:r>
              <a:rPr lang="en-US" dirty="0"/>
              <a:t>(field) select 'test3'</a:t>
            </a:r>
          </a:p>
          <a:p>
            <a:pPr marL="0" indent="0">
              <a:buNone/>
            </a:pPr>
            <a:r>
              <a:rPr lang="en-US" dirty="0"/>
              <a:t>commit </a:t>
            </a:r>
            <a:r>
              <a:rPr lang="en-US" dirty="0" err="1"/>
              <a:t>tran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tbl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drop table </a:t>
            </a:r>
            <a:r>
              <a:rPr lang="en-US" dirty="0" err="1"/>
              <a:t>tbl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6087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SAVE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SAVE { TRAN | TRANSACTION } { </a:t>
            </a:r>
            <a:r>
              <a:rPr lang="en-US" dirty="0" err="1" smtClean="0"/>
              <a:t>savepoint_name</a:t>
            </a:r>
            <a:r>
              <a:rPr lang="en-US" dirty="0" smtClean="0"/>
              <a:t> | @</a:t>
            </a:r>
            <a:r>
              <a:rPr lang="en-US" dirty="0" err="1" smtClean="0"/>
              <a:t>savepoint_variable</a:t>
            </a:r>
            <a:r>
              <a:rPr lang="en-US" dirty="0" smtClean="0"/>
              <a:t> }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/>
              <a:t>Устанавливает точку сохранения внутри транзакции.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ROLLBACK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ROLLBACK { TRAN | TRANSACTION } </a:t>
            </a:r>
          </a:p>
          <a:p>
            <a:pPr>
              <a:buNone/>
            </a:pPr>
            <a:r>
              <a:rPr lang="en-US" dirty="0" smtClean="0"/>
              <a:t>     [ </a:t>
            </a:r>
            <a:r>
              <a:rPr lang="en-US" dirty="0" err="1" smtClean="0"/>
              <a:t>transaction_name</a:t>
            </a:r>
            <a:r>
              <a:rPr lang="en-US" dirty="0" smtClean="0"/>
              <a:t> | @</a:t>
            </a:r>
            <a:r>
              <a:rPr lang="en-US" dirty="0" err="1" smtClean="0"/>
              <a:t>tran_name_variable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| </a:t>
            </a:r>
            <a:r>
              <a:rPr lang="en-US" dirty="0" err="1" smtClean="0"/>
              <a:t>savepoint_name</a:t>
            </a:r>
            <a:r>
              <a:rPr lang="en-US" dirty="0" smtClean="0"/>
              <a:t> | @</a:t>
            </a:r>
            <a:r>
              <a:rPr lang="en-US" dirty="0" err="1" smtClean="0"/>
              <a:t>savepoint_variable</a:t>
            </a:r>
            <a:r>
              <a:rPr lang="en-US" dirty="0" smtClean="0"/>
              <a:t> ] </a:t>
            </a:r>
            <a:endParaRPr lang="ru-RU" dirty="0" smtClean="0"/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 smtClean="0"/>
              <a:t>Откатывает транзакцию до ее начала или до заданной точки сохранения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ROLLBACK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158" y="1600200"/>
            <a:ext cx="8329642" cy="4829196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Инструкция </a:t>
            </a:r>
            <a:r>
              <a:rPr lang="en-US" dirty="0" smtClean="0"/>
              <a:t>ROLLBACK TRANSACTION </a:t>
            </a:r>
            <a:r>
              <a:rPr lang="ru-RU" dirty="0" smtClean="0"/>
              <a:t>без аргумента </a:t>
            </a:r>
            <a:r>
              <a:rPr lang="en-US" dirty="0" err="1" smtClean="0"/>
              <a:t>savepoint_name</a:t>
            </a:r>
            <a:r>
              <a:rPr lang="en-US" dirty="0" smtClean="0"/>
              <a:t> </a:t>
            </a:r>
            <a:r>
              <a:rPr lang="ru-RU" dirty="0" smtClean="0"/>
              <a:t>или </a:t>
            </a:r>
            <a:r>
              <a:rPr lang="en-US" dirty="0" err="1" smtClean="0"/>
              <a:t>transaction_name</a:t>
            </a:r>
            <a:r>
              <a:rPr lang="en-US" dirty="0" smtClean="0"/>
              <a:t> </a:t>
            </a:r>
            <a:r>
              <a:rPr lang="ru-RU" dirty="0" smtClean="0"/>
              <a:t>откатывает изменения на начало транзакции. </a:t>
            </a:r>
          </a:p>
          <a:p>
            <a:r>
              <a:rPr lang="ru-RU" dirty="0" smtClean="0"/>
              <a:t>При наличии вложенных транзакций эта инструкция откатывает все внутренние транзакции к началу самой внешней инструкции </a:t>
            </a:r>
            <a:r>
              <a:rPr lang="en-US" dirty="0" smtClean="0"/>
              <a:t>BEGIN TRANSACTION. </a:t>
            </a:r>
            <a:r>
              <a:rPr lang="ru-RU" dirty="0" smtClean="0"/>
              <a:t>В обоих случаях инструкция </a:t>
            </a:r>
            <a:r>
              <a:rPr lang="en-US" dirty="0" smtClean="0"/>
              <a:t>ROLLBACK TRANSACTION </a:t>
            </a:r>
            <a:r>
              <a:rPr lang="ru-RU" dirty="0" smtClean="0"/>
              <a:t>уменьшает @@</a:t>
            </a:r>
            <a:r>
              <a:rPr lang="en-US" dirty="0" smtClean="0"/>
              <a:t>TRANCOUNT </a:t>
            </a:r>
            <a:r>
              <a:rPr lang="ru-RU" dirty="0" smtClean="0"/>
              <a:t>до 0.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ROLLBACK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158" y="1600200"/>
            <a:ext cx="8329642" cy="4829196"/>
          </a:xfrm>
        </p:spPr>
        <p:txBody>
          <a:bodyPr>
            <a:normAutofit/>
          </a:bodyPr>
          <a:lstStyle/>
          <a:p>
            <a:r>
              <a:rPr lang="ru-RU" dirty="0" smtClean="0"/>
              <a:t>Инструкция </a:t>
            </a:r>
            <a:r>
              <a:rPr lang="en-US" dirty="0" smtClean="0"/>
              <a:t>ROLLBACK TRANSACTION </a:t>
            </a:r>
            <a:r>
              <a:rPr lang="en-US" dirty="0" err="1" smtClean="0"/>
              <a:t>savepoint_name</a:t>
            </a:r>
            <a:r>
              <a:rPr lang="en-US" dirty="0" smtClean="0"/>
              <a:t> </a:t>
            </a:r>
            <a:r>
              <a:rPr lang="ru-RU" dirty="0" smtClean="0"/>
              <a:t>не уменьшает @@</a:t>
            </a:r>
            <a:r>
              <a:rPr lang="en-US" dirty="0" smtClean="0"/>
              <a:t>TRANCOUNT.</a:t>
            </a:r>
            <a:endParaRPr lang="ru-RU" dirty="0" smtClean="0"/>
          </a:p>
          <a:p>
            <a:r>
              <a:rPr lang="ru-RU" dirty="0" smtClean="0"/>
              <a:t>Инструкция ROLLBACK TRANSACTION в хранимой процедуре не влияет на последующие инструкции в пакете, вызвавшем процедуру; последующие инструкции в пакете выполняются.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61436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CREATE TABLE </a:t>
            </a:r>
            <a:r>
              <a:rPr lang="en-US" dirty="0" err="1" smtClean="0"/>
              <a:t>ValueTable</a:t>
            </a:r>
            <a:r>
              <a:rPr lang="en-US" dirty="0" smtClean="0"/>
              <a:t> ([value] </a:t>
            </a:r>
            <a:r>
              <a:rPr lang="en-US" dirty="0" err="1" smtClean="0"/>
              <a:t>int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DECLARE @</a:t>
            </a:r>
            <a:r>
              <a:rPr lang="en-US" dirty="0" err="1" smtClean="0"/>
              <a:t>TrName</a:t>
            </a:r>
            <a:r>
              <a:rPr lang="en-US" dirty="0" smtClean="0"/>
              <a:t> </a:t>
            </a:r>
            <a:r>
              <a:rPr lang="en-US" dirty="0" err="1" smtClean="0"/>
              <a:t>varchar</a:t>
            </a:r>
            <a:r>
              <a:rPr lang="en-US" dirty="0" smtClean="0"/>
              <a:t>(20) = 'Tr1';</a:t>
            </a:r>
          </a:p>
          <a:p>
            <a:pPr>
              <a:buNone/>
            </a:pPr>
            <a:r>
              <a:rPr lang="en-US" dirty="0" smtClean="0"/>
              <a:t>BEGIN TRAN @</a:t>
            </a:r>
            <a:r>
              <a:rPr lang="en-US" dirty="0" err="1" smtClean="0"/>
              <a:t>TrName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INSERT INTO </a:t>
            </a:r>
            <a:r>
              <a:rPr lang="en-US" dirty="0" err="1" smtClean="0"/>
              <a:t>ValueTable</a:t>
            </a:r>
            <a:r>
              <a:rPr lang="en-US" dirty="0" smtClean="0"/>
              <a:t> VALUES(1)</a:t>
            </a:r>
          </a:p>
          <a:p>
            <a:pPr>
              <a:buNone/>
            </a:pPr>
            <a:r>
              <a:rPr lang="en-US" dirty="0" smtClean="0"/>
              <a:t>ROLLBACK TRAN @</a:t>
            </a:r>
            <a:r>
              <a:rPr lang="en-US" dirty="0" err="1" smtClean="0"/>
              <a:t>TrName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INSERT INTO </a:t>
            </a:r>
            <a:r>
              <a:rPr lang="en-US" dirty="0" err="1" smtClean="0"/>
              <a:t>ValueTable</a:t>
            </a:r>
            <a:r>
              <a:rPr lang="en-US" dirty="0" smtClean="0"/>
              <a:t> VALUES(</a:t>
            </a:r>
            <a:r>
              <a:rPr lang="ru-RU" dirty="0" smtClean="0"/>
              <a:t>2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SELECT * FROM </a:t>
            </a:r>
            <a:r>
              <a:rPr lang="en-US" dirty="0" err="1" smtClean="0"/>
              <a:t>ValueTable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DROP TABLE </a:t>
            </a:r>
            <a:r>
              <a:rPr lang="en-US" dirty="0" err="1" smtClean="0"/>
              <a:t>ValueTable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61436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CREATE TABLE </a:t>
            </a:r>
            <a:r>
              <a:rPr lang="en-US" dirty="0" err="1" smtClean="0"/>
              <a:t>ValueTable</a:t>
            </a:r>
            <a:r>
              <a:rPr lang="en-US" dirty="0" smtClean="0"/>
              <a:t> ([value] </a:t>
            </a:r>
            <a:r>
              <a:rPr lang="en-US" dirty="0" err="1" smtClean="0"/>
              <a:t>int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DECLARE @</a:t>
            </a:r>
            <a:r>
              <a:rPr lang="en-US" dirty="0" err="1" smtClean="0"/>
              <a:t>TrName</a:t>
            </a:r>
            <a:r>
              <a:rPr lang="en-US" dirty="0" smtClean="0"/>
              <a:t> </a:t>
            </a:r>
            <a:r>
              <a:rPr lang="en-US" dirty="0" err="1" smtClean="0"/>
              <a:t>varchar</a:t>
            </a:r>
            <a:r>
              <a:rPr lang="en-US" dirty="0" smtClean="0"/>
              <a:t>(20) = 'Tr1';</a:t>
            </a:r>
          </a:p>
          <a:p>
            <a:pPr>
              <a:buNone/>
            </a:pPr>
            <a:r>
              <a:rPr lang="en-US" dirty="0" smtClean="0"/>
              <a:t>BEGIN TRAN @</a:t>
            </a:r>
            <a:r>
              <a:rPr lang="en-US" dirty="0" err="1" smtClean="0"/>
              <a:t>TrName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INSERT INTO </a:t>
            </a:r>
            <a:r>
              <a:rPr lang="en-US" dirty="0" err="1" smtClean="0"/>
              <a:t>ValueTable</a:t>
            </a:r>
            <a:r>
              <a:rPr lang="en-US" dirty="0" smtClean="0"/>
              <a:t> VALUES(1)</a:t>
            </a:r>
          </a:p>
          <a:p>
            <a:pPr>
              <a:buNone/>
            </a:pPr>
            <a:r>
              <a:rPr lang="en-US" dirty="0" smtClean="0"/>
              <a:t>ROLLBACK TRAN @</a:t>
            </a:r>
            <a:r>
              <a:rPr lang="en-US" dirty="0" err="1" smtClean="0"/>
              <a:t>TrName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INSERT INTO </a:t>
            </a:r>
            <a:r>
              <a:rPr lang="en-US" dirty="0" err="1" smtClean="0"/>
              <a:t>ValueTable</a:t>
            </a:r>
            <a:r>
              <a:rPr lang="en-US" dirty="0" smtClean="0"/>
              <a:t> VALUES(</a:t>
            </a:r>
            <a:r>
              <a:rPr lang="ru-RU" dirty="0" smtClean="0"/>
              <a:t>2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SELECT * FROM </a:t>
            </a:r>
            <a:r>
              <a:rPr lang="en-US" dirty="0" err="1" smtClean="0"/>
              <a:t>ValueTable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DROP TABLE </a:t>
            </a:r>
            <a:r>
              <a:rPr lang="en-US" dirty="0" err="1" smtClean="0"/>
              <a:t>ValueTable</a:t>
            </a:r>
            <a:endParaRPr lang="en-US" dirty="0" smtClean="0"/>
          </a:p>
          <a:p>
            <a:r>
              <a:rPr lang="ru-RU" dirty="0" smtClean="0"/>
              <a:t>2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47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96974"/>
          </a:xfrm>
        </p:spPr>
        <p:txBody>
          <a:bodyPr>
            <a:normAutofit/>
          </a:bodyPr>
          <a:lstStyle/>
          <a:p>
            <a:r>
              <a:rPr lang="ru-RU" dirty="0" smtClean="0"/>
              <a:t>Пример отката с точкой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8596" y="1857364"/>
            <a:ext cx="5357850" cy="4786346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CREATE TABLE </a:t>
            </a:r>
            <a:r>
              <a:rPr lang="en-US" dirty="0" err="1" smtClean="0"/>
              <a:t>ValueTable</a:t>
            </a:r>
            <a:r>
              <a:rPr lang="en-US" dirty="0" smtClean="0"/>
              <a:t> ([value] </a:t>
            </a:r>
            <a:r>
              <a:rPr lang="en-US" dirty="0" err="1" smtClean="0"/>
              <a:t>int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BEGIN TRAN</a:t>
            </a:r>
          </a:p>
          <a:p>
            <a:pPr>
              <a:buNone/>
            </a:pPr>
            <a:r>
              <a:rPr lang="en-US" dirty="0" smtClean="0"/>
              <a:t>       INSERT INTO </a:t>
            </a:r>
            <a:r>
              <a:rPr lang="en-US" dirty="0" err="1" smtClean="0"/>
              <a:t>ValueTable</a:t>
            </a:r>
            <a:r>
              <a:rPr lang="en-US" dirty="0" smtClean="0"/>
              <a:t> VALUES(1)</a:t>
            </a:r>
          </a:p>
          <a:p>
            <a:pPr>
              <a:buNone/>
            </a:pPr>
            <a:r>
              <a:rPr lang="en-US" dirty="0" smtClean="0"/>
              <a:t>BEGIN TRAN</a:t>
            </a:r>
          </a:p>
          <a:p>
            <a:pPr>
              <a:buNone/>
            </a:pPr>
            <a:r>
              <a:rPr lang="en-US" dirty="0" smtClean="0"/>
              <a:t>       INSERT INTO </a:t>
            </a:r>
            <a:r>
              <a:rPr lang="en-US" dirty="0" err="1" smtClean="0"/>
              <a:t>ValueTable</a:t>
            </a:r>
            <a:r>
              <a:rPr lang="en-US" dirty="0" smtClean="0"/>
              <a:t> VALUES(</a:t>
            </a:r>
            <a:r>
              <a:rPr lang="ru-RU" dirty="0" smtClean="0"/>
              <a:t>2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SAVE TRAN SavePoint1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BEGIN TRAN</a:t>
            </a:r>
          </a:p>
          <a:p>
            <a:pPr>
              <a:buNone/>
            </a:pPr>
            <a:r>
              <a:rPr lang="en-US" dirty="0" smtClean="0"/>
              <a:t>       INSERT INTO </a:t>
            </a:r>
            <a:r>
              <a:rPr lang="en-US" dirty="0" err="1" smtClean="0"/>
              <a:t>ValueTable</a:t>
            </a:r>
            <a:r>
              <a:rPr lang="en-US" dirty="0" smtClean="0"/>
              <a:t> VALUES(</a:t>
            </a:r>
            <a:r>
              <a:rPr lang="ru-RU" dirty="0" smtClean="0"/>
              <a:t>3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ru-RU" dirty="0" smtClean="0"/>
              <a:t>ROLLBACK TRAN</a:t>
            </a:r>
            <a:r>
              <a:rPr lang="en-US" dirty="0" smtClean="0"/>
              <a:t> SavePoint1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INSERT INTO </a:t>
            </a:r>
            <a:r>
              <a:rPr lang="en-US" dirty="0" err="1" smtClean="0"/>
              <a:t>ValueTable</a:t>
            </a:r>
            <a:r>
              <a:rPr lang="en-US" dirty="0" smtClean="0"/>
              <a:t> VALUES(4)</a:t>
            </a:r>
          </a:p>
          <a:p>
            <a:pPr>
              <a:buNone/>
            </a:pPr>
            <a:r>
              <a:rPr lang="en-US" dirty="0" smtClean="0"/>
              <a:t>SELECT * FROM </a:t>
            </a:r>
            <a:r>
              <a:rPr lang="en-US" dirty="0" err="1" smtClean="0"/>
              <a:t>ValueTable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DROP TABLE </a:t>
            </a:r>
            <a:r>
              <a:rPr lang="en-US" dirty="0" err="1" smtClean="0"/>
              <a:t>ValueTable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214282" y="214287"/>
          <a:ext cx="8786874" cy="6594007"/>
        </p:xfrm>
        <a:graphic>
          <a:graphicData uri="http://schemas.openxmlformats.org/drawingml/2006/table">
            <a:tbl>
              <a:tblPr/>
              <a:tblGrid>
                <a:gridCol w="4392978"/>
                <a:gridCol w="4393896"/>
              </a:tblGrid>
              <a:tr h="3318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USE basa_user2 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USE basa_user2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BEGIN TRANSACTION TRA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SET TRANSACTION ISOLATION LEVEL READ UNCOMMITTED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8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BEGIN TRANSACTION TRB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8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1.SELECT * FROM 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Товар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2.SELECT * FROM 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Товар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3.UPDATE Товар SET остаток=остаток+10 WHERE КодТовара=4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4.SELECT * FROM Товар (читает измененные неподтвержденные данные)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5.DELETE FROM 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Товар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 WHERE 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КодТовара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=4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6.SELECT * FROM Товар (читает измененные неподтвержденные данные)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7.INSERT Товар (Название, остаток) VALUES ('SS',999)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8.SELECT * FROM Товар (читает измененные неподтвержденные данные)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2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9.UPDATE Товар SET остаток=остаток+10 WHERE КодТовара=4 (блокируется до окончания конкурирующей транзакции)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2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10.DELETE FROM Товар WHERE КодТовара=4 (блокируется до окончания конкурирующей транзакции)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11.INSERT Товар(Название, остаток) VALUES ('SS',999) (выполняется)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6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>
                          <a:latin typeface="+mn-lt"/>
                          <a:ea typeface="Calibri"/>
                          <a:cs typeface="Times New Roman"/>
                        </a:rPr>
                        <a:t>12.ROLLBACK TRANSACTION TRA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+mn-lt"/>
                          <a:ea typeface="Calibri"/>
                          <a:cs typeface="Times New Roman"/>
                        </a:rPr>
                        <a:t>13.ROLLBACK TRANSACTION TRB SELECT @@TRANCOUNT</a:t>
                      </a:r>
                      <a:endParaRPr lang="ru-RU" sz="1600" dirty="0" smtClean="0"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85720" y="214290"/>
          <a:ext cx="8358245" cy="6387736"/>
        </p:xfrm>
        <a:graphic>
          <a:graphicData uri="http://schemas.openxmlformats.org/drawingml/2006/table">
            <a:tbl>
              <a:tblPr/>
              <a:tblGrid>
                <a:gridCol w="4178686"/>
                <a:gridCol w="4179559"/>
              </a:tblGrid>
              <a:tr h="5310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Calibri"/>
                          <a:ea typeface="Calibri"/>
                          <a:cs typeface="Times New Roman"/>
                        </a:rPr>
                        <a:t>Пользователь </a:t>
                      </a: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user</a:t>
                      </a:r>
                      <a:r>
                        <a:rPr lang="ru-RU" sz="1600" dirty="0">
                          <a:latin typeface="Calibri"/>
                          <a:ea typeface="Calibri"/>
                          <a:cs typeface="Times New Roman"/>
                        </a:rPr>
                        <a:t>1 Конкурирующая транзакция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Calibri"/>
                          <a:ea typeface="Calibri"/>
                          <a:cs typeface="Times New Roman"/>
                        </a:rPr>
                        <a:t>Пользователь </a:t>
                      </a: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user</a:t>
                      </a:r>
                      <a:r>
                        <a:rPr lang="ru-RU" sz="1600" dirty="0">
                          <a:latin typeface="Calibri"/>
                          <a:ea typeface="Calibri"/>
                          <a:cs typeface="Times New Roman"/>
                        </a:rPr>
                        <a:t>2 Текущая транзакция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671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USE basa_user2 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BEGIN TRANSACTION TRA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USE basa_user2 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SET TRANSACTION ISOLATION LEVEL READ COMMITTED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 BEGIN TRANSACTION TRB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6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1.SELECT * FROM Товар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2.SELECT * FROM Товар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0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3.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UPDATE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 Товар 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SET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 остаток=остаток+10 (захватывает данные)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4.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SELECT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 * 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FROM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 Товар 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WHERE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 КодТовара=4 (блокируется до окончания конкурирующей транзакции)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0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5.DELETE FROM 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Товар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 WHERE 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КодТовара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=4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6.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UPDATE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 Товар 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SET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 остаток=остаток+10 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WHERE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 КодТовара=4 (блокируется до окончания конкурирующей транзакции)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671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7.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UPDATE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 Товар 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SET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 остаток=остаток+10 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WHERE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 КодТовара=4 (выполняется той транзакцией, которая первой захватила данные на изменение или удаление)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Calibri"/>
                          <a:ea typeface="Calibri"/>
                          <a:cs typeface="Times New Roman"/>
                        </a:rPr>
                        <a:t>8.</a:t>
                      </a: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DELETE FROM</a:t>
                      </a:r>
                      <a:r>
                        <a:rPr lang="ru-RU" sz="1600" dirty="0">
                          <a:latin typeface="Calibri"/>
                          <a:ea typeface="Calibri"/>
                          <a:cs typeface="Times New Roman"/>
                        </a:rPr>
                        <a:t> Товар </a:t>
                      </a: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WHERE</a:t>
                      </a:r>
                      <a:r>
                        <a:rPr lang="ru-RU" sz="1600" dirty="0">
                          <a:latin typeface="Calibri"/>
                          <a:ea typeface="Calibri"/>
                          <a:cs typeface="Times New Roman"/>
                        </a:rPr>
                        <a:t> КодТовара=4 (блокируется до окончания конкурирующей транзакции)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3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9.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INSERT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 Товар (Название, остаток) 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VALUES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 ('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SS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',999)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10.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INSERT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 Товар(Название, остаток) 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VALUES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 ('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SS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',999) (выполняется)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3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11.ROLLBACK TRANSACTION TRA SELECT @@TRANCOUNT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12.ROLLBACK TRANSACTION TRB SELECT @@TRANCOUNT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285720" y="214290"/>
          <a:ext cx="8572560" cy="6429420"/>
        </p:xfrm>
        <a:graphic>
          <a:graphicData uri="http://schemas.openxmlformats.org/drawingml/2006/table">
            <a:tbl>
              <a:tblPr/>
              <a:tblGrid>
                <a:gridCol w="4285832"/>
                <a:gridCol w="4286728"/>
              </a:tblGrid>
              <a:tr h="3872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USE basa_user2 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USE basa_user2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75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BEGIN TRANSACTION TRA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SET TRANSACTION ISOLATION LEVEL SERIALIZABLE</a:t>
                      </a:r>
                      <a:b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</a:b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BEGIN TRANSACTION TRB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2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1.SELECT * FROM 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Товар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2.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SELECT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 * 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FROM 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Товар (захватывает данные)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45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3.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UPDATE 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Товар 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SET 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остаток=остаток+10 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WHERE 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КодТовара=4 (блокируется)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4.SELECT * FROM 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Товар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 (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выполняется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)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18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5.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DELETE FROM 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Товар 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WHERE 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КодТовара=4 (блокируется)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Calibri"/>
                          <a:ea typeface="Calibri"/>
                          <a:cs typeface="Times New Roman"/>
                        </a:rPr>
                        <a:t>6.</a:t>
                      </a: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UPDATE </a:t>
                      </a:r>
                      <a:r>
                        <a:rPr lang="ru-RU" sz="1600" dirty="0">
                          <a:latin typeface="Calibri"/>
                          <a:ea typeface="Calibri"/>
                          <a:cs typeface="Times New Roman"/>
                        </a:rPr>
                        <a:t>Товар </a:t>
                      </a: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SET </a:t>
                      </a:r>
                      <a:r>
                        <a:rPr lang="ru-RU" sz="1600" dirty="0">
                          <a:latin typeface="Calibri"/>
                          <a:ea typeface="Calibri"/>
                          <a:cs typeface="Times New Roman"/>
                        </a:rPr>
                        <a:t>остаток=остаток+10 </a:t>
                      </a: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WHERE 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КодТовара=4 (выполняется, т.к. </a:t>
                      </a:r>
                      <a:r>
                        <a:rPr lang="ru-RU" sz="1600" dirty="0">
                          <a:latin typeface="Calibri"/>
                          <a:ea typeface="Calibri"/>
                          <a:cs typeface="Times New Roman"/>
                        </a:rPr>
                        <a:t>данные захвачены текущей транзакцией)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18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7.INSERT Товар (наименование, остаток) VALUES ('SS',999) (блокируется)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8.DELETE FROM Товар WHERE КодТовара=4 (выполняется, т.к. данные захвачены текущей транзакцией)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45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10.ROLLBACK TRANSACTION TRA SELECT @@TRANCOUNT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9.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INSERT 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Товар(Название, остаток) 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VALUES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 ('</a:t>
                      </a: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SS</a:t>
                      </a:r>
                      <a:r>
                        <a:rPr lang="ru-RU" sz="1600">
                          <a:latin typeface="Calibri"/>
                          <a:ea typeface="Calibri"/>
                          <a:cs typeface="Times New Roman"/>
                        </a:rPr>
                        <a:t>',999) (выполняется)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45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11.ROLLBACK TRANSACTION TRB SELECT @@TRANCOUNT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Обработка ошибок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CREATE TABLE table1 (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NOT NULL PRIMARY KEY,</a:t>
            </a:r>
          </a:p>
          <a:p>
            <a:pPr marL="0" indent="0">
              <a:buNone/>
            </a:pPr>
            <a:r>
              <a:rPr lang="en-US" dirty="0"/>
              <a:t>col1 </a:t>
            </a:r>
            <a:r>
              <a:rPr lang="en-US" dirty="0" err="1"/>
              <a:t>varchar</a:t>
            </a:r>
            <a:r>
              <a:rPr lang="en-US" dirty="0"/>
              <a:t>(20) NOT NULL,</a:t>
            </a:r>
          </a:p>
          <a:p>
            <a:pPr marL="0" indent="0">
              <a:buNone/>
            </a:pPr>
            <a:r>
              <a:rPr lang="en-US" dirty="0"/>
              <a:t>col2 </a:t>
            </a:r>
            <a:r>
              <a:rPr lang="en-US" dirty="0" err="1"/>
              <a:t>varchar</a:t>
            </a:r>
            <a:r>
              <a:rPr lang="en-US" dirty="0"/>
              <a:t>(20) NULL);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INSERT </a:t>
            </a:r>
            <a:r>
              <a:rPr lang="en-US" dirty="0"/>
              <a:t>INTO table1 (i,col1,col2)</a:t>
            </a:r>
          </a:p>
          <a:p>
            <a:pPr marL="0" indent="0">
              <a:buNone/>
            </a:pPr>
            <a:r>
              <a:rPr lang="en-US" dirty="0"/>
              <a:t>VALUES (1,'First </a:t>
            </a:r>
            <a:r>
              <a:rPr lang="en-US" dirty="0" err="1"/>
              <a:t>row','First</a:t>
            </a:r>
            <a:r>
              <a:rPr lang="en-US" dirty="0"/>
              <a:t> row');</a:t>
            </a:r>
          </a:p>
          <a:p>
            <a:pPr marL="0" indent="0">
              <a:buNone/>
            </a:pPr>
            <a:r>
              <a:rPr lang="en-US" dirty="0"/>
              <a:t>INSERT INTO table1 (i,col1,col2) </a:t>
            </a:r>
          </a:p>
          <a:p>
            <a:pPr marL="0" indent="0">
              <a:buNone/>
            </a:pPr>
            <a:r>
              <a:rPr lang="en-US" dirty="0"/>
              <a:t>VALUES (2,NULL,'Second row');</a:t>
            </a:r>
          </a:p>
          <a:p>
            <a:pPr marL="0" indent="0">
              <a:buNone/>
            </a:pPr>
            <a:r>
              <a:rPr lang="en-US" dirty="0"/>
              <a:t>INSERT INTO table1 (i,col1,col2) </a:t>
            </a:r>
          </a:p>
          <a:p>
            <a:pPr marL="0" indent="0">
              <a:buNone/>
            </a:pPr>
            <a:r>
              <a:rPr lang="en-US" dirty="0"/>
              <a:t>VALUES (3,'Third </a:t>
            </a:r>
            <a:r>
              <a:rPr lang="en-US" dirty="0" err="1"/>
              <a:t>row','Third</a:t>
            </a:r>
            <a:r>
              <a:rPr lang="en-US" dirty="0"/>
              <a:t> row');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1885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Обработка ошибок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BEGIN TRAN</a:t>
            </a:r>
          </a:p>
          <a:p>
            <a:pPr marL="0" indent="0">
              <a:buNone/>
            </a:pPr>
            <a:r>
              <a:rPr lang="en-US" sz="2800" dirty="0"/>
              <a:t>INSERT INTO table1 (i,col1,col2)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VALUES </a:t>
            </a:r>
            <a:r>
              <a:rPr lang="en-US" sz="2800" dirty="0"/>
              <a:t>(1,'First </a:t>
            </a:r>
            <a:r>
              <a:rPr lang="en-US" sz="2800" dirty="0" err="1"/>
              <a:t>row','First</a:t>
            </a:r>
            <a:r>
              <a:rPr lang="en-US" sz="2800" dirty="0"/>
              <a:t> row');</a:t>
            </a:r>
          </a:p>
          <a:p>
            <a:pPr marL="0" indent="0">
              <a:buNone/>
            </a:pPr>
            <a:r>
              <a:rPr lang="en-US" sz="2800" dirty="0"/>
              <a:t>INSERT INTO table1 (i,col1,col2)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VALUES </a:t>
            </a:r>
            <a:r>
              <a:rPr lang="en-US" sz="2800" dirty="0"/>
              <a:t>(2,NULL,'Second row');</a:t>
            </a:r>
          </a:p>
          <a:p>
            <a:pPr marL="0" indent="0">
              <a:buNone/>
            </a:pPr>
            <a:r>
              <a:rPr lang="en-US" sz="2800" dirty="0"/>
              <a:t>INSERT INTO table1 (i,col1,col2)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VALUES </a:t>
            </a:r>
            <a:r>
              <a:rPr lang="en-US" sz="2800" dirty="0"/>
              <a:t>(3,'Third </a:t>
            </a:r>
            <a:r>
              <a:rPr lang="en-US" sz="2800" dirty="0" err="1"/>
              <a:t>row','Third</a:t>
            </a:r>
            <a:r>
              <a:rPr lang="en-US" sz="2800" dirty="0"/>
              <a:t> row');</a:t>
            </a:r>
          </a:p>
          <a:p>
            <a:pPr marL="0" indent="0">
              <a:buNone/>
            </a:pPr>
            <a:r>
              <a:rPr lang="en-US" sz="2800" dirty="0"/>
              <a:t>COMMIT TRAN;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781552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SET XACT_ABORT { ON | OFF </a:t>
            </a:r>
            <a:r>
              <a:rPr lang="ru-RU" dirty="0" smtClean="0"/>
              <a:t>}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  <a:p>
            <a:r>
              <a:rPr lang="ru-RU" sz="2400" dirty="0" smtClean="0"/>
              <a:t>Если </a:t>
            </a:r>
            <a:r>
              <a:rPr lang="ru-RU" sz="2400" dirty="0"/>
              <a:t>выполнена инструкция SET XACT_ABORT ON и инструкция языка </a:t>
            </a:r>
            <a:r>
              <a:rPr lang="ru-RU" sz="2400" dirty="0" err="1"/>
              <a:t>Transact</a:t>
            </a:r>
            <a:r>
              <a:rPr lang="ru-RU" sz="2400" dirty="0"/>
              <a:t>-SQL вызывает ошибку, вся транзакция завершается и выполняется ее откат.</a:t>
            </a:r>
          </a:p>
          <a:p>
            <a:r>
              <a:rPr lang="ru-RU" sz="2400" dirty="0"/>
              <a:t>Если выполнена инструкция SET XACT_ABORT OFF, в некоторых случаях выполняется откат только вызвавшей ошибку инструкции языка </a:t>
            </a:r>
            <a:r>
              <a:rPr lang="ru-RU" sz="2400" dirty="0" err="1"/>
              <a:t>Transact</a:t>
            </a:r>
            <a:r>
              <a:rPr lang="ru-RU" sz="2400" dirty="0"/>
              <a:t>-SQL, а обработка транзакции продолжается. В зависимости от серьезности ошибки возможен откат всей транзакции при выполненной инструкции SET XACT_ABORT OFF.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ru-RU" sz="2400" dirty="0" smtClean="0"/>
              <a:t>OFF </a:t>
            </a:r>
            <a:r>
              <a:rPr lang="ru-RU" sz="2400" dirty="0"/>
              <a:t>— установка по умолчанию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220750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XACT_STATE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Является </a:t>
            </a:r>
            <a:r>
              <a:rPr lang="ru-RU" dirty="0"/>
              <a:t>скалярной функцией, которая сообщает о состоянии пользовательской транзакции текущего выполняемого запроса. Функция XACT_STATE указывает, имеет ли запрос активную пользовательскую транзакцию и может ли она быть зафиксирована.</a:t>
            </a:r>
          </a:p>
          <a:p>
            <a:r>
              <a:rPr lang="en-US" dirty="0" smtClean="0"/>
              <a:t>SELECT </a:t>
            </a:r>
            <a:r>
              <a:rPr lang="en-US" dirty="0"/>
              <a:t>XACT_STATE()</a:t>
            </a:r>
          </a:p>
          <a:p>
            <a:r>
              <a:rPr lang="ru-RU" dirty="0"/>
              <a:t>Тип возвращаемых </a:t>
            </a:r>
            <a:r>
              <a:rPr lang="ru-RU" dirty="0" smtClean="0"/>
              <a:t>данных</a:t>
            </a:r>
            <a:r>
              <a:rPr lang="en-US" dirty="0" smtClean="0"/>
              <a:t> </a:t>
            </a:r>
            <a:r>
              <a:rPr lang="en-US" b="1" dirty="0" err="1" smtClean="0"/>
              <a:t>smallint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0991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XACT_STATE возвращаемые  </a:t>
            </a:r>
            <a:r>
              <a:rPr lang="ru-RU" dirty="0"/>
              <a:t>значения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585037"/>
              </p:ext>
            </p:extLst>
          </p:nvPr>
        </p:nvGraphicFramePr>
        <p:xfrm>
          <a:off x="683568" y="1844824"/>
          <a:ext cx="7344816" cy="44086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7316"/>
                <a:gridCol w="6737500"/>
              </a:tblGrid>
              <a:tr h="1482557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/>
                        <a:t>Текущий запрос содержит активную пользовательскую транзакцию. Запрос может выполнять любые действия, включая запись данных и фиксирование транзакции.</a:t>
                      </a:r>
                    </a:p>
                    <a:p>
                      <a:endParaRPr lang="ru-RU" sz="2000" dirty="0"/>
                    </a:p>
                  </a:txBody>
                  <a:tcPr/>
                </a:tc>
              </a:tr>
              <a:tr h="650253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0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/>
                        <a:t>У текущего запроса нет активной пользовательской транзакции.</a:t>
                      </a:r>
                    </a:p>
                  </a:txBody>
                  <a:tcPr/>
                </a:tc>
              </a:tr>
              <a:tr h="2043654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-1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/>
                        <a:t>В текущем запросе есть активная транзакция, однако произошла ошибка, из-за которой транзакция классифицируется как </a:t>
                      </a:r>
                      <a:r>
                        <a:rPr lang="ru-RU" sz="2000" dirty="0" err="1" smtClean="0"/>
                        <a:t>нефиксируемая</a:t>
                      </a:r>
                      <a:r>
                        <a:rPr lang="ru-RU" sz="2000" dirty="0" smtClean="0"/>
                        <a:t>. Запросу не удается зафиксировать транзакцию или выполнить откат до точки сохранения; можно только запросить полный откат транзакции. </a:t>
                      </a:r>
                      <a:endParaRPr lang="en-US" sz="2000" dirty="0" smtClean="0"/>
                    </a:p>
                    <a:p>
                      <a:endParaRPr lang="ru-RU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619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Обработка ошибок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BEGIN TRY</a:t>
            </a:r>
          </a:p>
          <a:p>
            <a:pPr marL="0" indent="0">
              <a:buNone/>
            </a:pPr>
            <a:r>
              <a:rPr lang="en-US" dirty="0"/>
              <a:t>     { </a:t>
            </a:r>
            <a:r>
              <a:rPr lang="en-US" dirty="0" err="1"/>
              <a:t>sql_statement</a:t>
            </a:r>
            <a:r>
              <a:rPr lang="en-US" dirty="0"/>
              <a:t> | </a:t>
            </a:r>
            <a:r>
              <a:rPr lang="en-US" dirty="0" err="1"/>
              <a:t>statement_block</a:t>
            </a:r>
            <a:r>
              <a:rPr lang="en-US" dirty="0"/>
              <a:t> }</a:t>
            </a:r>
          </a:p>
          <a:p>
            <a:pPr marL="0" indent="0">
              <a:buNone/>
            </a:pPr>
            <a:r>
              <a:rPr lang="en-US" dirty="0"/>
              <a:t>END TRY</a:t>
            </a:r>
          </a:p>
          <a:p>
            <a:pPr marL="0" indent="0">
              <a:buNone/>
            </a:pPr>
            <a:r>
              <a:rPr lang="en-US" dirty="0"/>
              <a:t>BEGIN CATCH</a:t>
            </a:r>
          </a:p>
          <a:p>
            <a:pPr marL="0" indent="0">
              <a:buNone/>
            </a:pPr>
            <a:r>
              <a:rPr lang="en-US" dirty="0"/>
              <a:t>     [ { </a:t>
            </a:r>
            <a:r>
              <a:rPr lang="en-US" dirty="0" err="1"/>
              <a:t>sql_statement</a:t>
            </a:r>
            <a:r>
              <a:rPr lang="en-US" dirty="0"/>
              <a:t> | </a:t>
            </a:r>
            <a:r>
              <a:rPr lang="en-US" dirty="0" err="1"/>
              <a:t>statement_block</a:t>
            </a:r>
            <a:r>
              <a:rPr lang="en-US" dirty="0"/>
              <a:t> } ]</a:t>
            </a:r>
          </a:p>
          <a:p>
            <a:pPr marL="0" indent="0">
              <a:buNone/>
            </a:pPr>
            <a:r>
              <a:rPr lang="en-US" dirty="0"/>
              <a:t>END CATCH</a:t>
            </a:r>
          </a:p>
          <a:p>
            <a:pPr marL="0" indent="0">
              <a:buNone/>
            </a:pPr>
            <a:r>
              <a:rPr lang="en-US" dirty="0"/>
              <a:t>[ ; ]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1202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Обработка ошибок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BEGIN TRY </a:t>
            </a:r>
          </a:p>
          <a:p>
            <a:pPr marL="0" indent="0">
              <a:buNone/>
            </a:pPr>
            <a:r>
              <a:rPr lang="en-US" dirty="0"/>
              <a:t> BEGIN TRAN</a:t>
            </a:r>
          </a:p>
          <a:p>
            <a:pPr marL="0" indent="0">
              <a:buNone/>
            </a:pPr>
            <a:r>
              <a:rPr lang="en-US" dirty="0"/>
              <a:t>  INSERT INTO table1 (i,col1,col2) VALUES (1,'First </a:t>
            </a:r>
            <a:r>
              <a:rPr lang="en-US" dirty="0" err="1"/>
              <a:t>row','First</a:t>
            </a:r>
            <a:r>
              <a:rPr lang="en-US" dirty="0"/>
              <a:t> row'); </a:t>
            </a:r>
          </a:p>
          <a:p>
            <a:pPr marL="0" indent="0">
              <a:buNone/>
            </a:pPr>
            <a:r>
              <a:rPr lang="en-US" dirty="0"/>
              <a:t>  INSERT INTO table1 (i,col1,col2) VALUES (2,NULL,'Second row'); </a:t>
            </a:r>
          </a:p>
          <a:p>
            <a:pPr marL="0" indent="0">
              <a:buNone/>
            </a:pPr>
            <a:r>
              <a:rPr lang="en-US" dirty="0"/>
              <a:t>  INSERT INTO table1 (i,col1,col2) VALUES (3,'Third </a:t>
            </a:r>
            <a:r>
              <a:rPr lang="en-US" dirty="0" err="1"/>
              <a:t>row','Third</a:t>
            </a:r>
            <a:r>
              <a:rPr lang="en-US" dirty="0"/>
              <a:t> row');</a:t>
            </a:r>
          </a:p>
          <a:p>
            <a:pPr marL="0" indent="0">
              <a:buNone/>
            </a:pPr>
            <a:r>
              <a:rPr lang="en-US" dirty="0"/>
              <a:t> COMMIT TRAN; </a:t>
            </a:r>
          </a:p>
          <a:p>
            <a:pPr marL="0" indent="0">
              <a:buNone/>
            </a:pPr>
            <a:r>
              <a:rPr lang="en-US" dirty="0"/>
              <a:t>END TRY </a:t>
            </a:r>
          </a:p>
          <a:p>
            <a:pPr marL="0" indent="0">
              <a:buNone/>
            </a:pPr>
            <a:r>
              <a:rPr lang="en-US" dirty="0"/>
              <a:t>BEGIN CATCH</a:t>
            </a:r>
          </a:p>
          <a:p>
            <a:pPr marL="0" indent="0">
              <a:buNone/>
            </a:pPr>
            <a:r>
              <a:rPr lang="en-US" dirty="0"/>
              <a:t> ROLLBACK TRAN </a:t>
            </a:r>
          </a:p>
          <a:p>
            <a:pPr marL="0" indent="0">
              <a:buNone/>
            </a:pPr>
            <a:r>
              <a:rPr lang="en-US" dirty="0"/>
              <a:t>END CATCH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@@error;</a:t>
            </a:r>
          </a:p>
        </p:txBody>
      </p:sp>
    </p:spTree>
    <p:extLst>
      <p:ext uri="{BB962C8B-B14F-4D97-AF65-F5344CB8AC3E}">
        <p14:creationId xmlns:p14="http://schemas.microsoft.com/office/powerpoint/2010/main" val="2618538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Тупики и бесконечные ожидания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LOCK_TIMEOUT 2000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en-US" dirty="0"/>
              <a:t>SET LOCK_TIMEOUT </a:t>
            </a:r>
            <a:r>
              <a:rPr lang="ru-RU" dirty="0" smtClean="0"/>
              <a:t>-1</a:t>
            </a:r>
            <a:r>
              <a:rPr lang="ru-RU" dirty="0"/>
              <a:t> </a:t>
            </a:r>
            <a:r>
              <a:rPr lang="ru-RU" dirty="0" smtClean="0"/>
              <a:t>– бесконечное ожидание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9071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Гранулярность блокировок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636052"/>
              </p:ext>
            </p:extLst>
          </p:nvPr>
        </p:nvGraphicFramePr>
        <p:xfrm>
          <a:off x="683568" y="1268760"/>
          <a:ext cx="7704856" cy="496855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99975"/>
                <a:gridCol w="5604881"/>
              </a:tblGrid>
              <a:tr h="345062">
                <a:tc>
                  <a:txBody>
                    <a:bodyPr/>
                    <a:lstStyle/>
                    <a:p>
                      <a:pPr>
                        <a:lnSpc>
                          <a:spcPts val="135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Ресурс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5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Описание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705439">
                <a:tc>
                  <a:txBody>
                    <a:bodyPr/>
                    <a:lstStyle/>
                    <a:p>
                      <a:pPr>
                        <a:lnSpc>
                          <a:spcPts val="135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RID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5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Идентификатор строки, используемый для блокировки одной строки в куче.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751235">
                <a:tc>
                  <a:txBody>
                    <a:bodyPr/>
                    <a:lstStyle/>
                    <a:p>
                      <a:pPr>
                        <a:lnSpc>
                          <a:spcPts val="135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KEY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5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Блокировка строки в индексе, используемая для защиты диапазонов значений ключа в сериализуемых транзакциях.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705439">
                <a:tc>
                  <a:txBody>
                    <a:bodyPr/>
                    <a:lstStyle/>
                    <a:p>
                      <a:pPr>
                        <a:lnSpc>
                          <a:spcPts val="135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PAGE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5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</a:rPr>
                        <a:t>Страница </a:t>
                      </a:r>
                      <a:r>
                        <a:rPr lang="ru-RU" sz="1800" dirty="0">
                          <a:effectLst/>
                        </a:rPr>
                        <a:t>в базе данных, например страница данных или индекса.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705439">
                <a:tc>
                  <a:txBody>
                    <a:bodyPr/>
                    <a:lstStyle/>
                    <a:p>
                      <a:pPr>
                        <a:lnSpc>
                          <a:spcPts val="135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EXTENT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5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Упорядоченная группа из восьми страниц, например страниц данных или индекса.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1065815">
                <a:tc>
                  <a:txBody>
                    <a:bodyPr/>
                    <a:lstStyle/>
                    <a:p>
                      <a:pPr>
                        <a:lnSpc>
                          <a:spcPts val="135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HoBT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5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Куча или сбалансированное дерево. Блокировка, защищающая сбалансированное дерево (индекс) или кучу страниц данных в таблице, не имеющей кластеризованного индекса.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45062">
                <a:tc>
                  <a:txBody>
                    <a:bodyPr/>
                    <a:lstStyle/>
                    <a:p>
                      <a:pPr>
                        <a:lnSpc>
                          <a:spcPts val="135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TABLE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5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Таблица полностью, включая все данные и индексы.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45062">
                <a:tc>
                  <a:txBody>
                    <a:bodyPr/>
                    <a:lstStyle/>
                    <a:p>
                      <a:pPr>
                        <a:lnSpc>
                          <a:spcPts val="135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DATABASE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35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База данных, полностью.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172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Уровни </a:t>
            </a:r>
            <a:r>
              <a:rPr lang="ru-RU" dirty="0" smtClean="0"/>
              <a:t>блокировок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 err="1" smtClean="0"/>
              <a:t>Table</a:t>
            </a:r>
            <a:r>
              <a:rPr lang="ru-RU" dirty="0" smtClean="0"/>
              <a:t> </a:t>
            </a:r>
            <a:r>
              <a:rPr lang="ru-RU" dirty="0"/>
              <a:t>(TAB): Это самая грубая логическая блокировка, которую может использовать SQL </a:t>
            </a:r>
            <a:r>
              <a:rPr lang="ru-RU" dirty="0" err="1"/>
              <a:t>Server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 err="1"/>
              <a:t>Extent</a:t>
            </a:r>
            <a:r>
              <a:rPr lang="ru-RU" dirty="0"/>
              <a:t> (EXT): Эти блокировки не используются для блокирования логических строк, а используются, когда SQL </a:t>
            </a:r>
            <a:r>
              <a:rPr lang="ru-RU" dirty="0" err="1"/>
              <a:t>Server</a:t>
            </a:r>
            <a:r>
              <a:rPr lang="ru-RU" dirty="0"/>
              <a:t> создает новые таблицы или расширяет существующие, также вы можете их видеть, когда файл увеличивается в размере.</a:t>
            </a:r>
          </a:p>
          <a:p>
            <a:endParaRPr lang="ru-RU" dirty="0"/>
          </a:p>
          <a:p>
            <a:r>
              <a:rPr lang="ru-RU" dirty="0" err="1"/>
              <a:t>Page</a:t>
            </a:r>
            <a:r>
              <a:rPr lang="ru-RU" dirty="0"/>
              <a:t> (PAG): Когда SQL </a:t>
            </a:r>
            <a:r>
              <a:rPr lang="ru-RU" dirty="0" err="1"/>
              <a:t>Server</a:t>
            </a:r>
            <a:r>
              <a:rPr lang="ru-RU" dirty="0"/>
              <a:t> требуется заблокировать одновременно множество строк, а свободные слоты блокировок заканчиваются, то он может использовать страничные блокировки. </a:t>
            </a:r>
            <a:endParaRPr lang="ru-RU" dirty="0" smtClean="0"/>
          </a:p>
          <a:p>
            <a:endParaRPr lang="ru-RU" dirty="0"/>
          </a:p>
          <a:p>
            <a:r>
              <a:rPr lang="ru-RU" dirty="0" err="1" smtClean="0"/>
              <a:t>Key</a:t>
            </a:r>
            <a:r>
              <a:rPr lang="ru-RU" dirty="0" smtClean="0"/>
              <a:t> </a:t>
            </a:r>
            <a:r>
              <a:rPr lang="ru-RU" dirty="0"/>
              <a:t>(KEY): Лучший уровень блокировки, возможный в SQL </a:t>
            </a:r>
            <a:r>
              <a:rPr lang="ru-RU" dirty="0" err="1"/>
              <a:t>Server</a:t>
            </a:r>
            <a:r>
              <a:rPr lang="ru-RU" dirty="0"/>
              <a:t>, вместе с RID блокировкой. KEY блокировки используются в индексах, а RID блокировки - в таблицах-кучах. </a:t>
            </a:r>
          </a:p>
        </p:txBody>
      </p:sp>
    </p:spTree>
    <p:extLst>
      <p:ext uri="{BB962C8B-B14F-4D97-AF65-F5344CB8AC3E}">
        <p14:creationId xmlns:p14="http://schemas.microsoft.com/office/powerpoint/2010/main" val="1740668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Уровни </a:t>
            </a:r>
            <a:r>
              <a:rPr lang="ru-RU" dirty="0" smtClean="0"/>
              <a:t>блокировок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Высокая </a:t>
            </a:r>
            <a:r>
              <a:rPr lang="ru-RU" dirty="0" err="1"/>
              <a:t>конкурентность</a:t>
            </a:r>
            <a:r>
              <a:rPr lang="ru-RU" dirty="0"/>
              <a:t> означает, что множество пользователей может работать одновременно. По возможности это достигается путем небольших блокировок, чтобы не блокировать без необходимости данные, нужные другим пользователям. </a:t>
            </a:r>
            <a:endParaRPr lang="ru-RU" dirty="0" smtClean="0"/>
          </a:p>
          <a:p>
            <a:r>
              <a:rPr lang="ru-RU" dirty="0"/>
              <a:t>С</a:t>
            </a:r>
            <a:r>
              <a:rPr lang="ru-RU" dirty="0" smtClean="0"/>
              <a:t> </a:t>
            </a:r>
            <a:r>
              <a:rPr lang="ru-RU" dirty="0"/>
              <a:t>другой стороны, высокая скорость может быть достигнута при помощи больших блокировок, что быстрее, чем накладывание множества маленьких блокировок</a:t>
            </a:r>
            <a:r>
              <a:rPr lang="ru-RU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2238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Иерархия </a:t>
            </a:r>
            <a:r>
              <a:rPr lang="ru-RU" dirty="0"/>
              <a:t>объектов</a:t>
            </a:r>
          </a:p>
        </p:txBody>
      </p:sp>
      <p:pic>
        <p:nvPicPr>
          <p:cNvPr id="1026" name="Picture 2" descr="http://www.rsdn.ru/article/db/LockEscalation/objects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309" y="1556792"/>
            <a:ext cx="7880555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992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Эскалация </a:t>
            </a:r>
            <a:r>
              <a:rPr lang="ru-RU" dirty="0" smtClean="0"/>
              <a:t>блокировок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Эскалация блокировок – это процесс, при котором множество блокировок с маленькой гранулярностью, конвертируются в одну блокировку на более высоком уровне иерархии с большей гранулярностью.</a:t>
            </a:r>
          </a:p>
        </p:txBody>
      </p:sp>
    </p:spTree>
    <p:extLst>
      <p:ext uri="{BB962C8B-B14F-4D97-AF65-F5344CB8AC3E}">
        <p14:creationId xmlns:p14="http://schemas.microsoft.com/office/powerpoint/2010/main" val="548206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Проблемы маленьких блокировок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63690"/>
          </a:xfrm>
        </p:spPr>
        <p:txBody>
          <a:bodyPr>
            <a:normAutofit fontScale="85000" lnSpcReduction="10000"/>
          </a:bodyPr>
          <a:lstStyle/>
          <a:p>
            <a:r>
              <a:rPr lang="ru-RU" b="1" dirty="0" err="1"/>
              <a:t>Locking</a:t>
            </a:r>
            <a:r>
              <a:rPr lang="ru-RU" b="1" dirty="0"/>
              <a:t> </a:t>
            </a:r>
            <a:r>
              <a:rPr lang="ru-RU" b="1" dirty="0" err="1"/>
              <a:t>overhead</a:t>
            </a:r>
            <a:r>
              <a:rPr lang="ru-RU" dirty="0"/>
              <a:t>. </a:t>
            </a:r>
            <a:r>
              <a:rPr lang="ru-RU" dirty="0" smtClean="0"/>
              <a:t>иногда </a:t>
            </a:r>
            <a:r>
              <a:rPr lang="ru-RU" dirty="0"/>
              <a:t>выгоднее наложить одну блокировку с большей гранулярностью, чем несколько (или несколько тысяч) более </a:t>
            </a:r>
            <a:r>
              <a:rPr lang="ru-RU" dirty="0" smtClean="0"/>
              <a:t>мелких.</a:t>
            </a:r>
            <a:endParaRPr lang="ru-RU" dirty="0"/>
          </a:p>
          <a:p>
            <a:r>
              <a:rPr lang="ru-RU" b="1" dirty="0" err="1"/>
              <a:t>Data</a:t>
            </a:r>
            <a:r>
              <a:rPr lang="ru-RU" b="1" dirty="0"/>
              <a:t> </a:t>
            </a:r>
            <a:r>
              <a:rPr lang="ru-RU" b="1" dirty="0" err="1"/>
              <a:t>contention</a:t>
            </a:r>
            <a:r>
              <a:rPr lang="ru-RU" dirty="0"/>
              <a:t>. Наложение одной блокировки - действие атомарное, </a:t>
            </a:r>
            <a:r>
              <a:rPr lang="ru-RU" dirty="0" smtClean="0"/>
              <a:t>а </a:t>
            </a:r>
            <a:r>
              <a:rPr lang="ru-RU" dirty="0"/>
              <a:t>наложение нескольких блокировок уже таковым не является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b="1" dirty="0" err="1"/>
              <a:t>Resource</a:t>
            </a:r>
            <a:r>
              <a:rPr lang="ru-RU" b="1" dirty="0"/>
              <a:t> </a:t>
            </a:r>
            <a:r>
              <a:rPr lang="ru-RU" b="1" dirty="0" err="1"/>
              <a:t>contention</a:t>
            </a:r>
            <a:r>
              <a:rPr lang="ru-RU" dirty="0"/>
              <a:t>. </a:t>
            </a:r>
            <a:r>
              <a:rPr lang="ru-RU" dirty="0" smtClean="0"/>
              <a:t>Блокировки </a:t>
            </a:r>
            <a:r>
              <a:rPr lang="ru-RU" dirty="0"/>
              <a:t>занимают </a:t>
            </a:r>
            <a:r>
              <a:rPr lang="ru-RU" dirty="0" smtClean="0"/>
              <a:t>место + </a:t>
            </a:r>
            <a:r>
              <a:rPr lang="ru-RU" dirty="0"/>
              <a:t>нуждаются так же и в некотором обслуживании, которое расходует системные </a:t>
            </a:r>
            <a:r>
              <a:rPr lang="ru-RU" dirty="0" smtClean="0"/>
              <a:t>ресурсы (проверка на тупики). + </a:t>
            </a:r>
            <a:r>
              <a:rPr lang="ru-RU" dirty="0"/>
              <a:t>предел количества транзакций, которые могут выполняться в системе одновременно без ущерба для производительности</a:t>
            </a:r>
            <a:r>
              <a:rPr lang="ru-RU" dirty="0" smtClean="0"/>
              <a:t>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7444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Подсказки оптимизатору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По </a:t>
            </a:r>
            <a:r>
              <a:rPr lang="ru-RU" dirty="0" smtClean="0"/>
              <a:t>умолчанию сервер </a:t>
            </a:r>
            <a:r>
              <a:rPr lang="ru-RU" dirty="0"/>
              <a:t>старается наложить блокировку </a:t>
            </a:r>
            <a:r>
              <a:rPr lang="en-US" dirty="0" smtClean="0"/>
              <a:t>min </a:t>
            </a:r>
            <a:r>
              <a:rPr lang="ru-RU" dirty="0" smtClean="0"/>
              <a:t>гранулярности. Если </a:t>
            </a:r>
            <a:r>
              <a:rPr lang="ru-RU" dirty="0"/>
              <a:t>сервер посчитает, что блокировать на уровне отдельной записи не самое оптимальное решение, то он заблокирует больший объем. </a:t>
            </a:r>
            <a:endParaRPr lang="ru-RU" dirty="0" smtClean="0"/>
          </a:p>
          <a:p>
            <a:r>
              <a:rPr lang="ru-RU" dirty="0" smtClean="0"/>
              <a:t>Можно </a:t>
            </a:r>
            <a:r>
              <a:rPr lang="ru-RU" dirty="0"/>
              <a:t>указать явно, с какой гранулярностью блокировать, с помощью специальных подсказок оптимизатору (</a:t>
            </a:r>
            <a:r>
              <a:rPr lang="ru-RU" dirty="0" err="1"/>
              <a:t>hints</a:t>
            </a:r>
            <a:r>
              <a:rPr lang="ru-RU" dirty="0" smtClean="0"/>
              <a:t>) (в сторону увеличения!).</a:t>
            </a:r>
            <a:endParaRPr lang="ru-RU" dirty="0"/>
          </a:p>
          <a:p>
            <a:r>
              <a:rPr lang="ru-RU" dirty="0"/>
              <a:t>ROWLOCK – блокировка на уровне записи.</a:t>
            </a:r>
          </a:p>
          <a:p>
            <a:r>
              <a:rPr lang="ru-RU" dirty="0"/>
              <a:t>PGLOCK - блокировка на уровне страницы данных.</a:t>
            </a:r>
          </a:p>
          <a:p>
            <a:r>
              <a:rPr lang="ru-RU" dirty="0"/>
              <a:t>TABLOCK – блокировка на уровне таблицы.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381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Восстановление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Индивидуальный откат транзакции. </a:t>
            </a:r>
            <a:endParaRPr lang="ru-RU" dirty="0" smtClean="0"/>
          </a:p>
          <a:p>
            <a:r>
              <a:rPr lang="ru-RU" dirty="0" smtClean="0"/>
              <a:t>Восстановление </a:t>
            </a:r>
            <a:r>
              <a:rPr lang="ru-RU" dirty="0"/>
              <a:t>после внезапной потери содержимого оперативной </a:t>
            </a:r>
            <a:r>
              <a:rPr lang="ru-RU" dirty="0" smtClean="0"/>
              <a:t>памяти. </a:t>
            </a:r>
            <a:endParaRPr lang="ru-RU" dirty="0"/>
          </a:p>
          <a:p>
            <a:r>
              <a:rPr lang="ru-RU" dirty="0"/>
              <a:t>Восстановление после поломки основного внешнего носителя базы </a:t>
            </a:r>
            <a:r>
              <a:rPr lang="ru-RU" dirty="0" smtClean="0"/>
              <a:t>данных.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006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Отказы приложений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032448"/>
          </a:xfrm>
        </p:spPr>
        <p:txBody>
          <a:bodyPr>
            <a:normAutofit/>
          </a:bodyPr>
          <a:lstStyle/>
          <a:p>
            <a:r>
              <a:rPr lang="ru-RU" dirty="0" smtClean="0"/>
              <a:t>завершение оператором ROLLBACK; </a:t>
            </a:r>
          </a:p>
          <a:p>
            <a:r>
              <a:rPr lang="ru-RU" dirty="0" smtClean="0"/>
              <a:t>аварийное завершение работы прикладной программы; </a:t>
            </a:r>
          </a:p>
          <a:p>
            <a:r>
              <a:rPr lang="ru-RU" dirty="0" smtClean="0"/>
              <a:t>принудительный откат транзакции в случае взаимной блокировки при параллельном выполнении транзакций.</a:t>
            </a:r>
          </a:p>
        </p:txBody>
      </p:sp>
    </p:spTree>
    <p:extLst>
      <p:ext uri="{BB962C8B-B14F-4D97-AF65-F5344CB8AC3E}">
        <p14:creationId xmlns:p14="http://schemas.microsoft.com/office/powerpoint/2010/main" val="107250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Технические проблемы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240054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Мягкий сбой </a:t>
            </a:r>
          </a:p>
          <a:p>
            <a:pPr lvl="1"/>
            <a:r>
              <a:rPr lang="ru-RU" dirty="0" smtClean="0"/>
              <a:t>при аварийном выключении электрического питания; </a:t>
            </a:r>
          </a:p>
          <a:p>
            <a:pPr lvl="1"/>
            <a:r>
              <a:rPr lang="ru-RU" dirty="0" smtClean="0"/>
              <a:t>при возникновении неустранимого сбоя процессора и т. д. Потеря той части базы данных, которая к моменту сбоя содержалась в буферах оперативной памяти. </a:t>
            </a:r>
          </a:p>
          <a:p>
            <a:r>
              <a:rPr lang="ru-RU" dirty="0" smtClean="0"/>
              <a:t>Жесткий сбой</a:t>
            </a:r>
          </a:p>
          <a:p>
            <a:pPr lvl="1"/>
            <a:r>
              <a:rPr lang="ru-RU" dirty="0" smtClean="0"/>
              <a:t>Восстановление после поломки основного внешнего носителя базы данных. Основой восстановления является архивная копия и журнал изменений базы данных.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253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Возобновление при отказах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Отказы приложений/транзакции: транзакции обрываются</a:t>
            </a:r>
          </a:p>
          <a:p>
            <a:r>
              <a:rPr lang="ru-RU" dirty="0" smtClean="0"/>
              <a:t>Отказы системы: функционирование возобновляется после рестарта и восстановления согласованности БД</a:t>
            </a:r>
          </a:p>
          <a:p>
            <a:r>
              <a:rPr lang="ru-RU" dirty="0" smtClean="0"/>
              <a:t>Разрушение носителя: рестарт, восстановление с резервной копии, восстановление согласованности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530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Восстановление оборванных транзакций: откат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Обрывы транзакций могут быть вызваны ошибками при выполнении приложений или невозможностью выполнить транзакцию </a:t>
            </a:r>
            <a:r>
              <a:rPr lang="ru-RU" dirty="0" err="1" smtClean="0"/>
              <a:t>сериализуемым</a:t>
            </a:r>
            <a:r>
              <a:rPr lang="ru-RU" dirty="0" smtClean="0"/>
              <a:t> образом</a:t>
            </a:r>
          </a:p>
          <a:p>
            <a:r>
              <a:rPr lang="ru-RU" dirty="0" smtClean="0"/>
              <a:t>Операции обрыва можно заменить на выполнение отката для всех операций записи, включаемых в расписание в обратном порядке с последующей фиксацией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3722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Восстановимость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err="1" smtClean="0"/>
              <a:t>Восстановимость</a:t>
            </a:r>
            <a:r>
              <a:rPr lang="ru-RU" dirty="0" smtClean="0"/>
              <a:t> расписаний: транзакции должны фиксироваться до того, как их результаты используются другими транзакциями</a:t>
            </a:r>
          </a:p>
          <a:p>
            <a:r>
              <a:rPr lang="ru-RU" dirty="0" smtClean="0"/>
              <a:t>Пример невосстановимого расписания</a:t>
            </a:r>
          </a:p>
          <a:p>
            <a:pPr lvl="1"/>
            <a:r>
              <a:rPr lang="en-US" dirty="0" smtClean="0"/>
              <a:t>w</a:t>
            </a:r>
            <a:r>
              <a:rPr lang="en-US" baseline="-25000" dirty="0" smtClean="0"/>
              <a:t>1</a:t>
            </a:r>
            <a:r>
              <a:rPr lang="en-US" dirty="0" smtClean="0"/>
              <a:t>(x) w</a:t>
            </a:r>
            <a:r>
              <a:rPr lang="en-US" baseline="-25000" dirty="0" smtClean="0"/>
              <a:t>2</a:t>
            </a:r>
            <a:r>
              <a:rPr lang="en-US" dirty="0" smtClean="0"/>
              <a:t>(x) c</a:t>
            </a:r>
            <a:r>
              <a:rPr lang="en-US" baseline="-25000" dirty="0" smtClean="0"/>
              <a:t>2</a:t>
            </a:r>
            <a:r>
              <a:rPr lang="en-US" dirty="0" smtClean="0"/>
              <a:t> a</a:t>
            </a:r>
            <a:r>
              <a:rPr lang="en-US" baseline="-25000" dirty="0" smtClean="0"/>
              <a:t>1</a:t>
            </a:r>
          </a:p>
          <a:p>
            <a:r>
              <a:rPr lang="ru-RU" dirty="0" smtClean="0"/>
              <a:t>S2L (Двухфазный протокол с удержанием замков на запись до конца транзакции) гарантирует </a:t>
            </a:r>
            <a:r>
              <a:rPr lang="ru-RU" dirty="0" err="1" smtClean="0"/>
              <a:t>восстановимость</a:t>
            </a: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123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Отка</a:t>
            </a:r>
            <a:r>
              <a:rPr lang="ru-RU" dirty="0"/>
              <a:t>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По команде </a:t>
            </a:r>
            <a:r>
              <a:rPr lang="ru-RU" dirty="0" err="1"/>
              <a:t>rollback</a:t>
            </a:r>
            <a:r>
              <a:rPr lang="ru-RU" dirty="0"/>
              <a:t> система откатит транзакцию на начало (на неявную точку </a:t>
            </a:r>
            <a:r>
              <a:rPr lang="ru-RU" dirty="0" smtClean="0"/>
              <a:t>отката)</a:t>
            </a:r>
          </a:p>
          <a:p>
            <a:r>
              <a:rPr lang="ru-RU" dirty="0" smtClean="0"/>
              <a:t>По </a:t>
            </a:r>
            <a:r>
              <a:rPr lang="ru-RU" dirty="0"/>
              <a:t>команде </a:t>
            </a:r>
            <a:r>
              <a:rPr lang="ru-RU" dirty="0" err="1"/>
              <a:t>commit</a:t>
            </a:r>
            <a:r>
              <a:rPr lang="ru-RU" dirty="0"/>
              <a:t> – зафиксирует всё до неявной точки фиксации, которая соответствует последней завершённой команде в </a:t>
            </a:r>
            <a:r>
              <a:rPr lang="ru-RU" dirty="0" smtClean="0"/>
              <a:t>транзакции</a:t>
            </a:r>
            <a:r>
              <a:rPr lang="ru-RU" dirty="0"/>
              <a:t>. Если в транзакции из нескольких команд во время выполнения очередной команды возникнет ошибка, то система откатит только эту ошибочную команду, т.е. отменит её результаты и сохранит прежнюю неявную точку фиксации.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377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Оптимистический и пессимистический подходы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Для </a:t>
            </a:r>
            <a:r>
              <a:rPr lang="ru-RU" dirty="0"/>
              <a:t>обеспечения целостности транзакции СУБД может откладывать </a:t>
            </a:r>
            <a:r>
              <a:rPr lang="ru-RU" dirty="0" smtClean="0"/>
              <a:t>запись </a:t>
            </a:r>
            <a:r>
              <a:rPr lang="ru-RU" dirty="0"/>
              <a:t>изменений в БД до момента успешного выполнения всех операций, </a:t>
            </a:r>
            <a:r>
              <a:rPr lang="ru-RU" dirty="0" smtClean="0"/>
              <a:t>входящих </a:t>
            </a:r>
            <a:r>
              <a:rPr lang="ru-RU" dirty="0"/>
              <a:t>в транзакцию, и получения команды подтверждения транзакции (</a:t>
            </a:r>
            <a:r>
              <a:rPr lang="ru-RU" dirty="0" err="1"/>
              <a:t>commit</a:t>
            </a:r>
            <a:r>
              <a:rPr lang="ru-RU" dirty="0"/>
              <a:t>). </a:t>
            </a:r>
            <a:endParaRPr lang="ru-RU" dirty="0" smtClean="0"/>
          </a:p>
          <a:p>
            <a:r>
              <a:rPr lang="ru-RU" dirty="0" smtClean="0"/>
              <a:t>Иногда используется </a:t>
            </a:r>
            <a:r>
              <a:rPr lang="ru-RU" dirty="0"/>
              <a:t>другой подход: система записывает изменения в БД, не дожидаясь завершения транзакции, а старые значения данных сохраняет на время выполнения транзакции в сегментах отката.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975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Сегмент отката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(</a:t>
            </a:r>
            <a:r>
              <a:rPr lang="ru-RU" dirty="0" err="1"/>
              <a:t>rollback</a:t>
            </a:r>
            <a:r>
              <a:rPr lang="ru-RU" dirty="0"/>
              <a:t> </a:t>
            </a:r>
            <a:r>
              <a:rPr lang="ru-RU" dirty="0" err="1"/>
              <a:t>segment</a:t>
            </a:r>
            <a:r>
              <a:rPr lang="ru-RU" dirty="0"/>
              <a:t>, RBS)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Сегмент отката – </a:t>
            </a:r>
            <a:r>
              <a:rPr lang="ru-RU" dirty="0"/>
              <a:t>это специальная область памяти на диске, в которую записывается информация обо всех текущих </a:t>
            </a:r>
            <a:r>
              <a:rPr lang="ru-RU" dirty="0" smtClean="0"/>
              <a:t>изменениях</a:t>
            </a:r>
            <a:r>
              <a:rPr lang="ru-RU" dirty="0"/>
              <a:t>. Обычно записывается "старое" и "новое" содержимое изменённых записей, чтобы можно было восстановить прежнее состояние БД при откате транзакции (по команде </a:t>
            </a:r>
            <a:r>
              <a:rPr lang="ru-RU" dirty="0" err="1"/>
              <a:t>rollback</a:t>
            </a:r>
            <a:r>
              <a:rPr lang="ru-RU" dirty="0"/>
              <a:t>) или при откате текущей операции (в случае возникновения ошибки). </a:t>
            </a:r>
            <a:endParaRPr lang="ru-RU" dirty="0" smtClean="0"/>
          </a:p>
          <a:p>
            <a:r>
              <a:rPr lang="ru-RU" dirty="0" smtClean="0"/>
              <a:t>Данные </a:t>
            </a:r>
            <a:r>
              <a:rPr lang="ru-RU" dirty="0"/>
              <a:t>в RBS хранятся до тех пор, пока транзакция, изменяющая эти данные, не будет завершена. Потом они могут быть перезаписаны данными более поздних транзакций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082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</a:t>
            </a:r>
            <a:r>
              <a:rPr lang="ru-RU" dirty="0" err="1" smtClean="0"/>
              <a:t>avepoint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err="1" smtClean="0"/>
              <a:t>savepoint</a:t>
            </a:r>
            <a:r>
              <a:rPr lang="ru-RU" dirty="0" smtClean="0"/>
              <a:t> </a:t>
            </a:r>
            <a:r>
              <a:rPr lang="ru-RU" dirty="0"/>
              <a:t>запоминает промежуточную "текущую копию" состояния базы данных для того, чтобы при необходимости можно было вернуться к состоянию БД в точке сохранения: откатить работу от текущего момента до точки сохранения (</a:t>
            </a:r>
            <a:r>
              <a:rPr lang="ru-RU" dirty="0" err="1"/>
              <a:t>rollback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&lt;</a:t>
            </a:r>
            <a:r>
              <a:rPr lang="ru-RU" dirty="0" err="1"/>
              <a:t>имя_точки</a:t>
            </a:r>
            <a:r>
              <a:rPr lang="ru-RU" dirty="0"/>
              <a:t>&gt;) или зафиксировать работу от начала транзакции до точки сохранения (</a:t>
            </a:r>
            <a:r>
              <a:rPr lang="ru-RU" dirty="0" err="1"/>
              <a:t>commit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&lt;</a:t>
            </a:r>
            <a:r>
              <a:rPr lang="ru-RU" dirty="0" err="1"/>
              <a:t>имя_точки</a:t>
            </a:r>
            <a:r>
              <a:rPr lang="ru-RU" dirty="0"/>
              <a:t>&gt;). </a:t>
            </a:r>
            <a:endParaRPr lang="en-US" dirty="0" smtClean="0"/>
          </a:p>
          <a:p>
            <a:r>
              <a:rPr lang="ru-RU" dirty="0" smtClean="0"/>
              <a:t>На </a:t>
            </a:r>
            <a:r>
              <a:rPr lang="ru-RU" dirty="0"/>
              <a:t>одну транзакцию может быть несколько точек сохранения (ограничение на их количество зависит от СУБД</a:t>
            </a:r>
            <a:r>
              <a:rPr lang="ru-RU" dirty="0" smtClean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4536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Журнал транзакций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smtClean="0"/>
              <a:t>Журнал </a:t>
            </a:r>
            <a:r>
              <a:rPr lang="ru-RU" dirty="0"/>
              <a:t>транзакций – это часть БД, в которую поступают данные обо всех изменениях всех объектов БД. Журнал недоступен пользователям СУБД и поддерживается особо </a:t>
            </a:r>
            <a:r>
              <a:rPr lang="ru-RU" dirty="0" smtClean="0"/>
              <a:t>тщательно. Форма </a:t>
            </a:r>
            <a:r>
              <a:rPr lang="ru-RU" dirty="0"/>
              <a:t>записи в журнал изменений зависит от СУБД. Но обычно там </a:t>
            </a:r>
            <a:r>
              <a:rPr lang="ru-RU" dirty="0" smtClean="0"/>
              <a:t>фиксируется:</a:t>
            </a:r>
            <a:endParaRPr lang="ru-RU" dirty="0"/>
          </a:p>
          <a:p>
            <a:pPr lvl="1"/>
            <a:r>
              <a:rPr lang="ru-RU" dirty="0" smtClean="0"/>
              <a:t>номер </a:t>
            </a:r>
            <a:r>
              <a:rPr lang="ru-RU" dirty="0"/>
              <a:t>транзакции (номера присваиваются автоматически по </a:t>
            </a:r>
            <a:r>
              <a:rPr lang="ru-RU" dirty="0" smtClean="0"/>
              <a:t>возрастанию</a:t>
            </a:r>
            <a:r>
              <a:rPr lang="ru-RU" dirty="0"/>
              <a:t>);</a:t>
            </a:r>
          </a:p>
          <a:p>
            <a:pPr lvl="1"/>
            <a:r>
              <a:rPr lang="ru-RU" dirty="0" smtClean="0"/>
              <a:t>состояние </a:t>
            </a:r>
            <a:r>
              <a:rPr lang="ru-RU" dirty="0"/>
              <a:t>транзакции (завершена фиксацией или откатом, не завершена, находится в состоянии ожидания);</a:t>
            </a:r>
          </a:p>
          <a:p>
            <a:pPr lvl="1"/>
            <a:r>
              <a:rPr lang="ru-RU" dirty="0" smtClean="0"/>
              <a:t>точки </a:t>
            </a:r>
            <a:r>
              <a:rPr lang="ru-RU" dirty="0"/>
              <a:t>сохранения (явные и неявные);</a:t>
            </a:r>
          </a:p>
          <a:p>
            <a:pPr lvl="1"/>
            <a:r>
              <a:rPr lang="ru-RU" dirty="0" smtClean="0"/>
              <a:t>команды</a:t>
            </a:r>
            <a:r>
              <a:rPr lang="ru-RU" dirty="0"/>
              <a:t>, составляющие транзакцию, и проч.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2901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Ведение журнала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Журнал ведется последовательно</a:t>
            </a:r>
          </a:p>
          <a:p>
            <a:r>
              <a:rPr lang="ru-RU" dirty="0" smtClean="0"/>
              <a:t>Опер</a:t>
            </a:r>
            <a:r>
              <a:rPr lang="ru-RU" dirty="0"/>
              <a:t>е</a:t>
            </a:r>
            <a:r>
              <a:rPr lang="ru-RU" dirty="0" smtClean="0"/>
              <a:t>жающая запись в журнал (WAL, </a:t>
            </a:r>
            <a:r>
              <a:rPr lang="ru-RU" dirty="0" err="1" smtClean="0"/>
              <a:t>write-ahead</a:t>
            </a:r>
            <a:r>
              <a:rPr lang="ru-RU" dirty="0" smtClean="0"/>
              <a:t> </a:t>
            </a:r>
            <a:r>
              <a:rPr lang="ru-RU" dirty="0" err="1" smtClean="0"/>
              <a:t>log</a:t>
            </a:r>
            <a:r>
              <a:rPr lang="ru-RU" dirty="0" smtClean="0"/>
              <a:t>)</a:t>
            </a:r>
          </a:p>
          <a:p>
            <a:r>
              <a:rPr lang="ru-RU" dirty="0" smtClean="0"/>
              <a:t>Регистрируются операции записи, начала и конца транзакций</a:t>
            </a:r>
          </a:p>
          <a:p>
            <a:r>
              <a:rPr lang="ru-RU" dirty="0" smtClean="0"/>
              <a:t>Каждая запись содержит данные отката (</a:t>
            </a:r>
            <a:r>
              <a:rPr lang="ru-RU" dirty="0" err="1" smtClean="0"/>
              <a:t>undo</a:t>
            </a:r>
            <a:r>
              <a:rPr lang="ru-RU" dirty="0" smtClean="0"/>
              <a:t>)и «наката» (</a:t>
            </a:r>
            <a:r>
              <a:rPr lang="ru-RU" dirty="0" err="1" smtClean="0"/>
              <a:t>redo</a:t>
            </a:r>
            <a:r>
              <a:rPr lang="ru-RU" dirty="0" smtClean="0"/>
              <a:t>)</a:t>
            </a:r>
          </a:p>
          <a:p>
            <a:r>
              <a:rPr lang="ru-RU" dirty="0" smtClean="0"/>
              <a:t>При фиксации запись журнала обязательно «выталкивается» на диск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4525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Фиксация </a:t>
            </a:r>
            <a:r>
              <a:rPr lang="ru-RU" dirty="0"/>
              <a:t>транзакции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Изменения</a:t>
            </a:r>
            <a:r>
              <a:rPr lang="ru-RU" dirty="0"/>
              <a:t>, внесённые транзакцией, помечаются как постоянные.</a:t>
            </a:r>
          </a:p>
          <a:p>
            <a:r>
              <a:rPr lang="ru-RU" dirty="0" smtClean="0"/>
              <a:t>Уничтожаются </a:t>
            </a:r>
            <a:r>
              <a:rPr lang="ru-RU" dirty="0"/>
              <a:t>все точки сохранения для данной транзакции.</a:t>
            </a:r>
          </a:p>
          <a:p>
            <a:r>
              <a:rPr lang="ru-RU" dirty="0" smtClean="0"/>
              <a:t>Если </a:t>
            </a:r>
            <a:r>
              <a:rPr lang="ru-RU" dirty="0"/>
              <a:t>выполнение транзакций осуществляется с помощью блокировок, то освобождаются объекты, заблокированные </a:t>
            </a:r>
            <a:r>
              <a:rPr lang="ru-RU" dirty="0" smtClean="0"/>
              <a:t>транзакцией.</a:t>
            </a:r>
            <a:endParaRPr lang="ru-RU" dirty="0"/>
          </a:p>
          <a:p>
            <a:r>
              <a:rPr lang="ru-RU" dirty="0" smtClean="0"/>
              <a:t>В </a:t>
            </a:r>
            <a:r>
              <a:rPr lang="ru-RU" dirty="0"/>
              <a:t>журнале транзакций транзакция помечается как завершенная, уничтожаются системные записи о транзакции в оперативной памяти.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2785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Восстановление </a:t>
            </a:r>
            <a:br>
              <a:rPr lang="ru-RU" dirty="0" smtClean="0"/>
            </a:br>
            <a:r>
              <a:rPr lang="ru-RU" dirty="0" smtClean="0"/>
              <a:t>после системных отказов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Необходим рестарт сервера БД</a:t>
            </a:r>
          </a:p>
          <a:p>
            <a:r>
              <a:rPr lang="ru-RU" dirty="0" smtClean="0"/>
              <a:t>Для того, чтобы восстановление было возможным, необходимо вести журнал обновлений</a:t>
            </a:r>
          </a:p>
          <a:p>
            <a:r>
              <a:rPr lang="ru-RU" dirty="0" smtClean="0"/>
              <a:t>При нормальной работе БД все изменения записываются в журнал</a:t>
            </a:r>
          </a:p>
          <a:p>
            <a:r>
              <a:rPr lang="ru-RU" dirty="0" smtClean="0"/>
              <a:t>При рестарте журнал используется для повторения операций и для отката незавершенных транзакций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2159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Общие принципы восстановления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результаты зафиксированных транзакций должны быть сохранены в восстановленном состоянии базы данных; </a:t>
            </a:r>
          </a:p>
          <a:p>
            <a:r>
              <a:rPr lang="ru-RU" dirty="0" smtClean="0"/>
              <a:t>результаты незафиксированных транзакций должны отсутствовать в восстановленном состоянии базы данных.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9161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Что нужно сделать при восстановлении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Определить, какие транзакции были зафиксированы до отказа и какие были активными (не завершены)</a:t>
            </a:r>
          </a:p>
          <a:p>
            <a:r>
              <a:rPr lang="ru-RU" dirty="0" smtClean="0"/>
              <a:t>Если необходимо, повторить изменения зафиксированных транзакций</a:t>
            </a:r>
          </a:p>
          <a:p>
            <a:r>
              <a:rPr lang="ru-RU" dirty="0" smtClean="0"/>
              <a:t>Оборвать незавершенные до отказа транзакции (выполнить откат)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4106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Журнал транзакций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сохранение промежуточных состояний, </a:t>
            </a:r>
          </a:p>
          <a:p>
            <a:r>
              <a:rPr lang="ru-RU" dirty="0" smtClean="0"/>
              <a:t>подтверждение транзакции,</a:t>
            </a:r>
          </a:p>
          <a:p>
            <a:r>
              <a:rPr lang="ru-RU" dirty="0" smtClean="0"/>
              <a:t>отката транзакции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011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Журнал транзакций </a:t>
            </a:r>
            <a:r>
              <a:rPr lang="ru-RU" dirty="0" smtClean="0"/>
              <a:t>поддерживает: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восстановление </a:t>
            </a:r>
            <a:r>
              <a:rPr lang="ru-RU" dirty="0"/>
              <a:t>отдельных транзакций;</a:t>
            </a:r>
          </a:p>
          <a:p>
            <a:r>
              <a:rPr lang="ru-RU" dirty="0"/>
              <a:t>восстановление всех незавершенных транзакций при запуске SQL </a:t>
            </a:r>
            <a:r>
              <a:rPr lang="ru-RU" dirty="0" err="1"/>
              <a:t>Server</a:t>
            </a:r>
            <a:r>
              <a:rPr lang="ru-RU" dirty="0"/>
              <a:t>;</a:t>
            </a:r>
          </a:p>
          <a:p>
            <a:r>
              <a:rPr lang="ru-RU" dirty="0"/>
              <a:t>откат восстановленной базы данных, файла, файловой группы или страницы до момента сбоя.</a:t>
            </a:r>
          </a:p>
          <a:p>
            <a:r>
              <a:rPr lang="ru-RU" dirty="0"/>
              <a:t>поддержка репликации транзакций;</a:t>
            </a:r>
          </a:p>
          <a:p>
            <a:r>
              <a:rPr lang="ru-RU" dirty="0"/>
              <a:t>поддержка решений высокого уровня доступности и аварийного восстановления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346416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Алгоритм восстановления при рестарте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Фаза просмотра: найти все зафиксированные и активные транзакции (прямой просмотр журнала)</a:t>
            </a:r>
          </a:p>
          <a:p>
            <a:r>
              <a:rPr lang="ru-RU" dirty="0" smtClean="0"/>
              <a:t>Фаза наката (</a:t>
            </a:r>
            <a:r>
              <a:rPr lang="ru-RU" dirty="0" err="1" smtClean="0"/>
              <a:t>redo</a:t>
            </a:r>
            <a:r>
              <a:rPr lang="ru-RU" dirty="0" smtClean="0"/>
              <a:t>): при прямом просмотре, выполнить все операции зафиксированных транзакций</a:t>
            </a:r>
          </a:p>
          <a:p>
            <a:r>
              <a:rPr lang="ru-RU" dirty="0" smtClean="0"/>
              <a:t>Фаза отката (</a:t>
            </a:r>
            <a:r>
              <a:rPr lang="ru-RU" dirty="0" err="1" smtClean="0"/>
              <a:t>undo</a:t>
            </a:r>
            <a:r>
              <a:rPr lang="ru-RU" dirty="0" smtClean="0"/>
              <a:t>): обратный просмотр журнала, откат всех операций незавершенных транзакций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4413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Завершение восстановления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После завершения фазы отката необходимо</a:t>
            </a:r>
          </a:p>
          <a:p>
            <a:pPr lvl="1"/>
            <a:r>
              <a:rPr lang="ru-RU" dirty="0" smtClean="0"/>
              <a:t>Записать на диск все измененные блоки БД</a:t>
            </a:r>
          </a:p>
          <a:p>
            <a:pPr lvl="1"/>
            <a:r>
              <a:rPr lang="ru-RU" dirty="0" smtClean="0"/>
              <a:t>После записи БД можно очистить журнал</a:t>
            </a:r>
          </a:p>
          <a:p>
            <a:r>
              <a:rPr lang="ru-RU" dirty="0" smtClean="0"/>
              <a:t>Возобновить нормальную работу системы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127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47260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CREATE DATABASE Sales </a:t>
            </a:r>
          </a:p>
          <a:p>
            <a:pPr>
              <a:buNone/>
            </a:pPr>
            <a:r>
              <a:rPr lang="en-US" dirty="0" smtClean="0"/>
              <a:t>ON ( NAME = </a:t>
            </a:r>
            <a:r>
              <a:rPr lang="en-US" dirty="0" err="1" smtClean="0"/>
              <a:t>Sales_dat</a:t>
            </a:r>
            <a:r>
              <a:rPr lang="en-US" dirty="0" smtClean="0"/>
              <a:t>, FILENAME = 'C:\tmp\saledat.mdf', </a:t>
            </a:r>
          </a:p>
          <a:p>
            <a:pPr>
              <a:buNone/>
            </a:pPr>
            <a:r>
              <a:rPr lang="en-US" dirty="0" smtClean="0"/>
              <a:t>SIZE = 10, </a:t>
            </a:r>
          </a:p>
          <a:p>
            <a:pPr>
              <a:buNone/>
            </a:pPr>
            <a:r>
              <a:rPr lang="en-US" dirty="0" smtClean="0"/>
              <a:t>MAXSIZE = 50, </a:t>
            </a:r>
          </a:p>
          <a:p>
            <a:pPr>
              <a:buNone/>
            </a:pPr>
            <a:r>
              <a:rPr lang="en-US" dirty="0" smtClean="0"/>
              <a:t>FILEGROWTH = 5 ) </a:t>
            </a:r>
          </a:p>
          <a:p>
            <a:pPr>
              <a:buNone/>
            </a:pPr>
            <a:r>
              <a:rPr lang="en-US" dirty="0" smtClean="0"/>
              <a:t>LOG ON ( NAME = </a:t>
            </a:r>
            <a:r>
              <a:rPr lang="en-US" dirty="0" err="1" smtClean="0"/>
              <a:t>Sales_log</a:t>
            </a:r>
            <a:r>
              <a:rPr lang="en-US" dirty="0" smtClean="0"/>
              <a:t>, FILENAME = 'C:\tmp\salelog.ldf', </a:t>
            </a:r>
          </a:p>
          <a:p>
            <a:pPr>
              <a:buNone/>
            </a:pPr>
            <a:r>
              <a:rPr lang="en-US" dirty="0" smtClean="0"/>
              <a:t>SIZE = 5MB, </a:t>
            </a:r>
          </a:p>
          <a:p>
            <a:pPr>
              <a:buNone/>
            </a:pPr>
            <a:r>
              <a:rPr lang="en-US" dirty="0" smtClean="0"/>
              <a:t>MAXSIZE = 25MB, </a:t>
            </a:r>
          </a:p>
          <a:p>
            <a:pPr>
              <a:buNone/>
            </a:pPr>
            <a:r>
              <a:rPr lang="en-US" dirty="0" smtClean="0"/>
              <a:t>FILEGROWTH = 5MB ) ;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501280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Усечение журнала </a:t>
            </a:r>
            <a:r>
              <a:rPr lang="ru-RU" dirty="0" smtClean="0"/>
              <a:t>транзакций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19674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Процесс </a:t>
            </a:r>
            <a:r>
              <a:rPr lang="ru-RU" dirty="0"/>
              <a:t>усечения журнала освобождает место в файле журнала для повторного использования журналом транзакций</a:t>
            </a:r>
            <a:r>
              <a:rPr lang="ru-RU" dirty="0" smtClean="0"/>
              <a:t>. </a:t>
            </a:r>
          </a:p>
          <a:p>
            <a:r>
              <a:rPr lang="ru-RU" dirty="0" smtClean="0"/>
              <a:t>Усечение </a:t>
            </a:r>
            <a:r>
              <a:rPr lang="ru-RU" dirty="0"/>
              <a:t>журнала необходимо для предотвращения переполнения журнала</a:t>
            </a:r>
            <a:r>
              <a:rPr lang="ru-RU" dirty="0" smtClean="0"/>
              <a:t>. </a:t>
            </a:r>
          </a:p>
          <a:p>
            <a:r>
              <a:rPr lang="ru-RU" dirty="0" smtClean="0"/>
              <a:t>При </a:t>
            </a:r>
            <a:r>
              <a:rPr lang="ru-RU" dirty="0"/>
              <a:t>усечении журнала удаляются неактивные виртуальные файлы журнала из логического журнала транзакций базы данных SQL </a:t>
            </a:r>
            <a:r>
              <a:rPr lang="ru-RU" dirty="0" err="1" smtClean="0"/>
              <a:t>Server</a:t>
            </a:r>
            <a:r>
              <a:rPr lang="ru-RU" dirty="0" smtClean="0"/>
              <a:t>. </a:t>
            </a:r>
          </a:p>
          <a:p>
            <a:r>
              <a:rPr lang="ru-RU" dirty="0" smtClean="0"/>
              <a:t>Если </a:t>
            </a:r>
            <a:r>
              <a:rPr lang="ru-RU" dirty="0"/>
              <a:t>усечение журнала транзакций не выполняется, со временем он заполняет все доступное место на диске, отведенное для файлов физического журнала</a:t>
            </a:r>
            <a:r>
              <a:rPr lang="ru-RU" dirty="0" smtClean="0"/>
              <a:t>.</a:t>
            </a:r>
          </a:p>
          <a:p>
            <a:r>
              <a:rPr lang="ru-RU" dirty="0"/>
              <a:t>Усечение журнала выполняется автоматически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275845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Сжатие журнала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Усечение журнала не приводит к уменьшению размера физического файла журнала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Для </a:t>
            </a:r>
            <a:r>
              <a:rPr lang="ru-RU" dirty="0"/>
              <a:t>уменьшения реального размера физического файла журнала необходимо выполнить его сжатие</a:t>
            </a:r>
            <a:r>
              <a:rPr lang="ru-RU" dirty="0" smtClean="0"/>
              <a:t>.</a:t>
            </a:r>
          </a:p>
          <a:p>
            <a:r>
              <a:rPr lang="en-US" dirty="0"/>
              <a:t>DBCC SHRINKFILE (DataFile1, 7</a:t>
            </a:r>
            <a:r>
              <a:rPr lang="en-US" dirty="0" smtClean="0"/>
              <a:t>);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en-US" dirty="0" smtClean="0"/>
              <a:t>DataFile1</a:t>
            </a:r>
            <a:r>
              <a:rPr lang="ru-RU" dirty="0" smtClean="0"/>
              <a:t> – имя файла</a:t>
            </a:r>
            <a:r>
              <a:rPr lang="en-US" dirty="0" smtClean="0"/>
              <a:t>, 7</a:t>
            </a:r>
            <a:r>
              <a:rPr lang="ru-RU" dirty="0" smtClean="0"/>
              <a:t> – размер в МБ</a:t>
            </a:r>
            <a:r>
              <a:rPr lang="en-US" dirty="0" smtClean="0"/>
              <a:t>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628251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Модель транзакций</a:t>
            </a:r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24" y="1375681"/>
            <a:ext cx="7215238" cy="4831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5124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Модель транзакций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401080" cy="4900634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оператор COMMIT означает успешное завершение транзакции; его использование делает постоянными изменения, внесенные в базу данных в рамках текущей транзакции;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оператор ROLLBACK прерывает транзакцию, отменяя изменения, сделанные в базе данных в рамках этой транзакции; новая транзакция начинается непосредственно после использования ROLLBACK;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успешное завершение программы, в которой была инициирована текущая транзакция, означает успешное завершение транзакции (как будто был использован оператор COMMIT);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ошибочное завершение программы прерывает транзакцию (как будто был использован оператор ROLLBACK).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787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2518</TotalTime>
  <Words>4535</Words>
  <Application>Microsoft Office PowerPoint</Application>
  <PresentationFormat>Экран (4:3)</PresentationFormat>
  <Paragraphs>670</Paragraphs>
  <Slides>110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110</vt:i4>
      </vt:variant>
    </vt:vector>
  </HeadingPairs>
  <TitlesOfParts>
    <vt:vector size="114" baseType="lpstr">
      <vt:lpstr>Arial</vt:lpstr>
      <vt:lpstr>Calibri</vt:lpstr>
      <vt:lpstr>Times New Roman</vt:lpstr>
      <vt:lpstr>Тема Office</vt:lpstr>
      <vt:lpstr>Транзакции</vt:lpstr>
      <vt:lpstr>Транзакция - это</vt:lpstr>
      <vt:lpstr>Транзакция</vt:lpstr>
      <vt:lpstr>Транзакция- требования ACID</vt:lpstr>
      <vt:lpstr>Atomicity</vt:lpstr>
      <vt:lpstr>Consistency</vt:lpstr>
      <vt:lpstr>Isolation</vt:lpstr>
      <vt:lpstr>Durability</vt:lpstr>
      <vt:lpstr>Согласованность в базах данных</vt:lpstr>
      <vt:lpstr>Согласованность</vt:lpstr>
      <vt:lpstr>Пример 1 обрыв транзакции</vt:lpstr>
      <vt:lpstr>Пример 2  конкурирующие транзакции</vt:lpstr>
      <vt:lpstr>Пример 3  конкурирующие транзакции</vt:lpstr>
      <vt:lpstr>Транзакции, истории и расписания</vt:lpstr>
      <vt:lpstr>Проблемы, вызванные конкурентностью выполнения</vt:lpstr>
      <vt:lpstr>Серийное расписание </vt:lpstr>
      <vt:lpstr>Конфликты</vt:lpstr>
      <vt:lpstr>Эквивалентность и серийность</vt:lpstr>
      <vt:lpstr>Критерий серийности</vt:lpstr>
      <vt:lpstr>План доказательства</vt:lpstr>
      <vt:lpstr>Сериализуемость по коммутативности</vt:lpstr>
      <vt:lpstr>Использование замков</vt:lpstr>
      <vt:lpstr>Решение</vt:lpstr>
      <vt:lpstr>Совместимость замков</vt:lpstr>
      <vt:lpstr>Протокол блокирования 2PL</vt:lpstr>
      <vt:lpstr>Презентация PowerPoint</vt:lpstr>
      <vt:lpstr>Тупики </vt:lpstr>
      <vt:lpstr>Протокол для деревьев WTL</vt:lpstr>
      <vt:lpstr>Презентация PowerPoint</vt:lpstr>
      <vt:lpstr>Корректность WTL</vt:lpstr>
      <vt:lpstr>Диспетчер транзакций</vt:lpstr>
      <vt:lpstr>Виды транзакций в SQL Server</vt:lpstr>
      <vt:lpstr>Фазы транзакций</vt:lpstr>
      <vt:lpstr>Автоматическая фиксация транзакций</vt:lpstr>
      <vt:lpstr>Неявные транзакции</vt:lpstr>
      <vt:lpstr>Явные транзакции</vt:lpstr>
      <vt:lpstr>Проблемы параллельного доступа с использованием транзакций</vt:lpstr>
      <vt:lpstr>Потерянное обновление</vt:lpstr>
      <vt:lpstr>«Грязное» чтение</vt:lpstr>
      <vt:lpstr>Неповторяющееся чтение</vt:lpstr>
      <vt:lpstr>Фантомное чтение</vt:lpstr>
      <vt:lpstr>Размер транзакций</vt:lpstr>
      <vt:lpstr>Фазы транзакций</vt:lpstr>
      <vt:lpstr>Уровень изоляции</vt:lpstr>
      <vt:lpstr>READ UNCOMMITTED</vt:lpstr>
      <vt:lpstr>READ COMMITTED</vt:lpstr>
      <vt:lpstr>REPEATABLE READ</vt:lpstr>
      <vt:lpstr>SNAPSHOT</vt:lpstr>
      <vt:lpstr>SNAPSHOT</vt:lpstr>
      <vt:lpstr>SNAPSHOT</vt:lpstr>
      <vt:lpstr>SNAPSHOT</vt:lpstr>
      <vt:lpstr>SERIALIZABLE</vt:lpstr>
      <vt:lpstr>SERIALIZABLE</vt:lpstr>
      <vt:lpstr>Презентация PowerPoint</vt:lpstr>
      <vt:lpstr>TRANSACTION NAME</vt:lpstr>
      <vt:lpstr>BEGIN TRANSACTION</vt:lpstr>
      <vt:lpstr>COMMIT</vt:lpstr>
      <vt:lpstr>Вложенные транзакции</vt:lpstr>
      <vt:lpstr>Вложенные транзакции</vt:lpstr>
      <vt:lpstr>Вложенные транзакции</vt:lpstr>
      <vt:lpstr>SAVE</vt:lpstr>
      <vt:lpstr>ROLLBACK</vt:lpstr>
      <vt:lpstr>ROLLBACK</vt:lpstr>
      <vt:lpstr>ROLLBACK</vt:lpstr>
      <vt:lpstr>Презентация PowerPoint</vt:lpstr>
      <vt:lpstr>Презентация PowerPoint</vt:lpstr>
      <vt:lpstr>Пример отката с точкой</vt:lpstr>
      <vt:lpstr>Презентация PowerPoint</vt:lpstr>
      <vt:lpstr>Презентация PowerPoint</vt:lpstr>
      <vt:lpstr>Презентация PowerPoint</vt:lpstr>
      <vt:lpstr>Обработка ошибок</vt:lpstr>
      <vt:lpstr>Обработка ошибок</vt:lpstr>
      <vt:lpstr>SET XACT_ABORT { ON | OFF }</vt:lpstr>
      <vt:lpstr>XACT_STATE</vt:lpstr>
      <vt:lpstr>XACT_STATE возвращаемые  значения</vt:lpstr>
      <vt:lpstr>Обработка ошибок</vt:lpstr>
      <vt:lpstr>Обработка ошибок</vt:lpstr>
      <vt:lpstr>Тупики и бесконечные ожидания</vt:lpstr>
      <vt:lpstr>Гранулярность блокировок</vt:lpstr>
      <vt:lpstr>Уровни блокировок</vt:lpstr>
      <vt:lpstr>Уровни блокировок</vt:lpstr>
      <vt:lpstr>Иерархия объектов</vt:lpstr>
      <vt:lpstr>Эскалация блокировок</vt:lpstr>
      <vt:lpstr>Проблемы маленьких блокировок</vt:lpstr>
      <vt:lpstr>Подсказки оптимизатору</vt:lpstr>
      <vt:lpstr>Восстановление</vt:lpstr>
      <vt:lpstr>Отказы приложений</vt:lpstr>
      <vt:lpstr>Технические проблемы</vt:lpstr>
      <vt:lpstr>Возобновление при отказах</vt:lpstr>
      <vt:lpstr>Восстановление оборванных транзакций: откат</vt:lpstr>
      <vt:lpstr>Восстановимость</vt:lpstr>
      <vt:lpstr>Откат</vt:lpstr>
      <vt:lpstr>Оптимистический и пессимистический подходы</vt:lpstr>
      <vt:lpstr>Сегмент отката  (rollback segment, RBS)</vt:lpstr>
      <vt:lpstr>Savepoint</vt:lpstr>
      <vt:lpstr>Журнал транзакций</vt:lpstr>
      <vt:lpstr>Ведение журнала</vt:lpstr>
      <vt:lpstr>Фиксация транзакции </vt:lpstr>
      <vt:lpstr>Восстановление  после системных отказов</vt:lpstr>
      <vt:lpstr>Общие принципы восстановления </vt:lpstr>
      <vt:lpstr>Что нужно сделать при восстановлении</vt:lpstr>
      <vt:lpstr>Журнал транзакций</vt:lpstr>
      <vt:lpstr>Журнал транзакций поддерживает:</vt:lpstr>
      <vt:lpstr>Алгоритм восстановления при рестарте</vt:lpstr>
      <vt:lpstr>Завершение восстановления</vt:lpstr>
      <vt:lpstr>Презентация PowerPoint</vt:lpstr>
      <vt:lpstr>Усечение журнала транзакций</vt:lpstr>
      <vt:lpstr>Сжатие журнала</vt:lpstr>
      <vt:lpstr>Модель транзакций</vt:lpstr>
      <vt:lpstr>Модель транзакций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Elena</dc:creator>
  <cp:lastModifiedBy>Elena</cp:lastModifiedBy>
  <cp:revision>140</cp:revision>
  <dcterms:created xsi:type="dcterms:W3CDTF">2010-11-25T10:29:57Z</dcterms:created>
  <dcterms:modified xsi:type="dcterms:W3CDTF">2016-05-02T21:56:53Z</dcterms:modified>
</cp:coreProperties>
</file>