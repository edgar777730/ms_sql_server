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1"/>
  </p:sldMasterIdLst>
  <p:notesMasterIdLst>
    <p:notesMasterId r:id="rId94"/>
  </p:notesMasterIdLst>
  <p:handoutMasterIdLst>
    <p:handoutMasterId r:id="rId95"/>
  </p:handoutMasterIdLst>
  <p:sldIdLst>
    <p:sldId id="256" r:id="rId2"/>
    <p:sldId id="345" r:id="rId3"/>
    <p:sldId id="501" r:id="rId4"/>
    <p:sldId id="502" r:id="rId5"/>
    <p:sldId id="307" r:id="rId6"/>
    <p:sldId id="503" r:id="rId7"/>
    <p:sldId id="504" r:id="rId8"/>
    <p:sldId id="568" r:id="rId9"/>
    <p:sldId id="567" r:id="rId10"/>
    <p:sldId id="505" r:id="rId11"/>
    <p:sldId id="506" r:id="rId12"/>
    <p:sldId id="507" r:id="rId13"/>
    <p:sldId id="508" r:id="rId14"/>
    <p:sldId id="509" r:id="rId15"/>
    <p:sldId id="360" r:id="rId16"/>
    <p:sldId id="361" r:id="rId17"/>
    <p:sldId id="362" r:id="rId18"/>
    <p:sldId id="510" r:id="rId19"/>
    <p:sldId id="313" r:id="rId20"/>
    <p:sldId id="569" r:id="rId21"/>
    <p:sldId id="511" r:id="rId22"/>
    <p:sldId id="512" r:id="rId23"/>
    <p:sldId id="314" r:id="rId24"/>
    <p:sldId id="513" r:id="rId25"/>
    <p:sldId id="514" r:id="rId26"/>
    <p:sldId id="363" r:id="rId27"/>
    <p:sldId id="515" r:id="rId28"/>
    <p:sldId id="516" r:id="rId29"/>
    <p:sldId id="517" r:id="rId30"/>
    <p:sldId id="500" r:id="rId31"/>
    <p:sldId id="499" r:id="rId32"/>
    <p:sldId id="315" r:id="rId33"/>
    <p:sldId id="570" r:id="rId34"/>
    <p:sldId id="571" r:id="rId35"/>
    <p:sldId id="572" r:id="rId36"/>
    <p:sldId id="573" r:id="rId37"/>
    <p:sldId id="364" r:id="rId38"/>
    <p:sldId id="518" r:id="rId39"/>
    <p:sldId id="519" r:id="rId40"/>
    <p:sldId id="520" r:id="rId41"/>
    <p:sldId id="521" r:id="rId42"/>
    <p:sldId id="522" r:id="rId43"/>
    <p:sldId id="523" r:id="rId44"/>
    <p:sldId id="524" r:id="rId45"/>
    <p:sldId id="525" r:id="rId46"/>
    <p:sldId id="574" r:id="rId47"/>
    <p:sldId id="575" r:id="rId48"/>
    <p:sldId id="576" r:id="rId49"/>
    <p:sldId id="526" r:id="rId50"/>
    <p:sldId id="527" r:id="rId51"/>
    <p:sldId id="528" r:id="rId52"/>
    <p:sldId id="529" r:id="rId53"/>
    <p:sldId id="577" r:id="rId54"/>
    <p:sldId id="578" r:id="rId55"/>
    <p:sldId id="530" r:id="rId56"/>
    <p:sldId id="531" r:id="rId57"/>
    <p:sldId id="579" r:id="rId58"/>
    <p:sldId id="532" r:id="rId59"/>
    <p:sldId id="535" r:id="rId60"/>
    <p:sldId id="536" r:id="rId61"/>
    <p:sldId id="533" r:id="rId62"/>
    <p:sldId id="538" r:id="rId63"/>
    <p:sldId id="539" r:id="rId64"/>
    <p:sldId id="542" r:id="rId65"/>
    <p:sldId id="540" r:id="rId66"/>
    <p:sldId id="543" r:id="rId67"/>
    <p:sldId id="541" r:id="rId68"/>
    <p:sldId id="544" r:id="rId69"/>
    <p:sldId id="545" r:id="rId70"/>
    <p:sldId id="546" r:id="rId71"/>
    <p:sldId id="547" r:id="rId72"/>
    <p:sldId id="548" r:id="rId73"/>
    <p:sldId id="316" r:id="rId74"/>
    <p:sldId id="376" r:id="rId75"/>
    <p:sldId id="456" r:id="rId76"/>
    <p:sldId id="549" r:id="rId77"/>
    <p:sldId id="550" r:id="rId78"/>
    <p:sldId id="554" r:id="rId79"/>
    <p:sldId id="551" r:id="rId80"/>
    <p:sldId id="555" r:id="rId81"/>
    <p:sldId id="553" r:id="rId82"/>
    <p:sldId id="556" r:id="rId83"/>
    <p:sldId id="559" r:id="rId84"/>
    <p:sldId id="557" r:id="rId85"/>
    <p:sldId id="558" r:id="rId86"/>
    <p:sldId id="560" r:id="rId87"/>
    <p:sldId id="561" r:id="rId88"/>
    <p:sldId id="565" r:id="rId89"/>
    <p:sldId id="562" r:id="rId90"/>
    <p:sldId id="563" r:id="rId91"/>
    <p:sldId id="566" r:id="rId92"/>
    <p:sldId id="564" r:id="rId93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585C"/>
    <a:srgbClr val="FCFF87"/>
    <a:srgbClr val="FFFF00"/>
    <a:srgbClr val="66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7" autoAdjust="0"/>
    <p:restoredTop sz="94700" autoAdjust="0"/>
  </p:normalViewPr>
  <p:slideViewPr>
    <p:cSldViewPr snapToObjects="1">
      <p:cViewPr varScale="1">
        <p:scale>
          <a:sx n="75" d="100"/>
          <a:sy n="75" d="100"/>
        </p:scale>
        <p:origin x="66" y="6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326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20"/>
    </p:cViewPr>
  </p:sorterViewPr>
  <p:notesViewPr>
    <p:cSldViewPr snapToObjects="1">
      <p:cViewPr varScale="1">
        <p:scale>
          <a:sx n="60" d="100"/>
          <a:sy n="60" d="100"/>
        </p:scale>
        <p:origin x="-1890" y="-78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263A4159-9C74-42BE-880C-4C3C8541C36A}" type="datetimeFigureOut">
              <a:rPr lang="ru-RU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2BDE716B-58A5-4EDD-91FE-BC6D928D844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1406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2A3C1A4-5600-45BD-8E3E-56ADE8A975B4}" type="datetimeFigureOut">
              <a:rPr lang="ru-RU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1D5D2B2-EC82-4B9B-91F4-436E390EBCB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1700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lIns="45720" tIns="0" rIns="45720" bIns="0" anchor="b">
            <a:scene3d>
              <a:camera prst="orthographicFront"/>
              <a:lightRig rig="soft" dir="t">
                <a:rot lat="0" lon="0" rev="17220000"/>
              </a:lightRig>
            </a:scene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1EFB0-2103-43A0-9628-4C32D2BABDC1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BD51F-2E8E-46EB-A006-1C615CA967D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Tx/>
              <a:defRPr sz="240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sz="220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aseline="0"/>
            </a:lvl1pPr>
          </a:lstStyle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921076-48DD-4BB3-A4C7-C192F88C7A39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F02E3-F42B-4B16-95F2-2DEC4D70F49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40198-E63A-42B1-8BDE-B4D6BEC17168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6EF971-4010-4197-8790-E33A36920D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716526-FD19-4866-BD7C-85DB040148C6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7329D-B103-414E-BC88-B2409B6734E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067ED-B26C-400D-98A1-A0642698DBCF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8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2E224-ECF2-4A7C-9AF3-A8756DA41EB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F7611-F094-4A05-A21B-F14FC460F7AA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4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C42C7-A82A-41A5-9F8F-E2253C175A8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7A624-11AE-40A7-AF68-68A2E2AD6576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DE54F-F715-4D57-9291-0D874A41390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CB0DED-A2F9-40C3-929E-49D191F2DE2D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063E3C-B443-4647-8EC0-98289B6B207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indent="0">
              <a:buNone/>
              <a:defRPr sz="3200"/>
            </a:lvl1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rIns="45720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256C4-C592-467A-A602-7018BA3936B4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8274F-A8F2-4A04-97F3-CAF5D535A90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C1E08-0CF8-4A3E-B07C-473EE1BC9F51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6E700-D0CA-4577-B641-69E6CA55034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8B757C-3701-48A1-B34A-96E7C549DEE0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92E6D-4D73-4980-919B-D3A7C439D98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921076-48DD-4BB3-A4C7-C192F88C7A39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F02E3-F42B-4B16-95F2-2DEC4D70F49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27" name="Текст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5921076-48DD-4BB3-A4C7-C192F88C7A39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2AF02E3-F42B-4B16-95F2-2DEC4D70F49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</p:sldLayoutIdLst>
  <p:transition/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00" b="1" kern="120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9pPr>
    </p:titleStyle>
    <p:bodyStyle>
      <a:lvl1pPr marL="547688" indent="-411163" algn="l" rtl="0" eaLnBrk="1" fontAlgn="base" hangingPunct="1">
        <a:spcBef>
          <a:spcPct val="20000"/>
        </a:spcBef>
        <a:spcAft>
          <a:spcPct val="0"/>
        </a:spcAft>
        <a:buClr>
          <a:srgbClr val="F9F9F9"/>
        </a:buClr>
        <a:buSzPct val="65000"/>
        <a:buFont typeface="Wingdings 2" pitchFamily="18" charset="2"/>
        <a:buChar char="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363" indent="-2825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 2" pitchFamily="18" charset="2"/>
        <a:buChar char="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475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itchFamily="2" charset="2"/>
        <a:buChar char="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2550" indent="-18256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4638" indent="-18256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Безопасность </a:t>
            </a:r>
            <a:b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систем баз данных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96625" y="3331698"/>
            <a:ext cx="6845805" cy="17526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 2"/>
              <a:buNone/>
              <a:defRPr/>
            </a:pPr>
            <a:endParaRPr lang="ru-RU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 2"/>
              <a:buNone/>
              <a:defRPr/>
            </a:pPr>
            <a:r>
              <a:rPr lang="ru-RU" sz="32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4. Управление доступом в СУБД</a:t>
            </a:r>
            <a:endParaRPr lang="ru-RU" sz="32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Управление доступом в СУБД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49250" y="1313765"/>
            <a:ext cx="8342342" cy="4862499"/>
          </a:xfrm>
        </p:spPr>
        <p:txBody>
          <a:bodyPr/>
          <a:lstStyle/>
          <a:p>
            <a:pPr marL="531813" indent="-436563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Процедура и/а выполняет функцию глобального контроля прав пользователя по доступу в систему в целом. </a:t>
            </a:r>
          </a:p>
          <a:p>
            <a:pPr marL="531813" indent="-436563"/>
            <a:r>
              <a:rPr lang="ru-RU" dirty="0" smtClean="0"/>
              <a:t>Однако использование </a:t>
            </a:r>
            <a:r>
              <a:rPr lang="ru-RU" dirty="0"/>
              <a:t>даже самых надежных процедур </a:t>
            </a:r>
            <a:r>
              <a:rPr lang="ru-RU" dirty="0" smtClean="0"/>
              <a:t>и/а в </a:t>
            </a:r>
            <a:r>
              <a:rPr lang="ru-RU" dirty="0"/>
              <a:t>большинстве случаев оказывается недостаточным для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решения вопроса о допустимости выполнения любых операций с конкретными данными. </a:t>
            </a:r>
          </a:p>
          <a:p>
            <a:pPr marL="531813" indent="-436563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БД каждое групповое данное должно иметь связанный с ним (данным)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набор ограничений доступа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pPr marL="531813" indent="-436563"/>
            <a:r>
              <a:rPr lang="ru-RU" dirty="0" smtClean="0"/>
              <a:t>Процедуры </a:t>
            </a:r>
            <a:r>
              <a:rPr lang="ru-RU" dirty="0"/>
              <a:t>регулирования допустимых действий пользователей по отношению к различным данным в БД называют </a:t>
            </a:r>
            <a:r>
              <a:rPr lang="ru-RU" b="1" i="1" dirty="0"/>
              <a:t>авторизацией</a:t>
            </a:r>
            <a:r>
              <a:rPr lang="ru-RU" b="1" dirty="0"/>
              <a:t> </a:t>
            </a:r>
            <a:r>
              <a:rPr lang="ru-RU" dirty="0"/>
              <a:t>(от англ. </a:t>
            </a:r>
            <a:r>
              <a:rPr lang="ru-RU" dirty="0" err="1"/>
              <a:t>authorization</a:t>
            </a:r>
            <a:r>
              <a:rPr lang="ru-RU" dirty="0"/>
              <a:t> – разрешение, уполномочивание) или </a:t>
            </a:r>
            <a:r>
              <a:rPr lang="ru-RU" b="1" i="1" dirty="0"/>
              <a:t>управлением доступом</a:t>
            </a:r>
            <a:r>
              <a:rPr lang="ru-RU" dirty="0"/>
              <a:t> </a:t>
            </a:r>
            <a:r>
              <a:rPr lang="ru-RU" dirty="0" smtClean="0"/>
              <a:t>(или </a:t>
            </a:r>
            <a:r>
              <a:rPr lang="ru-RU" b="1" i="1" dirty="0" smtClean="0"/>
              <a:t>контролем </a:t>
            </a:r>
            <a:r>
              <a:rPr lang="ru-RU" b="1" i="1" dirty="0"/>
              <a:t>доступа</a:t>
            </a:r>
            <a:r>
              <a:rPr lang="ru-RU" dirty="0"/>
              <a:t>). 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2</a:t>
            </a:fld>
            <a:endParaRPr lang="ru-RU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Субъекты и объекты доступа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управлении доступом в СУБД различают два вида сущностей – </a:t>
            </a:r>
            <a:r>
              <a:rPr lang="ru-RU" b="1" i="1" dirty="0"/>
              <a:t>активные</a:t>
            </a:r>
            <a:r>
              <a:rPr lang="ru-RU" dirty="0"/>
              <a:t> и </a:t>
            </a:r>
            <a:r>
              <a:rPr lang="ru-RU" b="1" i="1" dirty="0"/>
              <a:t>пассивные</a:t>
            </a:r>
            <a:r>
              <a:rPr lang="ru-RU" dirty="0"/>
              <a:t>. Активные сущности (</a:t>
            </a:r>
            <a:r>
              <a:rPr lang="ru-RU" b="1" i="1" dirty="0"/>
              <a:t>субъекты</a:t>
            </a:r>
            <a:r>
              <a:rPr lang="ru-RU" dirty="0"/>
              <a:t>) осуществляют доступ к пассивным сущностям – </a:t>
            </a:r>
            <a:r>
              <a:rPr lang="ru-RU" b="1" i="1" dirty="0"/>
              <a:t>объектам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Субъекты </a:t>
            </a:r>
            <a:r>
              <a:rPr lang="ru-RU" dirty="0"/>
              <a:t>– это пользователи или </a:t>
            </a:r>
            <a:r>
              <a:rPr lang="ru-RU" dirty="0" smtClean="0"/>
              <a:t>приложения. </a:t>
            </a:r>
          </a:p>
          <a:p>
            <a:r>
              <a:rPr lang="ru-RU" b="1" i="1" dirty="0" smtClean="0"/>
              <a:t>Первичные объекты</a:t>
            </a:r>
            <a:r>
              <a:rPr lang="ru-RU" dirty="0" smtClean="0"/>
              <a:t>, </a:t>
            </a:r>
            <a:r>
              <a:rPr lang="ru-RU" dirty="0"/>
              <a:t>к которым регулируется </a:t>
            </a:r>
            <a:r>
              <a:rPr lang="ru-RU" dirty="0" smtClean="0"/>
              <a:t>доступ: </a:t>
            </a:r>
          </a:p>
          <a:p>
            <a:pPr marL="1609725" indent="-354013">
              <a:buFont typeface="Wingdings" panose="05000000000000000000" pitchFamily="2" charset="2"/>
              <a:buChar char="Ø"/>
            </a:pPr>
            <a:r>
              <a:rPr lang="ru-RU" dirty="0" smtClean="0"/>
              <a:t>БД </a:t>
            </a:r>
            <a:r>
              <a:rPr lang="ru-RU" dirty="0"/>
              <a:t>в </a:t>
            </a:r>
            <a:r>
              <a:rPr lang="ru-RU" dirty="0" smtClean="0"/>
              <a:t>целом; </a:t>
            </a:r>
          </a:p>
          <a:p>
            <a:pPr marL="1609725" indent="-354013">
              <a:buFont typeface="Wingdings" panose="05000000000000000000" pitchFamily="2" charset="2"/>
              <a:buChar char="Ø"/>
            </a:pPr>
            <a:r>
              <a:rPr lang="ru-RU" dirty="0" smtClean="0"/>
              <a:t>отношения </a:t>
            </a:r>
            <a:r>
              <a:rPr lang="ru-RU" dirty="0"/>
              <a:t>(таблицы</a:t>
            </a:r>
            <a:r>
              <a:rPr lang="ru-RU" dirty="0" smtClean="0"/>
              <a:t>); </a:t>
            </a:r>
          </a:p>
          <a:p>
            <a:pPr marL="1609725" indent="-354013">
              <a:buFont typeface="Wingdings" panose="05000000000000000000" pitchFamily="2" charset="2"/>
              <a:buChar char="Ø"/>
            </a:pPr>
            <a:r>
              <a:rPr lang="ru-RU" dirty="0" smtClean="0"/>
              <a:t>представления;</a:t>
            </a:r>
          </a:p>
          <a:p>
            <a:pPr marL="1609725" indent="-354013">
              <a:buFont typeface="Wingdings" panose="05000000000000000000" pitchFamily="2" charset="2"/>
              <a:buChar char="Ø"/>
            </a:pPr>
            <a:r>
              <a:rPr lang="ru-RU" dirty="0" smtClean="0"/>
              <a:t>процедуры</a:t>
            </a:r>
            <a:r>
              <a:rPr lang="ru-RU" dirty="0"/>
              <a:t>. 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67183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Вторичные объекты доступа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/>
              <a:t>Вторичными объектами </a:t>
            </a:r>
            <a:r>
              <a:rPr lang="ru-RU" dirty="0"/>
              <a:t>доступа могут </a:t>
            </a:r>
            <a:r>
              <a:rPr lang="ru-RU" dirty="0" smtClean="0"/>
              <a:t>быть:</a:t>
            </a:r>
          </a:p>
          <a:p>
            <a:pPr marL="1609725" indent="-354013">
              <a:buFont typeface="Wingdings" panose="05000000000000000000" pitchFamily="2" charset="2"/>
              <a:buChar char="Ø"/>
            </a:pPr>
            <a:r>
              <a:rPr lang="ru-RU" dirty="0" smtClean="0"/>
              <a:t>формы; </a:t>
            </a:r>
          </a:p>
          <a:p>
            <a:pPr marL="1609725" indent="-354013">
              <a:buFont typeface="Wingdings" panose="05000000000000000000" pitchFamily="2" charset="2"/>
              <a:buChar char="Ø"/>
            </a:pPr>
            <a:r>
              <a:rPr lang="ru-RU" dirty="0" smtClean="0"/>
              <a:t>отчеты; </a:t>
            </a:r>
          </a:p>
          <a:p>
            <a:pPr marL="1609725" indent="-354013">
              <a:buFont typeface="Wingdings" panose="05000000000000000000" pitchFamily="2" charset="2"/>
              <a:buChar char="Ø"/>
            </a:pPr>
            <a:r>
              <a:rPr lang="ru-RU" dirty="0" smtClean="0"/>
              <a:t>запросы;</a:t>
            </a:r>
          </a:p>
          <a:p>
            <a:pPr marL="1609725" indent="-354013">
              <a:buFont typeface="Wingdings" panose="05000000000000000000" pitchFamily="2" charset="2"/>
              <a:buChar char="Ø"/>
            </a:pPr>
            <a:r>
              <a:rPr lang="ru-RU" dirty="0" smtClean="0"/>
              <a:t>прикладные программы (ПП); </a:t>
            </a:r>
          </a:p>
          <a:p>
            <a:pPr marL="1609725" indent="-354013">
              <a:buFont typeface="Wingdings" panose="05000000000000000000" pitchFamily="2" charset="2"/>
              <a:buChar char="Ø"/>
            </a:pPr>
            <a:r>
              <a:rPr lang="ru-RU" dirty="0" smtClean="0"/>
              <a:t>процедуры;</a:t>
            </a:r>
          </a:p>
          <a:p>
            <a:pPr marL="1609725" indent="-354013">
              <a:buFont typeface="Wingdings" panose="05000000000000000000" pitchFamily="2" charset="2"/>
              <a:buChar char="Ø"/>
            </a:pPr>
            <a:r>
              <a:rPr lang="ru-RU" dirty="0" smtClean="0"/>
              <a:t>диаграммы </a:t>
            </a:r>
            <a:r>
              <a:rPr lang="ru-RU" dirty="0"/>
              <a:t>и т.п.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большинстве </a:t>
            </a:r>
            <a:r>
              <a:rPr lang="ru-RU" dirty="0" smtClean="0"/>
              <a:t>типов СУБД </a:t>
            </a:r>
            <a:r>
              <a:rPr lang="ru-RU" dirty="0"/>
              <a:t>возможность для субъекта пользоваться вторичными объектами определяется правами его доступа к соответствующим первичным объектам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56667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82860" y="214290"/>
            <a:ext cx="8229600" cy="1143000"/>
          </a:xfrm>
        </p:spPr>
        <p:txBody>
          <a:bodyPr>
            <a:noAutofit/>
          </a:bodyPr>
          <a:lstStyle/>
          <a:p>
            <a:r>
              <a:rPr lang="ru-RU" sz="4000" dirty="0" smtClean="0">
                <a:solidFill>
                  <a:schemeClr val="accent1">
                    <a:lumMod val="75000"/>
                  </a:schemeClr>
                </a:solidFill>
              </a:rPr>
              <a:t>Требования </a:t>
            </a:r>
            <a:r>
              <a:rPr lang="ru-RU" sz="4000" dirty="0"/>
              <a:t>по безопасности  в реляционных СУБД </a:t>
            </a:r>
            <a:endParaRPr lang="ru-RU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260350" y="1717925"/>
            <a:ext cx="8623300" cy="4951435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Разные пользователи могут иметь доступ только к строго определенным совокупностям таблиц;</a:t>
            </a:r>
          </a:p>
          <a:p>
            <a:pPr lvl="0">
              <a:spcBef>
                <a:spcPts val="0"/>
              </a:spcBef>
              <a:buClrTx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Разные пользователи могут иметь право на строго определенный перечень операций над данными конкретных таблиц; </a:t>
            </a:r>
          </a:p>
          <a:p>
            <a:pPr lvl="0">
              <a:spcBef>
                <a:spcPts val="0"/>
              </a:spcBef>
              <a:buClrTx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Разные пользователи могут иметь только выборочный доступ к определенным элементам конкретных таблиц (отдельным строкам и столбцам);</a:t>
            </a:r>
          </a:p>
          <a:p>
            <a:pPr lvl="0">
              <a:spcBef>
                <a:spcPts val="0"/>
              </a:spcBef>
              <a:buClrTx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Доступ определенных пользователей к определенной совокупности таблиц может быть запрещен непосредственно (через запросы), но разрешен в диалоге с прикладной программой.</a:t>
            </a:r>
          </a:p>
          <a:p>
            <a:pPr>
              <a:spcBef>
                <a:spcPts val="0"/>
              </a:spcBef>
              <a:buClrTx/>
            </a:pP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058274F-A8F2-4A04-97F3-CAF5D535A901}" type="slidenum">
              <a:rPr lang="ru-RU" sz="2400" smtClean="0"/>
              <a:pPr>
                <a:defRPr/>
              </a:pPr>
              <a:t>5</a:t>
            </a:fld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Схема доступа к данным в реляционных СУБД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СУБД </a:t>
            </a:r>
            <a:r>
              <a:rPr lang="ru-RU" dirty="0"/>
              <a:t>от имени конкретного субъекта выполняет конкретные операции над объектами БД в зависимости от прав, предоставленных субъекту на выполнение этих операций.</a:t>
            </a:r>
          </a:p>
          <a:p>
            <a:r>
              <a:rPr lang="ru-RU" dirty="0" smtClean="0"/>
              <a:t>Доступом </a:t>
            </a:r>
            <a:r>
              <a:rPr lang="ru-RU" dirty="0"/>
              <a:t>к объектам БД можно управлять – разрешать доступ или защищать от доступа. </a:t>
            </a:r>
          </a:p>
          <a:p>
            <a:r>
              <a:rPr lang="ru-RU" dirty="0" smtClean="0"/>
              <a:t>Конкретный </a:t>
            </a:r>
            <a:r>
              <a:rPr lang="ru-RU" dirty="0"/>
              <a:t>субъект обладает конкретными правами доступа к конкретному объекту.</a:t>
            </a:r>
          </a:p>
          <a:p>
            <a:r>
              <a:rPr lang="ru-RU" dirty="0" smtClean="0"/>
              <a:t>Совокупность </a:t>
            </a:r>
            <a:r>
              <a:rPr lang="ru-RU" dirty="0"/>
              <a:t>операций, которые разрешено выполнять конкретному субъекту над конкретными объектами определяют </a:t>
            </a:r>
            <a:r>
              <a:rPr lang="ru-RU" b="1" i="1" dirty="0" smtClean="0"/>
              <a:t>привилегии</a:t>
            </a:r>
            <a:r>
              <a:rPr lang="ru-RU" i="1" dirty="0" smtClean="0"/>
              <a:t> </a:t>
            </a:r>
            <a:r>
              <a:rPr lang="ru-RU" dirty="0" smtClean="0"/>
              <a:t>(</a:t>
            </a:r>
            <a:r>
              <a:rPr lang="ru-RU" dirty="0" err="1"/>
              <a:t>priveleges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2920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Категории </a:t>
            </a:r>
            <a:r>
              <a:rPr lang="ru-RU" dirty="0"/>
              <a:t>пользователей СУБД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больших </a:t>
            </a:r>
            <a:r>
              <a:rPr lang="ru-RU" dirty="0"/>
              <a:t>многопользовательских БД пользователи СУБД </a:t>
            </a:r>
            <a:r>
              <a:rPr lang="ru-RU" dirty="0" smtClean="0"/>
              <a:t>обычно разбиты </a:t>
            </a:r>
            <a:r>
              <a:rPr lang="ru-RU" dirty="0"/>
              <a:t>на </a:t>
            </a:r>
            <a:r>
              <a:rPr lang="ru-RU" dirty="0" smtClean="0"/>
              <a:t>3 </a:t>
            </a:r>
            <a:r>
              <a:rPr lang="ru-RU" dirty="0"/>
              <a:t>категории:</a:t>
            </a:r>
          </a:p>
          <a:p>
            <a:pPr marL="1077913" indent="-354013">
              <a:buFont typeface="Wingdings" panose="05000000000000000000" pitchFamily="2" charset="2"/>
              <a:buChar char="Ø"/>
            </a:pPr>
            <a:r>
              <a:rPr lang="ru-RU" i="1" dirty="0" smtClean="0"/>
              <a:t>администратор </a:t>
            </a:r>
            <a:r>
              <a:rPr lang="ru-RU" i="1" dirty="0"/>
              <a:t>сервера </a:t>
            </a:r>
            <a:r>
              <a:rPr lang="ru-RU" i="1" dirty="0" smtClean="0"/>
              <a:t>БД </a:t>
            </a:r>
            <a:r>
              <a:rPr lang="ru-RU" dirty="0" smtClean="0"/>
              <a:t>- </a:t>
            </a:r>
            <a:r>
              <a:rPr lang="ru-RU" dirty="0"/>
              <a:t>ведает установкой, конфигурированием сервера, регистрацией пользователей, групп, ролей и т</a:t>
            </a:r>
            <a:r>
              <a:rPr lang="ru-RU" dirty="0" smtClean="0"/>
              <a:t>. п.;</a:t>
            </a:r>
            <a:endParaRPr lang="ru-RU" dirty="0"/>
          </a:p>
          <a:p>
            <a:pPr marL="1077913" indent="-354013">
              <a:buFont typeface="Wingdings" panose="05000000000000000000" pitchFamily="2" charset="2"/>
              <a:buChar char="Ø"/>
            </a:pPr>
            <a:r>
              <a:rPr lang="ru-RU" i="1" dirty="0" smtClean="0"/>
              <a:t>администратор БД </a:t>
            </a:r>
            <a:r>
              <a:rPr lang="ru-RU" dirty="0" smtClean="0"/>
              <a:t>- пользователь</a:t>
            </a:r>
            <a:r>
              <a:rPr lang="ru-RU" dirty="0"/>
              <a:t>, создавший свою БД, </a:t>
            </a:r>
            <a:r>
              <a:rPr lang="ru-RU" dirty="0" smtClean="0"/>
              <a:t>и </a:t>
            </a:r>
            <a:r>
              <a:rPr lang="ru-RU" dirty="0"/>
              <a:t>являющийся ее </a:t>
            </a:r>
            <a:r>
              <a:rPr lang="ru-RU" dirty="0" smtClean="0"/>
              <a:t>владельцем - предоставляет </a:t>
            </a:r>
            <a:r>
              <a:rPr lang="ru-RU" dirty="0"/>
              <a:t>другим пользователям доступ к своей БД и к содержащимся в ней </a:t>
            </a:r>
            <a:r>
              <a:rPr lang="ru-RU" dirty="0" smtClean="0"/>
              <a:t>объектам, отвечает </a:t>
            </a:r>
            <a:r>
              <a:rPr lang="ru-RU" dirty="0"/>
              <a:t>за ее сохранение и восстановление;</a:t>
            </a:r>
          </a:p>
          <a:p>
            <a:pPr marL="1077913" indent="-354013">
              <a:buFont typeface="Wingdings" panose="05000000000000000000" pitchFamily="2" charset="2"/>
              <a:buChar char="Ø"/>
            </a:pPr>
            <a:r>
              <a:rPr lang="ru-RU" i="1" dirty="0" smtClean="0"/>
              <a:t>прочие</a:t>
            </a:r>
            <a:r>
              <a:rPr lang="ru-RU" dirty="0" smtClean="0"/>
              <a:t> </a:t>
            </a:r>
            <a:r>
              <a:rPr lang="ru-RU" dirty="0"/>
              <a:t>(конечные) </a:t>
            </a:r>
            <a:r>
              <a:rPr lang="ru-RU" dirty="0" smtClean="0"/>
              <a:t>пользователи - </a:t>
            </a:r>
            <a:r>
              <a:rPr lang="ru-RU" dirty="0"/>
              <a:t>оперируют </a:t>
            </a:r>
            <a:r>
              <a:rPr lang="ru-RU" dirty="0" smtClean="0"/>
              <a:t>данными БД</a:t>
            </a:r>
            <a:r>
              <a:rPr lang="ru-RU" dirty="0"/>
              <a:t>, в рамках выделенных им привилегий.</a:t>
            </a:r>
          </a:p>
          <a:p>
            <a:pPr marL="1077913" indent="-354013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2270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Первоначальная </a:t>
            </a:r>
            <a:r>
              <a:rPr lang="ru-RU" dirty="0"/>
              <a:t>учетная запись для администраторов БД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53825"/>
            <a:ext cx="8229600" cy="3674005"/>
          </a:xfrm>
        </p:spPr>
        <p:txBody>
          <a:bodyPr/>
          <a:lstStyle/>
          <a:p>
            <a:r>
              <a:rPr lang="ru-RU" dirty="0"/>
              <a:t>Как правило, для администраторов БД сделана первоначальная учетная запись, чтобы сделать первоначальный вход в систему. </a:t>
            </a:r>
            <a:endParaRPr lang="ru-RU" dirty="0" smtClean="0"/>
          </a:p>
          <a:p>
            <a:r>
              <a:rPr lang="ru-RU" dirty="0" smtClean="0"/>
              <a:t>Например</a:t>
            </a:r>
            <a:r>
              <a:rPr lang="ru-RU" dirty="0"/>
              <a:t>, </a:t>
            </a:r>
            <a:endParaRPr lang="ru-RU" dirty="0" smtClean="0"/>
          </a:p>
          <a:p>
            <a:pPr marL="1257300" indent="-361950">
              <a:buFont typeface="Wingdings" panose="05000000000000000000" pitchFamily="2" charset="2"/>
              <a:buChar char="Ø"/>
            </a:pPr>
            <a:r>
              <a:rPr lang="ru-RU" dirty="0" smtClean="0"/>
              <a:t>в </a:t>
            </a:r>
            <a:r>
              <a:rPr lang="ru-RU" dirty="0" err="1"/>
              <a:t>InterBase</a:t>
            </a:r>
            <a:r>
              <a:rPr lang="ru-RU" dirty="0"/>
              <a:t>: SISDBA с </a:t>
            </a:r>
            <a:r>
              <a:rPr lang="ru-RU" dirty="0" err="1"/>
              <a:t>masterkey</a:t>
            </a:r>
            <a:r>
              <a:rPr lang="ru-RU" dirty="0"/>
              <a:t>; </a:t>
            </a:r>
            <a:endParaRPr lang="ru-RU" dirty="0" smtClean="0"/>
          </a:p>
          <a:p>
            <a:pPr marL="1257300" indent="-361950">
              <a:buFont typeface="Wingdings" panose="05000000000000000000" pitchFamily="2" charset="2"/>
              <a:buChar char="Ø"/>
            </a:pPr>
            <a:r>
              <a:rPr lang="ru-RU" dirty="0" smtClean="0"/>
              <a:t>в </a:t>
            </a:r>
            <a:r>
              <a:rPr lang="ru-RU" dirty="0"/>
              <a:t>SQL-</a:t>
            </a:r>
            <a:r>
              <a:rPr lang="ru-RU" dirty="0" err="1"/>
              <a:t>server</a:t>
            </a:r>
            <a:r>
              <a:rPr lang="ru-RU" dirty="0"/>
              <a:t>: SA и пустой пароль; </a:t>
            </a:r>
            <a:endParaRPr lang="ru-RU" dirty="0" smtClean="0"/>
          </a:p>
          <a:p>
            <a:pPr marL="1257300" indent="-361950">
              <a:buFont typeface="Wingdings" panose="05000000000000000000" pitchFamily="2" charset="2"/>
              <a:buChar char="Ø"/>
            </a:pPr>
            <a:r>
              <a:rPr lang="ru-RU" dirty="0" smtClean="0"/>
              <a:t>в </a:t>
            </a:r>
            <a:r>
              <a:rPr lang="ru-RU" dirty="0" err="1"/>
              <a:t>Oracle</a:t>
            </a:r>
            <a:r>
              <a:rPr lang="ru-RU" dirty="0"/>
              <a:t> есть три начальных учетных записи: SIS, SYSTEM и MANAGER.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89163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Категории </a:t>
            </a:r>
            <a:r>
              <a:rPr lang="ru-RU" dirty="0"/>
              <a:t>пользователей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 СУБД </a:t>
            </a:r>
            <a:r>
              <a:rPr lang="ru-RU" dirty="0"/>
              <a:t>ЛИНТЕР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8525"/>
          </a:xfrm>
        </p:spPr>
        <p:txBody>
          <a:bodyPr/>
          <a:lstStyle/>
          <a:p>
            <a:r>
              <a:rPr lang="ru-RU" dirty="0"/>
              <a:t>Пример категорий пользователей в </a:t>
            </a:r>
            <a:r>
              <a:rPr lang="ru-RU" dirty="0" smtClean="0"/>
              <a:t>СУБД </a:t>
            </a:r>
            <a:r>
              <a:rPr lang="ru-RU" dirty="0"/>
              <a:t>ЛИНТЕР: </a:t>
            </a:r>
          </a:p>
          <a:p>
            <a:pPr marL="990600" indent="-361950">
              <a:buFont typeface="Wingdings" panose="05000000000000000000" pitchFamily="2" charset="2"/>
              <a:buChar char="q"/>
            </a:pPr>
            <a:r>
              <a:rPr lang="ru-RU" i="1" dirty="0" smtClean="0"/>
              <a:t>администратор </a:t>
            </a:r>
            <a:r>
              <a:rPr lang="ru-RU" i="1" dirty="0"/>
              <a:t>базы данных </a:t>
            </a:r>
            <a:r>
              <a:rPr lang="ru-RU" dirty="0"/>
              <a:t>– категория DBA. Он управляет созданием БД, ее конфигурированием, регистрацией пользователей, групп, ролей, записью регистрационной информации и т.п.</a:t>
            </a:r>
          </a:p>
          <a:p>
            <a:pPr marL="990600" indent="-361950">
              <a:buFont typeface="Wingdings" panose="05000000000000000000" pitchFamily="2" charset="2"/>
              <a:buChar char="q"/>
            </a:pPr>
            <a:r>
              <a:rPr lang="ru-RU" i="1" dirty="0" smtClean="0"/>
              <a:t>привилегированные </a:t>
            </a:r>
            <a:r>
              <a:rPr lang="ru-RU" i="1" dirty="0"/>
              <a:t>пользователи БД </a:t>
            </a:r>
            <a:r>
              <a:rPr lang="ru-RU" dirty="0"/>
              <a:t>– категория RESOURCE. Это пользователи, которые имеют право на создание собственных объектов БД и управление привилегиями доступа к ним.</a:t>
            </a:r>
          </a:p>
          <a:p>
            <a:pPr marL="990600" indent="-361950">
              <a:buFont typeface="Wingdings" panose="05000000000000000000" pitchFamily="2" charset="2"/>
              <a:buChar char="q"/>
            </a:pPr>
            <a:r>
              <a:rPr lang="ru-RU" i="1" dirty="0" smtClean="0"/>
              <a:t>пользователи </a:t>
            </a:r>
            <a:r>
              <a:rPr lang="ru-RU" i="1" dirty="0"/>
              <a:t>БД </a:t>
            </a:r>
            <a:r>
              <a:rPr lang="ru-RU" dirty="0"/>
              <a:t>– категория CONNECT оперируют с объектами БД в рамках выделенных им привилегий доступа.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37497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привилегий в СУБД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7180" y="1690805"/>
            <a:ext cx="8525290" cy="4348485"/>
          </a:xfrm>
        </p:spPr>
        <p:txBody>
          <a:bodyPr/>
          <a:lstStyle/>
          <a:p>
            <a:r>
              <a:rPr lang="ru-RU" dirty="0"/>
              <a:t>Привилегии в СУБД можно подразделить на две категории: </a:t>
            </a:r>
          </a:p>
          <a:p>
            <a:pPr marL="1598612" indent="-342900">
              <a:buFont typeface="Wingdings" panose="05000000000000000000" pitchFamily="2" charset="2"/>
              <a:buChar char="Ø"/>
            </a:pPr>
            <a:r>
              <a:rPr lang="ru-RU" b="1" i="1" dirty="0" smtClean="0"/>
              <a:t>привилегии </a:t>
            </a:r>
            <a:r>
              <a:rPr lang="ru-RU" b="1" i="1" dirty="0"/>
              <a:t>безопасности </a:t>
            </a:r>
            <a:r>
              <a:rPr lang="ru-RU" dirty="0"/>
              <a:t>– позволяют выполнять административные действия в БД;</a:t>
            </a:r>
          </a:p>
          <a:p>
            <a:pPr marL="1598612" indent="-342900">
              <a:buFont typeface="Wingdings" panose="05000000000000000000" pitchFamily="2" charset="2"/>
              <a:buChar char="Ø"/>
            </a:pPr>
            <a:r>
              <a:rPr lang="ru-RU" b="1" i="1" dirty="0" smtClean="0"/>
              <a:t>привилегии </a:t>
            </a:r>
            <a:r>
              <a:rPr lang="ru-RU" b="1" i="1" dirty="0"/>
              <a:t>доступа </a:t>
            </a:r>
            <a:r>
              <a:rPr lang="ru-RU" dirty="0"/>
              <a:t>– определяют права доступа субъектов к объектам БД.</a:t>
            </a:r>
          </a:p>
          <a:p>
            <a:r>
              <a:rPr lang="ru-RU" dirty="0" smtClean="0"/>
              <a:t>Привилегии </a:t>
            </a:r>
            <a:r>
              <a:rPr lang="ru-RU" dirty="0"/>
              <a:t>безопасности всегда выделяются конкретному пользователю (а не группе, роли или всем) при его создании (оператором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CRЕATE USER</a:t>
            </a:r>
            <a:r>
              <a:rPr lang="ru-RU" dirty="0"/>
              <a:t>) или при изменения его привилегий (оператором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ALTER USЕR</a:t>
            </a:r>
            <a:r>
              <a:rPr lang="ru-RU" dirty="0"/>
              <a:t>). </a:t>
            </a:r>
            <a:endParaRPr lang="ru-RU" dirty="0" smtClean="0"/>
          </a:p>
          <a:p>
            <a:r>
              <a:rPr lang="ru-RU" dirty="0" smtClean="0"/>
              <a:t>Набор </a:t>
            </a:r>
            <a:r>
              <a:rPr lang="ru-RU" dirty="0"/>
              <a:t>привилегий безопасности определяется разработчиком СУБД.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00618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Привилегии </a:t>
            </a:r>
            <a:r>
              <a:rPr lang="ru-RU" dirty="0" smtClean="0"/>
              <a:t>безопасности </a:t>
            </a:r>
            <a:br>
              <a:rPr lang="ru-RU" dirty="0" smtClean="0"/>
            </a:br>
            <a:r>
              <a:rPr lang="ru-RU" dirty="0" smtClean="0"/>
              <a:t>в </a:t>
            </a:r>
            <a:r>
              <a:rPr lang="ru-RU" dirty="0"/>
              <a:t>СУБД INGRES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531" y="1600200"/>
            <a:ext cx="8685964" cy="47085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security</a:t>
            </a:r>
            <a:r>
              <a:rPr lang="ru-RU" dirty="0" smtClean="0"/>
              <a:t> </a:t>
            </a:r>
            <a:r>
              <a:rPr lang="ru-RU" dirty="0"/>
              <a:t>– право управлять </a:t>
            </a:r>
            <a:r>
              <a:rPr lang="ru-RU" dirty="0" smtClean="0"/>
              <a:t>всей безопасностью СУБД  (админ </a:t>
            </a:r>
            <a:r>
              <a:rPr lang="ru-RU" dirty="0"/>
              <a:t>сервера БД, а также </a:t>
            </a:r>
            <a:r>
              <a:rPr lang="ru-RU" dirty="0" smtClean="0"/>
              <a:t>лицо, отвечающее </a:t>
            </a:r>
            <a:r>
              <a:rPr lang="ru-RU" dirty="0"/>
              <a:t>за </a:t>
            </a:r>
            <a:r>
              <a:rPr lang="ru-RU" dirty="0" smtClean="0"/>
              <a:t>ИБ);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createdb</a:t>
            </a:r>
            <a:r>
              <a:rPr lang="ru-RU" dirty="0" smtClean="0"/>
              <a:t> </a:t>
            </a:r>
            <a:r>
              <a:rPr lang="ru-RU" dirty="0"/>
              <a:t>– право на создание и удаление </a:t>
            </a:r>
            <a:r>
              <a:rPr lang="ru-RU" dirty="0" smtClean="0"/>
              <a:t>БД (адм. </a:t>
            </a:r>
            <a:r>
              <a:rPr lang="ru-RU" dirty="0"/>
              <a:t>сервера </a:t>
            </a:r>
            <a:r>
              <a:rPr lang="ru-RU" dirty="0" smtClean="0"/>
              <a:t>БД и адм. </a:t>
            </a:r>
            <a:r>
              <a:rPr lang="ru-RU" dirty="0"/>
              <a:t>отдельных </a:t>
            </a:r>
            <a:r>
              <a:rPr lang="ru-RU" dirty="0" smtClean="0"/>
              <a:t>БД);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ru-RU" dirty="0" smtClean="0"/>
              <a:t> </a:t>
            </a:r>
            <a:r>
              <a:rPr lang="ru-RU" dirty="0"/>
              <a:t>– право на выполнение </a:t>
            </a:r>
            <a:r>
              <a:rPr lang="ru-RU" dirty="0" smtClean="0"/>
              <a:t>действий оператора </a:t>
            </a:r>
            <a:r>
              <a:rPr lang="ru-RU" dirty="0"/>
              <a:t>(</a:t>
            </a:r>
            <a:r>
              <a:rPr lang="ru-RU" dirty="0" smtClean="0"/>
              <a:t>адм. </a:t>
            </a:r>
            <a:r>
              <a:rPr lang="ru-RU" dirty="0"/>
              <a:t>сервера БД и </a:t>
            </a:r>
            <a:r>
              <a:rPr lang="ru-RU" dirty="0" smtClean="0"/>
              <a:t>адм. </a:t>
            </a:r>
            <a:r>
              <a:rPr lang="ru-RU" dirty="0"/>
              <a:t>отдельных </a:t>
            </a:r>
            <a:r>
              <a:rPr lang="ru-RU" dirty="0" smtClean="0"/>
              <a:t>БД, админ ОС);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spc="-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maintain</a:t>
            </a:r>
            <a:r>
              <a:rPr lang="ru-RU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pc="-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locations</a:t>
            </a:r>
            <a:r>
              <a:rPr lang="ru-RU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/>
              <a:t>– </a:t>
            </a:r>
            <a:r>
              <a:rPr lang="ru-RU" dirty="0"/>
              <a:t>право на управление </a:t>
            </a:r>
            <a:r>
              <a:rPr lang="ru-RU" dirty="0" smtClean="0"/>
              <a:t>расположением </a:t>
            </a:r>
            <a:r>
              <a:rPr lang="ru-RU" dirty="0"/>
              <a:t>БД на </a:t>
            </a:r>
            <a:r>
              <a:rPr lang="ru-RU" dirty="0" smtClean="0"/>
              <a:t>дисках (адм. сервера </a:t>
            </a:r>
            <a:r>
              <a:rPr lang="ru-RU" dirty="0"/>
              <a:t>БД и </a:t>
            </a:r>
            <a:r>
              <a:rPr lang="ru-RU" dirty="0" smtClean="0"/>
              <a:t>адм. ОС);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trace</a:t>
            </a:r>
            <a:r>
              <a:rPr lang="ru-RU" dirty="0" smtClean="0"/>
              <a:t> </a:t>
            </a:r>
            <a:r>
              <a:rPr lang="ru-RU" dirty="0"/>
              <a:t>– право на изменение состояния флагов отладочной трассировки </a:t>
            </a:r>
            <a:r>
              <a:rPr lang="ru-RU" dirty="0" smtClean="0"/>
              <a:t>СУБД (адм. </a:t>
            </a:r>
            <a:r>
              <a:rPr lang="ru-RU" dirty="0"/>
              <a:t>сервера БД и </a:t>
            </a:r>
            <a:r>
              <a:rPr lang="ru-RU" dirty="0" smtClean="0"/>
              <a:t>другие знающие пользователи </a:t>
            </a:r>
            <a:r>
              <a:rPr lang="ru-RU" dirty="0"/>
              <a:t>при анализе сложных </a:t>
            </a:r>
            <a:r>
              <a:rPr lang="ru-RU" dirty="0" smtClean="0"/>
              <a:t>ситуаций).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7092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7190" y="274638"/>
            <a:ext cx="8480285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Установление привилегий безопасности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199" y="1493785"/>
            <a:ext cx="8390275" cy="4708525"/>
          </a:xfrm>
        </p:spPr>
        <p:txBody>
          <a:bodyPr/>
          <a:lstStyle/>
          <a:p>
            <a:r>
              <a:rPr lang="ru-RU" b="1" dirty="0" smtClean="0"/>
              <a:t>Пример. </a:t>
            </a:r>
            <a:r>
              <a:rPr lang="ru-RU" dirty="0" smtClean="0"/>
              <a:t>Заводится </a:t>
            </a:r>
            <a:r>
              <a:rPr lang="ru-RU" dirty="0"/>
              <a:t>пользователь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r>
              <a:rPr lang="ru-RU" dirty="0" smtClean="0"/>
              <a:t> </a:t>
            </a:r>
            <a:r>
              <a:rPr lang="ru-RU" dirty="0"/>
              <a:t>с правом на создание БД и на выполнение функций оператора</a:t>
            </a:r>
            <a:r>
              <a:rPr lang="ru-RU" dirty="0" smtClean="0"/>
              <a:t>:</a:t>
            </a:r>
          </a:p>
          <a:p>
            <a:pPr marL="136525" indent="395288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 Bill</a:t>
            </a: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PRIVILEGES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operator;</a:t>
            </a:r>
          </a:p>
          <a:p>
            <a:pPr marL="136525" indent="0">
              <a:buNone/>
            </a:pPr>
            <a:r>
              <a:rPr lang="ru-RU" dirty="0" smtClean="0"/>
              <a:t>     </a:t>
            </a:r>
            <a:r>
              <a:rPr lang="en-US" dirty="0" smtClean="0"/>
              <a:t>{</a:t>
            </a:r>
            <a:r>
              <a:rPr lang="ru-RU" dirty="0"/>
              <a:t>создать пользователя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r>
              <a:rPr lang="en-US" dirty="0"/>
              <a:t> </a:t>
            </a:r>
            <a:r>
              <a:rPr lang="ru-RU" dirty="0"/>
              <a:t>с привилегиями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createdb</a:t>
            </a:r>
            <a:r>
              <a:rPr lang="en-US" dirty="0"/>
              <a:t> </a:t>
            </a:r>
            <a:r>
              <a:rPr lang="ru-RU" dirty="0" smtClean="0"/>
              <a:t> 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       и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dirty="0"/>
              <a:t>}.</a:t>
            </a:r>
          </a:p>
          <a:p>
            <a:r>
              <a:rPr lang="ru-RU" dirty="0"/>
              <a:t>Для пользователя можно определить подразумеваемую группу:</a:t>
            </a: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USER Mary</a:t>
            </a: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GROUP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shoe_grp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0">
              <a:buNone/>
            </a:pPr>
            <a:r>
              <a:rPr lang="ru-RU" dirty="0" smtClean="0"/>
              <a:t>     </a:t>
            </a:r>
            <a:r>
              <a:rPr lang="en-US" dirty="0" smtClean="0"/>
              <a:t>{</a:t>
            </a:r>
            <a:r>
              <a:rPr lang="ru-RU" dirty="0"/>
              <a:t>создать пользователя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Mary</a:t>
            </a:r>
            <a:r>
              <a:rPr lang="en-US" dirty="0"/>
              <a:t> </a:t>
            </a:r>
            <a:r>
              <a:rPr lang="ru-RU" dirty="0"/>
              <a:t>с подразумеваемой </a:t>
            </a:r>
            <a:r>
              <a:rPr lang="ru-RU" dirty="0" smtClean="0"/>
              <a:t>группой</a:t>
            </a:r>
            <a:r>
              <a:rPr lang="en-US" dirty="0" smtClean="0"/>
              <a:t>}.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49703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079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Изменение </a:t>
            </a:r>
            <a:r>
              <a:rPr lang="ru-RU" dirty="0"/>
              <a:t>привилегий безопасности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15235"/>
            <a:ext cx="8229600" cy="4079050"/>
          </a:xfrm>
        </p:spPr>
        <p:txBody>
          <a:bodyPr/>
          <a:lstStyle/>
          <a:p>
            <a:r>
              <a:rPr lang="ru-RU" dirty="0" smtClean="0"/>
              <a:t>Все последующие </a:t>
            </a:r>
            <a:r>
              <a:rPr lang="ru-RU" dirty="0"/>
              <a:t>изменения привилегий безопасности выполняются посредством оператора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ALTER USER</a:t>
            </a:r>
            <a:r>
              <a:rPr lang="ru-RU" dirty="0"/>
              <a:t>. Оператор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DROP USER </a:t>
            </a:r>
            <a:r>
              <a:rPr lang="ru-RU" dirty="0"/>
              <a:t>позволяет удалить пользователя. </a:t>
            </a:r>
          </a:p>
          <a:p>
            <a:r>
              <a:rPr lang="ru-RU" dirty="0"/>
              <a:t>Примеры:</a:t>
            </a:r>
          </a:p>
          <a:p>
            <a:pPr marL="136525" indent="3952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ALTER USER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3952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DROP PRIVILEGES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createdb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36525" indent="0">
              <a:buNone/>
            </a:pPr>
            <a:r>
              <a:rPr lang="en-US" dirty="0" smtClean="0"/>
              <a:t>     </a:t>
            </a:r>
            <a:r>
              <a:rPr lang="ru-RU" dirty="0" smtClean="0"/>
              <a:t>{</a:t>
            </a:r>
            <a:r>
              <a:rPr lang="ru-RU" dirty="0"/>
              <a:t>лишить пользователя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r>
              <a:rPr lang="ru-RU" dirty="0"/>
              <a:t> права на создание БД}.</a:t>
            </a:r>
          </a:p>
          <a:p>
            <a:pPr marL="136525" indent="3952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DROP USER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36525" indent="0">
              <a:buNone/>
            </a:pPr>
            <a:r>
              <a:rPr lang="en-US" dirty="0" smtClean="0"/>
              <a:t>     </a:t>
            </a:r>
            <a:r>
              <a:rPr lang="ru-RU" dirty="0" smtClean="0"/>
              <a:t>{</a:t>
            </a:r>
            <a:r>
              <a:rPr lang="ru-RU" dirty="0"/>
              <a:t>удалить пользователя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r>
              <a:rPr lang="ru-RU" dirty="0"/>
              <a:t>}.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92879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Привилегии доступа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1540" y="1600200"/>
            <a:ext cx="8345270" cy="4708525"/>
          </a:xfrm>
        </p:spPr>
        <p:txBody>
          <a:bodyPr/>
          <a:lstStyle/>
          <a:p>
            <a:r>
              <a:rPr lang="ru-RU" dirty="0" smtClean="0"/>
              <a:t>В СУБД авторизация </a:t>
            </a:r>
            <a:r>
              <a:rPr lang="ru-RU" dirty="0"/>
              <a:t>доступа к данным осуществляется с помощью привилегий доступа. </a:t>
            </a:r>
            <a:endParaRPr lang="ru-RU" dirty="0" smtClean="0"/>
          </a:p>
          <a:p>
            <a:r>
              <a:rPr lang="ru-RU" dirty="0" smtClean="0"/>
              <a:t>Установление </a:t>
            </a:r>
            <a:r>
              <a:rPr lang="ru-RU" dirty="0"/>
              <a:t>привилегий доступа зависит от вида управления доступом. Для </a:t>
            </a:r>
            <a:r>
              <a:rPr lang="ru-RU" dirty="0" smtClean="0"/>
              <a:t>ДУД – </a:t>
            </a:r>
            <a:r>
              <a:rPr lang="ru-RU" dirty="0"/>
              <a:t>это задача владельца объекта. Для </a:t>
            </a:r>
            <a:r>
              <a:rPr lang="ru-RU" dirty="0" smtClean="0"/>
              <a:t>ПУД – </a:t>
            </a:r>
            <a:r>
              <a:rPr lang="ru-RU" dirty="0"/>
              <a:t>это задача </a:t>
            </a:r>
            <a:r>
              <a:rPr lang="ru-RU" dirty="0" smtClean="0"/>
              <a:t>админа </a:t>
            </a:r>
            <a:r>
              <a:rPr lang="ru-RU" dirty="0"/>
              <a:t>БД. </a:t>
            </a:r>
            <a:endParaRPr lang="ru-RU" dirty="0" smtClean="0"/>
          </a:p>
          <a:p>
            <a:r>
              <a:rPr lang="ru-RU" dirty="0" smtClean="0"/>
              <a:t>Контроль </a:t>
            </a:r>
            <a:r>
              <a:rPr lang="ru-RU" dirty="0"/>
              <a:t>привилегий доступа, независимо от вида управления доступом, </a:t>
            </a:r>
            <a:r>
              <a:rPr lang="ru-RU" dirty="0" smtClean="0"/>
              <a:t>обычно, возлагается </a:t>
            </a:r>
            <a:r>
              <a:rPr lang="ru-RU" dirty="0"/>
              <a:t>на </a:t>
            </a:r>
            <a:r>
              <a:rPr lang="ru-RU" dirty="0" smtClean="0"/>
              <a:t>админа </a:t>
            </a:r>
            <a:r>
              <a:rPr lang="ru-RU" dirty="0"/>
              <a:t>БД. </a:t>
            </a:r>
            <a:endParaRPr lang="ru-RU" dirty="0" smtClean="0"/>
          </a:p>
          <a:p>
            <a:r>
              <a:rPr lang="ru-RU" dirty="0"/>
              <a:t>Создавать и удалять именованные носители привилегий, а также изменять их характеристики может лишь пользователь с привилегией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</a:t>
            </a:r>
            <a:r>
              <a:rPr lang="ru-RU" dirty="0"/>
              <a:t>. При </a:t>
            </a:r>
            <a:r>
              <a:rPr lang="ru-RU" dirty="0" smtClean="0"/>
              <a:t>этом </a:t>
            </a:r>
            <a:r>
              <a:rPr lang="ru-RU" dirty="0"/>
              <a:t>необходимо иметь подключение к служебной </a:t>
            </a:r>
            <a:r>
              <a:rPr lang="ru-RU" dirty="0" smtClean="0"/>
              <a:t>БД, </a:t>
            </a:r>
            <a:r>
              <a:rPr lang="ru-RU" dirty="0"/>
              <a:t>в которой хранятся сведения о субъектах и их привилегиях.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19999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ривилегии доступа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708525"/>
          </a:xfrm>
        </p:spPr>
        <p:txBody>
          <a:bodyPr/>
          <a:lstStyle/>
          <a:p>
            <a:r>
              <a:rPr lang="ru-RU" dirty="0"/>
              <a:t>Набор привилегий можно определить для конкретного </a:t>
            </a:r>
            <a:r>
              <a:rPr lang="ru-RU" dirty="0" smtClean="0"/>
              <a:t>пользователя</a:t>
            </a:r>
            <a:r>
              <a:rPr lang="ru-RU" dirty="0"/>
              <a:t>, </a:t>
            </a:r>
            <a:r>
              <a:rPr lang="ru-RU" dirty="0" smtClean="0"/>
              <a:t>группы, </a:t>
            </a:r>
            <a:r>
              <a:rPr lang="ru-RU" dirty="0"/>
              <a:t>роли или всех пользователей. </a:t>
            </a:r>
            <a:endParaRPr lang="ru-RU" dirty="0" smtClean="0"/>
          </a:p>
          <a:p>
            <a:r>
              <a:rPr lang="ru-RU" dirty="0"/>
              <a:t>Объектом защиты может быть БД, таблица, представление, хранимая процедура и т.д. </a:t>
            </a:r>
          </a:p>
          <a:p>
            <a:r>
              <a:rPr lang="ru-RU" dirty="0" smtClean="0"/>
              <a:t>Субъектом </a:t>
            </a:r>
            <a:r>
              <a:rPr lang="ru-RU" dirty="0"/>
              <a:t>защиты может быть пользователь, группа </a:t>
            </a:r>
            <a:r>
              <a:rPr lang="ru-RU" dirty="0" smtClean="0"/>
              <a:t>пользователей, роль</a:t>
            </a:r>
            <a:r>
              <a:rPr lang="ru-RU" dirty="0"/>
              <a:t>, </a:t>
            </a:r>
            <a:r>
              <a:rPr lang="ru-RU" dirty="0" smtClean="0"/>
              <a:t>хранимая процедура (если это предусмотрено реализацией СУБД).</a:t>
            </a:r>
            <a:endParaRPr lang="ru-RU" dirty="0"/>
          </a:p>
          <a:p>
            <a:pPr>
              <a:buClrTx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Привилегии устанавливаются и отменяются операторами языка SQL: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GRANT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(передать) и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REVOKE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(отобрать). </a:t>
            </a:r>
          </a:p>
          <a:p>
            <a:pPr>
              <a:buClrTx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Оператор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GRANT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указывает конкретного пользователя, который получает конкретные привилегии доступа к указанной таблице.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15</a:t>
            </a:fld>
            <a:endParaRPr lang="ru-RU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Установление привилегий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1500174"/>
            <a:ext cx="8686800" cy="4708525"/>
          </a:xfrm>
        </p:spPr>
        <p:txBody>
          <a:bodyPr/>
          <a:lstStyle/>
          <a:p>
            <a:pPr>
              <a:buClrTx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Конкретный пользователь СУБД опознается по уникальному идентификатору (</a:t>
            </a:r>
            <a:r>
              <a:rPr lang="ru-RU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user-id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 Любое действие над БД, любой оператор языка SQL </a:t>
            </a:r>
            <a:r>
              <a:rPr lang="ru-RU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всегда выполняется не анонимно, а от имени конкретного пользователя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pPr>
              <a:buClrTx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Идентификатор пользователя определяет набор доступных объектов БД для конкретного физического лица или группы лиц. Для того, чтобы связать идентификатор пользователя с конкретным оператором SQL, в большинстве СУБД используется сеанс работы с БД, в начале которого пользователь сообщает СУБД свой идентификатор и пароль. Все операции над БД, которые будут выполнены после этого, СУБД свяжет с этим конкретным пользователем. </a:t>
            </a:r>
          </a:p>
          <a:p>
            <a:pPr>
              <a:buClrTx/>
            </a:pP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16</a:t>
            </a:fld>
            <a:endParaRPr lang="ru-RU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Управление привилегиями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62050"/>
            <a:ext cx="8229600" cy="4708525"/>
          </a:xfrm>
        </p:spPr>
        <p:txBody>
          <a:bodyPr/>
          <a:lstStyle/>
          <a:p>
            <a:pPr lvl="0">
              <a:buClrTx/>
            </a:pP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Примеры.</a:t>
            </a:r>
          </a:p>
          <a:p>
            <a:pPr lvl="0">
              <a:buClrTx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Назначение привилегии субъекту: </a:t>
            </a:r>
          </a:p>
          <a:p>
            <a:pPr>
              <a:spcBef>
                <a:spcPts val="600"/>
              </a:spcBef>
              <a:buClrTx/>
              <a:buNone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GRANT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привилегия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[ON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объект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] TO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субъект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WITH GRANT OPTION]</a:t>
            </a:r>
            <a:endParaRPr lang="ru-RU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lvl="0">
              <a:buClrTx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Отмена привилегии субъекту: </a:t>
            </a:r>
          </a:p>
          <a:p>
            <a:pPr>
              <a:spcBef>
                <a:spcPts val="600"/>
              </a:spcBef>
              <a:buClrTx/>
              <a:buNone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REVOKE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привилегия [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ON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объект]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FROM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субъект</a:t>
            </a:r>
          </a:p>
          <a:p>
            <a:pPr>
              <a:buClrTx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Назначение привилегии всем пользователям системы :</a:t>
            </a:r>
          </a:p>
          <a:p>
            <a:pPr>
              <a:spcBef>
                <a:spcPts val="600"/>
              </a:spcBef>
              <a:buClrTx/>
              <a:buNone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GRANT 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привилегия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[ON 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объект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] TO PUBLIC</a:t>
            </a:r>
            <a:endParaRPr lang="ru-RU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538163" indent="-444500"/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Отмена привилегии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всем пользователям системы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>
              <a:spcBef>
                <a:spcPts val="600"/>
              </a:spcBef>
              <a:buClrTx/>
              <a:buNone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REVOKE 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привилегия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[ON 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объект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] FROM PUBLIC</a:t>
            </a:r>
            <a:endParaRPr lang="ru-RU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>
              <a:buClrTx/>
            </a:pP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17</a:t>
            </a:fld>
            <a:endParaRPr lang="ru-RU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привилегиями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</a:t>
            </a:r>
            <a:r>
              <a:rPr lang="ru-RU" dirty="0"/>
              <a:t> может содержать необязательную часть, принципиально важную для защиты СУБД. Имеется в виду конструкция</a:t>
            </a:r>
          </a:p>
          <a:p>
            <a:pPr marL="136525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GRANT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b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WITH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 OPTION</a:t>
            </a:r>
            <a:r>
              <a:rPr lang="ru-RU" dirty="0"/>
              <a:t>.</a:t>
            </a:r>
          </a:p>
          <a:p>
            <a:r>
              <a:rPr lang="ru-RU" dirty="0"/>
              <a:t>Подобный оператор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</a:t>
            </a:r>
            <a:r>
              <a:rPr lang="ru-RU" dirty="0"/>
              <a:t> передает не только указанные в нем привилегии, но и права на их дальнейшую передачу. Очевидно, что использование конструкции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WITH GRANT OPTION </a:t>
            </a:r>
            <a:r>
              <a:rPr lang="ru-RU" dirty="0"/>
              <a:t>ведет к децентрализации контроля над привилегиями и содержит потенциальную угрозу безопасности данных.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79802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1862"/>
          </a:xfrm>
        </p:spPr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Группы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6535" y="1339850"/>
            <a:ext cx="8392446" cy="4708525"/>
          </a:xfrm>
        </p:spPr>
        <p:txBody>
          <a:bodyPr/>
          <a:lstStyle/>
          <a:p>
            <a:pPr>
              <a:buClrTx/>
            </a:pP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облегчения процесса администрирования большого количества пользователей их объединяют в </a:t>
            </a:r>
            <a:r>
              <a:rPr lang="ru-RU" sz="25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группы</a:t>
            </a:r>
            <a:r>
              <a:rPr lang="ru-RU" sz="2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buClrTx/>
            </a:pP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Применяются три способа сочетания индивидуальных и групповых прав в доступах пользователей:</a:t>
            </a:r>
          </a:p>
          <a:p>
            <a:pPr marL="1077913" lvl="0" indent="-273050">
              <a:buClrTx/>
              <a:buFont typeface="Wingdings" pitchFamily="2" charset="2"/>
              <a:buChar char="Ø"/>
            </a:pP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Один и тот же идентификатор используется для доступа к БД целой группы физических лиц. </a:t>
            </a:r>
          </a:p>
          <a:p>
            <a:pPr marL="1077913" lvl="0" indent="-273050">
              <a:buClrTx/>
              <a:buFont typeface="Wingdings" pitchFamily="2" charset="2"/>
              <a:buChar char="Ø"/>
            </a:pP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Конкретному физическому лицу присваивается уникальный идентификатор. </a:t>
            </a:r>
          </a:p>
          <a:p>
            <a:pPr marL="1077913" lvl="0" indent="-273050">
              <a:buClrTx/>
              <a:buFont typeface="Wingdings" pitchFamily="2" charset="2"/>
              <a:buChar char="Ø"/>
            </a:pP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Одновременно поддерживается идентификатор пользователя и идентификатор группы пользователей. </a:t>
            </a:r>
          </a:p>
          <a:p>
            <a:pPr>
              <a:buClrTx/>
            </a:pPr>
            <a:endParaRPr lang="ru-RU" sz="2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19</a:t>
            </a:fld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Группы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99030"/>
          </a:xfrm>
        </p:spPr>
        <p:txBody>
          <a:bodyPr/>
          <a:lstStyle/>
          <a:p>
            <a:r>
              <a:rPr lang="ru-RU" dirty="0"/>
              <a:t>Когда пользователь тем или иным способом инициирует сеанс работы с БД, он может указать, от имени какой из своих групп он выступает. Кроме того, для пользователя обычно определяют подразумеваемую группу.</a:t>
            </a:r>
          </a:p>
          <a:p>
            <a:r>
              <a:rPr lang="ru-RU" dirty="0"/>
              <a:t>Совокупность всех пользователей именуется как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u-RU" dirty="0"/>
              <a:t>. Придание привилегий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u-RU" dirty="0"/>
              <a:t> – удобный способ задать подразумеваемые права доступа.</a:t>
            </a:r>
          </a:p>
          <a:p>
            <a:r>
              <a:rPr lang="ru-RU" dirty="0"/>
              <a:t>Прежде чем присваивать привилегии группам и ролям, их (группы и роли) необходимо создать.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69815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 и изменение групп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165" y="1493785"/>
            <a:ext cx="8750315" cy="4708525"/>
          </a:xfrm>
        </p:spPr>
        <p:txBody>
          <a:bodyPr/>
          <a:lstStyle/>
          <a:p>
            <a:r>
              <a:rPr lang="ru-RU" dirty="0"/>
              <a:t>Группы создаются с помощью оператора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CRFATE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ru-RU" dirty="0" smtClean="0"/>
              <a:t>:</a:t>
            </a:r>
            <a:endParaRPr lang="ru-RU" dirty="0"/>
          </a:p>
          <a:p>
            <a:pPr marL="136525" indent="395288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 sales</a:t>
            </a: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USERS = (Bill, Mary, Joe);</a:t>
            </a:r>
          </a:p>
          <a:p>
            <a:pPr marL="136525" indent="395288">
              <a:buNone/>
            </a:pPr>
            <a:r>
              <a:rPr lang="en-US" dirty="0" smtClean="0"/>
              <a:t>{</a:t>
            </a:r>
            <a:r>
              <a:rPr lang="ru-RU" dirty="0" smtClean="0"/>
              <a:t>Создать </a:t>
            </a:r>
            <a:r>
              <a:rPr lang="ru-RU" dirty="0"/>
              <a:t>группу </a:t>
            </a:r>
            <a:r>
              <a:rPr lang="en-US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dirty="0"/>
              <a:t> </a:t>
            </a:r>
            <a:r>
              <a:rPr lang="ru-RU" dirty="0"/>
              <a:t>с </a:t>
            </a:r>
            <a:r>
              <a:rPr lang="ru-RU" dirty="0" smtClean="0"/>
              <a:t>пользователями </a:t>
            </a:r>
            <a:r>
              <a:rPr lang="en-US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r>
              <a:rPr lang="en-US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, Mary, J</a:t>
            </a:r>
            <a:r>
              <a:rPr lang="ru-RU" spc="-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ое</a:t>
            </a:r>
            <a:r>
              <a:rPr lang="ru-RU" spc="-200" dirty="0"/>
              <a:t>}.</a:t>
            </a:r>
          </a:p>
          <a:p>
            <a:r>
              <a:rPr lang="ru-RU" dirty="0" smtClean="0"/>
              <a:t>Для изменения группы служит оператор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ALTER GROUP</a:t>
            </a:r>
            <a:r>
              <a:rPr lang="en-US" dirty="0"/>
              <a:t>:</a:t>
            </a: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ALTER GROUP sales</a:t>
            </a: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USERS (Austin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395288">
              <a:buNone/>
            </a:pPr>
            <a:r>
              <a:rPr lang="en-US" dirty="0" smtClean="0"/>
              <a:t>{</a:t>
            </a:r>
            <a:r>
              <a:rPr lang="ru-RU" dirty="0"/>
              <a:t>Добавить в группу </a:t>
            </a:r>
            <a:r>
              <a:rPr lang="en-US" dirty="0"/>
              <a:t>sales </a:t>
            </a:r>
            <a:r>
              <a:rPr lang="ru-RU" dirty="0"/>
              <a:t>пользователя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А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ustin</a:t>
            </a:r>
            <a:r>
              <a:rPr lang="en-US" dirty="0"/>
              <a:t>}</a:t>
            </a:r>
          </a:p>
          <a:p>
            <a:pPr marL="136525" indent="0">
              <a:buNone/>
            </a:pPr>
            <a:r>
              <a:rPr lang="ru-RU" dirty="0" smtClean="0"/>
              <a:t>  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ALTER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 sales</a:t>
            </a:r>
          </a:p>
          <a:p>
            <a:pPr marL="136525" indent="0">
              <a:buNone/>
            </a:pPr>
            <a:r>
              <a:rPr lang="ru-RU" dirty="0" smtClean="0"/>
              <a:t>  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DR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ОР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USERS (Joe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136525" indent="0">
              <a:buNone/>
            </a:pPr>
            <a:r>
              <a:rPr lang="ru-RU" dirty="0" smtClean="0"/>
              <a:t>      </a:t>
            </a:r>
            <a:r>
              <a:rPr lang="en-US" dirty="0" smtClean="0"/>
              <a:t>{</a:t>
            </a:r>
            <a:r>
              <a:rPr lang="ru-RU" dirty="0" smtClean="0"/>
              <a:t>Удалить из группы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dirty="0" smtClean="0"/>
              <a:t> </a:t>
            </a:r>
            <a:r>
              <a:rPr lang="ru-RU" dirty="0" smtClean="0"/>
              <a:t>пользователя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Joe</a:t>
            </a:r>
            <a:r>
              <a:rPr lang="en-US" dirty="0" smtClean="0"/>
              <a:t>}</a:t>
            </a:r>
            <a:r>
              <a:rPr lang="ru-RU" dirty="0" smtClean="0"/>
              <a:t>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01619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95790"/>
            <a:ext cx="8229600" cy="1143000"/>
          </a:xfrm>
        </p:spPr>
        <p:txBody>
          <a:bodyPr/>
          <a:lstStyle/>
          <a:p>
            <a:r>
              <a:rPr lang="ru-RU" dirty="0" smtClean="0"/>
              <a:t>Удаление групп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3629000"/>
          </a:xfrm>
        </p:spPr>
        <p:txBody>
          <a:bodyPr/>
          <a:lstStyle/>
          <a:p>
            <a:r>
              <a:rPr lang="ru-RU" dirty="0" smtClean="0"/>
              <a:t>Оператор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GROUP</a:t>
            </a:r>
            <a:r>
              <a:rPr lang="en-US" dirty="0"/>
              <a:t> </a:t>
            </a:r>
            <a:r>
              <a:rPr lang="ru-RU" dirty="0"/>
              <a:t>позволяет удалять группы, правда только после того, как опустошен список членов </a:t>
            </a:r>
            <a:r>
              <a:rPr lang="ru-RU" dirty="0" smtClean="0"/>
              <a:t>группы:</a:t>
            </a:r>
            <a:endParaRPr lang="ru-RU" dirty="0"/>
          </a:p>
          <a:p>
            <a:pPr marL="136525" indent="395288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ALTER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 sales</a:t>
            </a: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all;</a:t>
            </a:r>
          </a:p>
          <a:p>
            <a:pPr marL="136525" indent="395288">
              <a:buNone/>
            </a:pPr>
            <a:r>
              <a:rPr lang="en-US" dirty="0"/>
              <a:t>{</a:t>
            </a:r>
            <a:r>
              <a:rPr lang="ru-RU" dirty="0"/>
              <a:t>Опустошить список членов группы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dirty="0"/>
              <a:t>}</a:t>
            </a: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GROUP sales;</a:t>
            </a:r>
          </a:p>
          <a:p>
            <a:pPr marL="136525" indent="395288">
              <a:buNone/>
            </a:pPr>
            <a:r>
              <a:rPr lang="en-US" dirty="0"/>
              <a:t>{</a:t>
            </a:r>
            <a:r>
              <a:rPr lang="ru-RU" dirty="0"/>
              <a:t>Удалить группу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dirty="0" smtClean="0"/>
              <a:t>}.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6932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Роли в СУБД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473200"/>
            <a:ext cx="8685965" cy="4708525"/>
          </a:xfrm>
          <a:noFill/>
          <a:ln>
            <a:noFill/>
          </a:ln>
        </p:spPr>
        <p:txBody>
          <a:bodyPr/>
          <a:lstStyle/>
          <a:p>
            <a:pPr>
              <a:buClrTx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Одна из проблем защиты данных в СУБД возникает по той причине, что с БД работают как прикладные программы (ПП), так и пользователи, которые их запускают. </a:t>
            </a:r>
          </a:p>
          <a:p>
            <a:r>
              <a:rPr lang="ru-RU" dirty="0" smtClean="0"/>
              <a:t>Запуск </a:t>
            </a:r>
            <a:r>
              <a:rPr lang="ru-RU" dirty="0"/>
              <a:t>ПП пользователями с различными правами доступа к данным, может приводить к нарушению </a:t>
            </a:r>
            <a:r>
              <a:rPr lang="ru-RU" dirty="0" smtClean="0"/>
              <a:t>безопасности в БД. </a:t>
            </a:r>
          </a:p>
          <a:p>
            <a:r>
              <a:rPr lang="ru-RU" dirty="0"/>
              <a:t>Решение этой проблемы заключается в том, чтобы ПП </a:t>
            </a:r>
            <a:r>
              <a:rPr lang="ru-RU" dirty="0" smtClean="0"/>
              <a:t>были </a:t>
            </a:r>
            <a:r>
              <a:rPr lang="ru-RU" dirty="0"/>
              <a:t>приданы свои, не связанные с конкретным пользователем, привилегии доступа к объектам БД, которые она обрабатывает. </a:t>
            </a:r>
            <a:endParaRPr lang="ru-RU" dirty="0" smtClean="0"/>
          </a:p>
          <a:p>
            <a:r>
              <a:rPr lang="ru-RU" dirty="0"/>
              <a:t>При этом </a:t>
            </a:r>
            <a:r>
              <a:rPr lang="ru-RU" dirty="0" smtClean="0"/>
              <a:t>админу </a:t>
            </a:r>
            <a:r>
              <a:rPr lang="ru-RU" dirty="0"/>
              <a:t>не нужно каждый раз при запуске пользователями ПП заботиться о соответствии привилегий пользователей и ПП. </a:t>
            </a:r>
            <a:endParaRPr lang="ru-RU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23</a:t>
            </a:fld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Роли в СУБД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современных СУБД  это решение обеспечивается механизмом </a:t>
            </a:r>
            <a:r>
              <a:rPr lang="ru-RU" b="1" i="1" dirty="0"/>
              <a:t>ролей</a:t>
            </a:r>
            <a:r>
              <a:rPr lang="ru-RU" dirty="0"/>
              <a:t> (</a:t>
            </a:r>
            <a:r>
              <a:rPr lang="ru-RU" dirty="0" err="1"/>
              <a:t>role</a:t>
            </a:r>
            <a:r>
              <a:rPr lang="ru-RU" dirty="0"/>
              <a:t>). При этом роль выступает в качестве промежуточной сущности между пользователями и их привилегиями. Роль реализуется как отдельный именованный </a:t>
            </a:r>
            <a:r>
              <a:rPr lang="ru-RU" dirty="0" smtClean="0"/>
              <a:t>объект, хранящийся в БД. </a:t>
            </a:r>
          </a:p>
          <a:p>
            <a:r>
              <a:rPr lang="ru-RU" dirty="0" smtClean="0"/>
              <a:t>Роль </a:t>
            </a:r>
            <a:r>
              <a:rPr lang="ru-RU" dirty="0"/>
              <a:t>связывается с конкретной </a:t>
            </a:r>
            <a:r>
              <a:rPr lang="ru-RU" dirty="0" smtClean="0"/>
              <a:t>ПП для </a:t>
            </a:r>
            <a:r>
              <a:rPr lang="ru-RU" dirty="0"/>
              <a:t>придания последней привилегий доступа к БД, таблицам, представлениям и процедурам БД. </a:t>
            </a:r>
          </a:p>
          <a:p>
            <a:r>
              <a:rPr lang="ru-RU" dirty="0"/>
              <a:t>Роль создается и удаляется администратором БД. </a:t>
            </a:r>
          </a:p>
          <a:p>
            <a:r>
              <a:rPr lang="ru-RU" dirty="0"/>
              <a:t>С ролью не ассоциируют перечень допустимых пользователей, </a:t>
            </a:r>
            <a:r>
              <a:rPr lang="ru-RU" dirty="0" smtClean="0"/>
              <a:t>˗ </a:t>
            </a:r>
            <a:r>
              <a:rPr lang="ru-RU" dirty="0"/>
              <a:t>вместо этого роли защищают паролями, если это предусмотрено производителем СУБД.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97952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Роли в СУБД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Роли </a:t>
            </a:r>
            <a:r>
              <a:rPr lang="ru-RU" dirty="0" smtClean="0"/>
              <a:t>также удобно </a:t>
            </a:r>
            <a:r>
              <a:rPr lang="ru-RU" dirty="0"/>
              <a:t>использовать, когда тот или иной набор привилегий необходимо выдать (или отобрать) целой группе пользователей. С одной стороны, это облегчает администратору управление привилегиями, с другой </a:t>
            </a:r>
            <a:r>
              <a:rPr lang="ru-RU" dirty="0" smtClean="0"/>
              <a:t>˗ </a:t>
            </a:r>
            <a:r>
              <a:rPr lang="ru-RU" dirty="0"/>
              <a:t>вносит определенный порядок в случае необходимости изменить набор привилегий для группы пользователей сразу.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целом же, механизм ролей позволяет обеспечить приемлемую безопасность систем БД при малых трудозатратах на выдачу и отбор привилегий пользователям.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58775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Создание и удаление ролей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21550" y="1517650"/>
            <a:ext cx="8235916" cy="4400568"/>
          </a:xfrm>
        </p:spPr>
        <p:txBody>
          <a:bodyPr/>
          <a:lstStyle/>
          <a:p>
            <a:pPr indent="-15875"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urier New" pitchFamily="49" charset="0"/>
              </a:rPr>
              <a:t>Создание роли с паролем: </a:t>
            </a:r>
          </a:p>
          <a:p>
            <a:pPr indent="-15875"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CREATE ROLE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dly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sales</a:t>
            </a:r>
            <a:endPara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indent="-15875">
              <a:spcBef>
                <a:spcPts val="0"/>
              </a:spcBef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WITH PASSWORD = ‘e11332’</a:t>
            </a:r>
          </a:p>
          <a:p>
            <a:r>
              <a:rPr lang="ru-RU" dirty="0"/>
              <a:t>Оператор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ALTER ROLE </a:t>
            </a:r>
            <a:r>
              <a:rPr lang="ru-RU" dirty="0"/>
              <a:t>служит для изменения пароля роли:</a:t>
            </a: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ALTER ROLE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dly_sales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PASSWORD = ‘h94pq861’</a:t>
            </a:r>
          </a:p>
          <a:p>
            <a:r>
              <a:rPr lang="ru-RU" dirty="0"/>
              <a:t>Оператор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ROLE </a:t>
            </a:r>
            <a:r>
              <a:rPr lang="ru-RU" dirty="0"/>
              <a:t>позволяет удалить ранее созданную роль:</a:t>
            </a: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ROLE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dly_sales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endPara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26</a:t>
            </a:fld>
            <a:endParaRPr lang="ru-RU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90275" cy="1143000"/>
          </a:xfrm>
        </p:spPr>
        <p:txBody>
          <a:bodyPr>
            <a:normAutofit fontScale="90000"/>
          </a:bodyPr>
          <a:lstStyle/>
          <a:p>
            <a:r>
              <a:rPr lang="ru-RU" smtClean="0"/>
              <a:t>Предоставление роли привилегий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только роль создана, ей можно предоставить привилегии доступа к объектам БД. </a:t>
            </a:r>
            <a:r>
              <a:rPr lang="ru-RU" dirty="0" smtClean="0"/>
              <a:t>Если </a:t>
            </a:r>
            <a:r>
              <a:rPr lang="ru-RU" dirty="0"/>
              <a:t>субъект </a:t>
            </a:r>
            <a:r>
              <a:rPr lang="ru-RU" dirty="0">
                <a:sym typeface="Symbol"/>
              </a:rPr>
              <a:t></a:t>
            </a:r>
            <a:r>
              <a:rPr lang="ru-RU" dirty="0"/>
              <a:t> пользователь, привилегии назначаются явно. </a:t>
            </a:r>
            <a:r>
              <a:rPr lang="ru-RU" dirty="0" smtClean="0"/>
              <a:t>Если </a:t>
            </a:r>
            <a:r>
              <a:rPr lang="ru-RU" dirty="0"/>
              <a:t>субъект </a:t>
            </a:r>
            <a:r>
              <a:rPr lang="ru-RU" dirty="0">
                <a:sym typeface="Symbol"/>
              </a:rPr>
              <a:t></a:t>
            </a:r>
            <a:r>
              <a:rPr lang="ru-RU" dirty="0"/>
              <a:t> роль, то для управления привилегиями используются предложения:</a:t>
            </a:r>
          </a:p>
          <a:p>
            <a:pPr indent="-9525">
              <a:spcBef>
                <a:spcPts val="60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GRANT ROLE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_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роли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[ON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объект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 TO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субъект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[WITH GRANT OPTION]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/>
              <a:t>Пример: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GRANT ROLE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salesClerk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 Mary; </a:t>
            </a:r>
          </a:p>
          <a:p>
            <a:r>
              <a:rPr lang="en-US" dirty="0"/>
              <a:t>{</a:t>
            </a:r>
            <a:r>
              <a:rPr lang="ru-RU" dirty="0"/>
              <a:t>Предоставить пользователю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Mary</a:t>
            </a:r>
            <a:r>
              <a:rPr lang="en-US" dirty="0"/>
              <a:t> </a:t>
            </a:r>
            <a:r>
              <a:rPr lang="ru-RU" dirty="0"/>
              <a:t>привилегию роли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salesClerk</a:t>
            </a:r>
            <a:r>
              <a:rPr lang="en-US" dirty="0"/>
              <a:t>}.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03350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Изъятие </a:t>
            </a:r>
            <a:r>
              <a:rPr lang="ru-RU" dirty="0"/>
              <a:t>привилегий роли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258870"/>
            <a:ext cx="8229600" cy="2908920"/>
          </a:xfrm>
        </p:spPr>
        <p:txBody>
          <a:bodyPr/>
          <a:lstStyle/>
          <a:p>
            <a:r>
              <a:rPr lang="ru-RU" dirty="0"/>
              <a:t>Для изъятия привилегий роли используется предложение: </a:t>
            </a: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REVOKE ROLE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salesClerk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3952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Mary</a:t>
            </a:r>
          </a:p>
          <a:p>
            <a:r>
              <a:rPr lang="en-US" dirty="0"/>
              <a:t>{</a:t>
            </a:r>
            <a:r>
              <a:rPr lang="ru-RU" dirty="0"/>
              <a:t>Изъять  привилегию роли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salesClerk</a:t>
            </a:r>
            <a:r>
              <a:rPr lang="en-US" dirty="0"/>
              <a:t>  </a:t>
            </a:r>
            <a:r>
              <a:rPr lang="ru-RU" dirty="0"/>
              <a:t>у пользователя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Mary</a:t>
            </a:r>
            <a:r>
              <a:rPr lang="en-US" dirty="0" smtClean="0"/>
              <a:t>}.</a:t>
            </a:r>
            <a:endParaRPr lang="ru-RU" dirty="0" smtClean="0"/>
          </a:p>
          <a:p>
            <a:pPr marL="136525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78287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использовании дискреционной модели получается, что доступ регулируется на уровне именованных объектов, а не на уровне собственно хранящихся в них данных. </a:t>
            </a:r>
            <a:endParaRPr lang="ru-RU" dirty="0" smtClean="0"/>
          </a:p>
          <a:p>
            <a:r>
              <a:rPr lang="ru-RU" dirty="0" smtClean="0"/>
              <a:t>Так</a:t>
            </a:r>
            <a:r>
              <a:rPr lang="ru-RU" dirty="0"/>
              <a:t>, в </a:t>
            </a:r>
            <a:r>
              <a:rPr lang="ru-RU" dirty="0" smtClean="0"/>
              <a:t>реляционной </a:t>
            </a:r>
            <a:r>
              <a:rPr lang="ru-RU" dirty="0"/>
              <a:t>СУБД объектом будет, например, именованное </a:t>
            </a:r>
            <a:r>
              <a:rPr lang="ru-RU" dirty="0" smtClean="0"/>
              <a:t>таблица, </a:t>
            </a:r>
            <a:r>
              <a:rPr lang="ru-RU" dirty="0"/>
              <a:t>а субъектом </a:t>
            </a:r>
            <a:r>
              <a:rPr lang="ru-RU" dirty="0" smtClean="0"/>
              <a:t>- </a:t>
            </a:r>
            <a:r>
              <a:rPr lang="ru-RU" dirty="0"/>
              <a:t>зарегистрированный пользователь.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этом случае нельзя ограничить доступ только к части информации, хранящейся в таблице. </a:t>
            </a:r>
            <a:endParaRPr lang="ru-RU" dirty="0" smtClean="0"/>
          </a:p>
          <a:p>
            <a:r>
              <a:rPr lang="ru-RU" dirty="0" smtClean="0"/>
              <a:t>Частично </a:t>
            </a:r>
            <a:r>
              <a:rPr lang="ru-RU" dirty="0"/>
              <a:t>проблему регулирования доступа к данным внутри объектов решают </a:t>
            </a:r>
            <a:r>
              <a:rPr lang="ru-RU" b="1" i="1" dirty="0"/>
              <a:t>представления </a:t>
            </a:r>
            <a:r>
              <a:rPr lang="ru-RU" dirty="0"/>
              <a:t>(</a:t>
            </a:r>
            <a:r>
              <a:rPr lang="ru-RU" dirty="0" err="1"/>
              <a:t>Views</a:t>
            </a:r>
            <a:r>
              <a:rPr lang="ru-RU" dirty="0"/>
              <a:t>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61631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415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sz="4000" dirty="0" smtClean="0">
                <a:solidFill>
                  <a:schemeClr val="accent1">
                    <a:lumMod val="75000"/>
                  </a:schemeClr>
                </a:solidFill>
              </a:rPr>
              <a:t>Представления</a:t>
            </a:r>
            <a:endParaRPr lang="ru-RU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387" name="Содержимое 2"/>
          <p:cNvSpPr>
            <a:spLocks noGrp="1"/>
          </p:cNvSpPr>
          <p:nvPr>
            <p:ph idx="1"/>
          </p:nvPr>
        </p:nvSpPr>
        <p:spPr>
          <a:xfrm>
            <a:off x="260350" y="2495729"/>
            <a:ext cx="8623300" cy="3805356"/>
          </a:xfrm>
        </p:spPr>
        <p:txBody>
          <a:bodyPr anchor="t" anchorCtr="0"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Результатом запроса на выборку является набор данных, представляющий временную таблицу, с которой можно работать как с обычной реляционной таблицей. </a:t>
            </a:r>
          </a:p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результате серии таких запросов для пользователя создается некая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виртуальная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БД со «своей» схемой данных и «своими» данными.</a:t>
            </a:r>
          </a:p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Представления позволяют сделать видимыми для субъектов только определенные столбцы базовых таблиц (реализовать проекцию) или отобрать определенные строки (реализовать селекцию).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z="2400" dirty="0" smtClean="0"/>
              <a:t> </a:t>
            </a: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500646" y="630108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fontAlgn="auto">
              <a:spcBef>
                <a:spcPts val="0"/>
              </a:spcBef>
              <a:spcAft>
                <a:spcPts val="0"/>
              </a:spcAft>
              <a:defRPr/>
            </a:pPr>
            <a:fld id="{90BC7619-9555-496F-AB92-0F5EBF30E0FB}" type="slidenum">
              <a:rPr lang="ru-RU" sz="2400" smtClean="0">
                <a:solidFill>
                  <a:prstClr val="black">
                    <a:shade val="50000"/>
                  </a:prstClr>
                </a:solidFill>
                <a:latin typeface="Times New Roman"/>
                <a:cs typeface="+mn-cs"/>
              </a:rPr>
              <a:pPr lvl="0"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30</a:t>
            </a:fld>
            <a:endParaRPr lang="ru-RU" sz="2400" dirty="0">
              <a:solidFill>
                <a:prstClr val="black">
                  <a:shade val="50000"/>
                </a:prstClr>
              </a:solidFill>
              <a:latin typeface="Times New Roman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5554" y="1295400"/>
            <a:ext cx="8240296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531813" indent="0">
              <a:buNone/>
            </a:pP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Представлением (</a:t>
            </a: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Views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) называется сохраняемый в БД авторизованный глобальный запрос на выборку данных.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214282" y="1417638"/>
            <a:ext cx="8715436" cy="484667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Group 2"/>
          <p:cNvGrpSpPr>
            <a:grpSpLocks noGrp="1"/>
          </p:cNvGrpSpPr>
          <p:nvPr/>
        </p:nvGrpSpPr>
        <p:grpSpPr bwMode="auto">
          <a:xfrm>
            <a:off x="472487" y="1512746"/>
            <a:ext cx="8249374" cy="4530310"/>
            <a:chOff x="2139" y="2390"/>
            <a:chExt cx="8604" cy="2644"/>
          </a:xfrm>
        </p:grpSpPr>
        <p:sp>
          <p:nvSpPr>
            <p:cNvPr id="18447" name="Line 11"/>
            <p:cNvSpPr>
              <a:spLocks noChangeShapeType="1"/>
            </p:cNvSpPr>
            <p:nvPr/>
          </p:nvSpPr>
          <p:spPr bwMode="auto">
            <a:xfrm>
              <a:off x="5465" y="3033"/>
              <a:ext cx="366" cy="0"/>
            </a:xfrm>
            <a:prstGeom prst="line">
              <a:avLst/>
            </a:prstGeom>
            <a:ln>
              <a:headEnd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ru-RU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446" name="Line 10"/>
            <p:cNvSpPr>
              <a:spLocks noChangeShapeType="1"/>
            </p:cNvSpPr>
            <p:nvPr/>
          </p:nvSpPr>
          <p:spPr bwMode="auto">
            <a:xfrm>
              <a:off x="3928" y="3033"/>
              <a:ext cx="324" cy="0"/>
            </a:xfrm>
            <a:prstGeom prst="line">
              <a:avLst/>
            </a:prstGeom>
            <a:ln>
              <a:headEnd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ru-RU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440" name="Line 4"/>
            <p:cNvSpPr>
              <a:spLocks noChangeShapeType="1"/>
            </p:cNvSpPr>
            <p:nvPr/>
          </p:nvSpPr>
          <p:spPr bwMode="auto">
            <a:xfrm rot="16200000">
              <a:off x="8346" y="4470"/>
              <a:ext cx="0" cy="413"/>
            </a:xfrm>
            <a:prstGeom prst="line">
              <a:avLst/>
            </a:prstGeom>
            <a:ln>
              <a:headEnd type="triangle" w="lg" len="lg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ru-RU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867" name="AutoShape 3"/>
            <p:cNvSpPr>
              <a:spLocks noChangeArrowheads="1"/>
            </p:cNvSpPr>
            <p:nvPr/>
          </p:nvSpPr>
          <p:spPr bwMode="auto">
            <a:xfrm>
              <a:off x="5606" y="4092"/>
              <a:ext cx="2533" cy="942"/>
            </a:xfrm>
            <a:prstGeom prst="can">
              <a:avLst>
                <a:gd name="adj" fmla="val 25000"/>
              </a:avLst>
            </a:prstGeom>
            <a:gradFill flip="none" rotWithShape="1">
              <a:gsLst>
                <a:gs pos="100000">
                  <a:schemeClr val="accent1">
                    <a:lumMod val="75000"/>
                  </a:schemeClr>
                </a:gs>
                <a:gs pos="50000">
                  <a:schemeClr val="accent1">
                    <a:lumMod val="75000"/>
                    <a:shade val="67500"/>
                    <a:satMod val="115000"/>
                  </a:schemeClr>
                </a:gs>
                <a:gs pos="100000">
                  <a:schemeClr val="accent1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square" lIns="18000" rIns="144000" anchor="ctr" anchorCtr="1">
              <a:spAutoFit/>
            </a:bodyPr>
            <a:lstStyle/>
            <a:p>
              <a:pPr marL="180000" algn="ctr">
                <a:defRPr/>
              </a:pPr>
              <a:r>
                <a:rPr lang="ru-RU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Arial" pitchFamily="34" charset="0"/>
                </a:rPr>
                <a:t>Истинная структура БД и истинные данные</a:t>
              </a: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441" name="AutoShape 5"/>
            <p:cNvSpPr>
              <a:spLocks noChangeArrowheads="1"/>
            </p:cNvSpPr>
            <p:nvPr/>
          </p:nvSpPr>
          <p:spPr bwMode="auto">
            <a:xfrm>
              <a:off x="8588" y="4387"/>
              <a:ext cx="2109" cy="51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18000" rIns="18000" anchor="ctr" anchorCtr="1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Виртуальная </a:t>
              </a:r>
              <a:r>
                <a:rPr lang="ru-RU" sz="20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БД</a:t>
              </a:r>
              <a:endParaRPr lang="ru-RU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442" name="AutoShape 6"/>
            <p:cNvSpPr>
              <a:spLocks noChangeArrowheads="1"/>
            </p:cNvSpPr>
            <p:nvPr/>
          </p:nvSpPr>
          <p:spPr bwMode="auto">
            <a:xfrm>
              <a:off x="5831" y="2586"/>
              <a:ext cx="2086" cy="908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prstClr val="white"/>
                </a:gs>
              </a:gsLst>
              <a:lin ang="16200000" scaled="0"/>
            </a:gradFill>
            <a:ln w="12700">
              <a:solidFill>
                <a:srgbClr val="000000"/>
              </a:solidFill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18000" tIns="10800" rIns="18000" bIns="10800" anchor="ctr" anchorCtr="1"/>
            <a:lstStyle/>
            <a:p>
              <a:pPr algn="ctr"/>
              <a:r>
                <a:rPr lang="ru-RU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Глобальные</a:t>
              </a:r>
              <a:endPara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  <a:p>
              <a:pPr algn="ctr"/>
              <a:r>
                <a:rPr lang="ru-RU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запросы </a:t>
              </a:r>
              <a:r>
                <a:rPr lang="ru-RU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на выборку данных </a:t>
              </a: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443" name="AutoShape 7"/>
            <p:cNvSpPr>
              <a:spLocks noChangeArrowheads="1"/>
            </p:cNvSpPr>
            <p:nvPr/>
          </p:nvSpPr>
          <p:spPr bwMode="auto">
            <a:xfrm>
              <a:off x="2139" y="2788"/>
              <a:ext cx="1789" cy="495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prstClr val="white"/>
                </a:gs>
              </a:gsLst>
              <a:lin ang="16200000" scaled="0"/>
            </a:gradFill>
            <a:ln w="12700">
              <a:solidFill>
                <a:srgbClr val="000000"/>
              </a:solidFill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0" rIns="0" anchor="ctr" anchorCtr="1"/>
            <a:lstStyle/>
            <a:p>
              <a:pPr algn="ctr"/>
              <a:r>
                <a:rPr lang="ru-RU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Пользователь</a:t>
              </a: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444" name="AutoShape 8"/>
            <p:cNvSpPr>
              <a:spLocks noChangeArrowheads="1"/>
            </p:cNvSpPr>
            <p:nvPr/>
          </p:nvSpPr>
          <p:spPr bwMode="auto">
            <a:xfrm>
              <a:off x="4245" y="2788"/>
              <a:ext cx="1259" cy="495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prstClr val="white"/>
                </a:gs>
              </a:gsLst>
              <a:lin ang="16200000" scaled="0"/>
            </a:gradFill>
            <a:ln w="12700">
              <a:solidFill>
                <a:srgbClr val="000000"/>
              </a:solidFill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18000" rIns="18000" anchor="ctr" anchorCtr="1"/>
            <a:lstStyle/>
            <a:p>
              <a:pPr algn="ctr"/>
              <a:r>
                <a:rPr lang="ru-RU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Начало сеанса</a:t>
              </a: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445" name="AutoShape 9"/>
            <p:cNvSpPr>
              <a:spLocks noChangeArrowheads="1"/>
            </p:cNvSpPr>
            <p:nvPr/>
          </p:nvSpPr>
          <p:spPr bwMode="auto">
            <a:xfrm>
              <a:off x="8513" y="3111"/>
              <a:ext cx="2230" cy="908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18000" rIns="18000" anchor="ctr" anchorCtr="1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Работа со «своим» представлением БД</a:t>
              </a:r>
              <a:endParaRPr lang="ru-RU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AutoShape 7"/>
            <p:cNvSpPr>
              <a:spLocks noChangeArrowheads="1"/>
            </p:cNvSpPr>
            <p:nvPr/>
          </p:nvSpPr>
          <p:spPr bwMode="auto">
            <a:xfrm>
              <a:off x="8733" y="2390"/>
              <a:ext cx="1789" cy="495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18000" rIns="18000" anchor="ctr" anchorCtr="1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+mn-cs"/>
                </a:rPr>
                <a:t>Пользователь</a:t>
              </a: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282" y="609600"/>
            <a:ext cx="8715436" cy="522288"/>
          </a:xfrm>
        </p:spPr>
        <p:txBody>
          <a:bodyPr>
            <a:noAutofit/>
            <a:scene3d>
              <a:camera prst="orthographicFront"/>
              <a:lightRig rig="soft" dir="t">
                <a:rot lat="0" lon="0" rev="16800000"/>
              </a:lightRig>
            </a:scene3d>
            <a:sp3d extrusionH="57150" prstMaterial="softEdge">
              <a:bevelT w="38100" h="38100"/>
            </a:sp3d>
          </a:bodyPr>
          <a:lstStyle/>
          <a:p>
            <a:pPr eaLnBrk="1" hangingPunct="1">
              <a:defRPr/>
            </a:pPr>
            <a:r>
              <a:rPr lang="ru-RU" sz="4000" dirty="0" smtClean="0">
                <a:solidFill>
                  <a:schemeClr val="accent1">
                    <a:lumMod val="75000"/>
                  </a:schemeClr>
                </a:solidFill>
              </a:rPr>
              <a:t>Схема техники представлений </a:t>
            </a:r>
            <a:endParaRPr lang="ru-RU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DF1CE5-57E6-4A5A-9701-745C62997263}" type="slidenum">
              <a:rPr lang="ru-RU" sz="2400" smtClean="0"/>
              <a:pPr>
                <a:defRPr/>
              </a:pPr>
              <a:t>31</a:t>
            </a:fld>
            <a:endParaRPr lang="ru-RU" sz="2400" dirty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45720" rIns="45720" bIns="0" anchor="b">
            <a:normAutofit fontScale="97500"/>
            <a:scene3d>
              <a:camera prst="orthographicFront"/>
              <a:lightRig rig="soft" dir="t">
                <a:rot lat="0" lon="0" rev="16800000"/>
              </a:lightRig>
            </a:scene3d>
            <a:sp3d prstMaterial="softEdge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0" normalizeH="0" baseline="0" noProof="0" dirty="0">
              <a:ln w="6350">
                <a:noFill/>
              </a:ln>
              <a:gradFill>
                <a:gsLst>
                  <a:gs pos="0">
                    <a:schemeClr val="accent1">
                      <a:tint val="73000"/>
                      <a:satMod val="145000"/>
                    </a:schemeClr>
                  </a:gs>
                  <a:gs pos="73000">
                    <a:schemeClr val="accent1">
                      <a:tint val="73000"/>
                      <a:satMod val="145000"/>
                    </a:schemeClr>
                  </a:gs>
                  <a:gs pos="100000">
                    <a:schemeClr val="accent1">
                      <a:tint val="83000"/>
                      <a:satMod val="143000"/>
                    </a:schemeClr>
                  </a:gs>
                </a:gsLst>
                <a:lin ang="4800000" scaled="1"/>
              </a:gradFill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30" name="Прямая соединительная линия 29"/>
          <p:cNvCxnSpPr>
            <a:stCxn id="18445" idx="2"/>
            <a:endCxn id="18441" idx="0"/>
          </p:cNvCxnSpPr>
          <p:nvPr/>
        </p:nvCxnSpPr>
        <p:spPr>
          <a:xfrm>
            <a:off x="7652818" y="4303924"/>
            <a:ext cx="13902" cy="630543"/>
          </a:xfrm>
          <a:prstGeom prst="line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rot="5400000">
            <a:off x="4392611" y="3963193"/>
            <a:ext cx="1155702" cy="158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stCxn id="18" idx="2"/>
            <a:endCxn id="18445" idx="0"/>
          </p:cNvCxnSpPr>
          <p:nvPr/>
        </p:nvCxnSpPr>
        <p:spPr>
          <a:xfrm>
            <a:off x="7652338" y="2360894"/>
            <a:ext cx="480" cy="387235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6417205" y="1473554"/>
            <a:ext cx="0" cy="4790761"/>
          </a:xfrm>
          <a:prstGeom prst="lin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Представления как защита данных в СУБД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60350" y="1313765"/>
            <a:ext cx="8686800" cy="4742780"/>
          </a:xfrm>
        </p:spPr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Авторизованный характер запросов, формирующих представления, позволяет предоставить конкретному пользователю только те данные и только в том виде, которые ему </a:t>
            </a:r>
            <a:r>
              <a:rPr lang="ru-RU" dirty="0" smtClean="0"/>
              <a:t>необходимы для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решения его задач. </a:t>
            </a:r>
          </a:p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Исключается возможность доступа, просмотра и изменения других данных, не имеющих отношения к данному пользователю. </a:t>
            </a:r>
          </a:p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 помощью представления администратор БД защищает таблицы от НСД и снабжает каждого пользователя своим видением БД, когда недоступные пользователю объекты как бы не существуют.</a:t>
            </a:r>
          </a:p>
          <a:p>
            <a:pPr>
              <a:buClrTx/>
            </a:pPr>
            <a:endPara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32</a:t>
            </a:fld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Обращение к представлению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 представлению можно обращаться точно так же, как и к таблицам, за исключением операций модификации данных, поскольку некоторые типы представлений являются не модифицируемыми. </a:t>
            </a:r>
            <a:endParaRPr lang="ru-RU" dirty="0" smtClean="0"/>
          </a:p>
          <a:p>
            <a:r>
              <a:rPr lang="ru-RU" dirty="0" smtClean="0"/>
              <a:t>Возможность </a:t>
            </a:r>
            <a:r>
              <a:rPr lang="ru-RU" dirty="0"/>
              <a:t>модификации представлений определяется производителем СУБД. </a:t>
            </a:r>
            <a:endParaRPr lang="ru-RU" dirty="0" smtClean="0"/>
          </a:p>
          <a:p>
            <a:r>
              <a:rPr lang="ru-RU" dirty="0" smtClean="0"/>
              <a:t>Особенности </a:t>
            </a:r>
            <a:r>
              <a:rPr lang="ru-RU" dirty="0"/>
              <a:t>выполнения операций модификации данных при использовании представлений связаны с ограниченным видением пользователей реальных таблиц, которое в общем случае не позволяет им объективно в рамках выделенных им полномочий проводить операции модификации.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23659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Хранение представлений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конкретных реализациях представление обычно хранится как текст, описывающий запрос выборки, а не собственно выборку </a:t>
            </a:r>
            <a:r>
              <a:rPr lang="ru-RU" dirty="0" smtClean="0"/>
              <a:t>данных. </a:t>
            </a:r>
          </a:p>
          <a:p>
            <a:r>
              <a:rPr lang="ru-RU" dirty="0" smtClean="0"/>
              <a:t>Собственно выборка создается </a:t>
            </a:r>
            <a:r>
              <a:rPr lang="ru-RU" dirty="0"/>
              <a:t>динамически на момент выполнения предложения SQL, использующего представление. </a:t>
            </a:r>
            <a:endParaRPr lang="ru-RU" dirty="0" smtClean="0"/>
          </a:p>
          <a:p>
            <a:r>
              <a:rPr lang="ru-RU" dirty="0" smtClean="0"/>
              <a:t>Таким образом, при использовании представлений данные БД  находятся там же где и находились до создания представления.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10439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Привилегии доступа к таблицам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Привилегии доступа имеют свои особенности для определенных видов объектов, к которым они относятся. </a:t>
            </a:r>
          </a:p>
          <a:p>
            <a:r>
              <a:rPr lang="ru-RU" dirty="0"/>
              <a:t>Привилегии доступа к таблицам позволяют реализовать следующие основные требования по безопасности: </a:t>
            </a:r>
          </a:p>
          <a:p>
            <a:pPr marL="1085850" indent="-361950">
              <a:buFont typeface="Wingdings" panose="05000000000000000000" pitchFamily="2" charset="2"/>
              <a:buChar char="q"/>
            </a:pPr>
            <a:r>
              <a:rPr lang="ru-RU" dirty="0" smtClean="0"/>
              <a:t>разные </a:t>
            </a:r>
            <a:r>
              <a:rPr lang="ru-RU" dirty="0"/>
              <a:t>пользователи могут иметь доступ только к строго определенным совокупностям таблиц;</a:t>
            </a:r>
          </a:p>
          <a:p>
            <a:pPr marL="1085850" indent="-361950">
              <a:buFont typeface="Wingdings" panose="05000000000000000000" pitchFamily="2" charset="2"/>
              <a:buChar char="q"/>
            </a:pPr>
            <a:r>
              <a:rPr lang="ru-RU" dirty="0" smtClean="0"/>
              <a:t>разные </a:t>
            </a:r>
            <a:r>
              <a:rPr lang="ru-RU" dirty="0"/>
              <a:t>пользователи могут иметь право на строго определенный перечень операций над данными конкретных таблиц (создание, чтение, модификация, удаление);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19191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Привилегии доступа к таблицам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25225"/>
            <a:ext cx="8229600" cy="4079050"/>
          </a:xfrm>
        </p:spPr>
        <p:txBody>
          <a:bodyPr/>
          <a:lstStyle/>
          <a:p>
            <a:pPr marL="1085850" indent="-361950">
              <a:buFont typeface="Wingdings" panose="05000000000000000000" pitchFamily="2" charset="2"/>
              <a:buChar char="q"/>
            </a:pPr>
            <a:r>
              <a:rPr lang="ru-RU" dirty="0"/>
              <a:t>разные пользователи могут иметь только выборочный доступ к определенным элементам конкретных таблиц (отдельным строкам и отдельным столбцам);</a:t>
            </a:r>
          </a:p>
          <a:p>
            <a:pPr marL="1085850" indent="-361950">
              <a:buFont typeface="Wingdings" panose="05000000000000000000" pitchFamily="2" charset="2"/>
              <a:buChar char="q"/>
            </a:pPr>
            <a:r>
              <a:rPr lang="ru-RU" dirty="0"/>
              <a:t>доступ определенных пользователей к определенной совокупности таблиц может быть запрещен непосредственно (через запросы), но разрешен в диалоге с прикладной программой</a:t>
            </a:r>
            <a:r>
              <a:rPr lang="ru-RU" dirty="0" smtClean="0"/>
              <a:t>.</a:t>
            </a:r>
          </a:p>
          <a:p>
            <a:pPr marL="533400" indent="-361950"/>
            <a:r>
              <a:rPr lang="ru-RU" dirty="0"/>
              <a:t>При управлении доступом к таблицам набор привилегий в реализации СУБД определяется производителем.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84081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6535" y="274638"/>
            <a:ext cx="8372476" cy="1143000"/>
          </a:xfrm>
        </p:spPr>
        <p:txBody>
          <a:bodyPr>
            <a:normAutofit fontScale="90000"/>
          </a:bodyPr>
          <a:lstStyle/>
          <a:p>
            <a:r>
              <a:rPr lang="ru-RU" sz="4400" dirty="0" smtClean="0">
                <a:solidFill>
                  <a:schemeClr val="accent1">
                    <a:lumMod val="75000"/>
                  </a:schemeClr>
                </a:solidFill>
              </a:rPr>
              <a:t>Привилегии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 доступа к таблицам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420775"/>
            <a:ext cx="8580327" cy="4708525"/>
          </a:xfrm>
        </p:spPr>
        <p:txBody>
          <a:bodyPr/>
          <a:lstStyle/>
          <a:p>
            <a:r>
              <a:rPr lang="ru-RU" dirty="0">
                <a:ea typeface="Times New Roman"/>
              </a:rPr>
              <a:t>В качестве минимального набора выступают </a:t>
            </a:r>
            <a:r>
              <a:rPr lang="ru-RU" dirty="0" smtClean="0">
                <a:ea typeface="Times New Roman"/>
              </a:rPr>
              <a:t>п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ривилегии выборки и модификации данных:</a:t>
            </a:r>
          </a:p>
          <a:p>
            <a:pPr indent="442913">
              <a:spcBef>
                <a:spcPts val="600"/>
              </a:spcBef>
              <a:buClrTx/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SELECT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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привилегия на выборку данных;</a:t>
            </a:r>
          </a:p>
          <a:p>
            <a:pPr indent="442913">
              <a:spcBef>
                <a:spcPts val="0"/>
              </a:spcBef>
              <a:buClrTx/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INSERT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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привилегия на добавление данных;</a:t>
            </a:r>
          </a:p>
          <a:p>
            <a:pPr indent="442913">
              <a:spcBef>
                <a:spcPts val="0"/>
              </a:spcBef>
              <a:buClrTx/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DELETE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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привилегия на удаление данных;</a:t>
            </a:r>
          </a:p>
          <a:p>
            <a:pPr indent="442913">
              <a:spcBef>
                <a:spcPts val="0"/>
              </a:spcBef>
              <a:buClrTx/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UPDATE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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привилегия на обновление данных</a:t>
            </a:r>
          </a:p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Дополнительные привилегии изменения структуры таблиц:</a:t>
            </a:r>
          </a:p>
          <a:p>
            <a:pPr indent="-373063"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 ALTER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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изменение физической/логической структуры базовой таблицы (изменение размеров и числа файлов таблицы, введение дополнительного столбца и т.п.);</a:t>
            </a:r>
          </a:p>
          <a:p>
            <a:pPr indent="-373063"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 INDEX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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создание/удаление индексов на столбцы таблицы;</a:t>
            </a:r>
          </a:p>
          <a:p>
            <a:pPr indent="-373063"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 ALL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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все возможные действия над таблицей.</a:t>
            </a:r>
          </a:p>
          <a:p>
            <a:pPr>
              <a:buClrTx/>
            </a:pP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37</a:t>
            </a:fld>
            <a:endParaRPr lang="ru-RU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Привилегий доступа к таблицам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005244"/>
            <a:ext cx="8229600" cy="3944035"/>
          </a:xfrm>
        </p:spPr>
        <p:txBody>
          <a:bodyPr/>
          <a:lstStyle/>
          <a:p>
            <a:r>
              <a:rPr lang="ru-RU" dirty="0" smtClean="0"/>
              <a:t>Другие </a:t>
            </a:r>
            <a:r>
              <a:rPr lang="ru-RU" dirty="0"/>
              <a:t>разновидности привилегий: </a:t>
            </a:r>
          </a:p>
          <a:p>
            <a:pPr marL="874713" indent="-342900">
              <a:buFont typeface="Wingdings" panose="05000000000000000000" pitchFamily="2" charset="2"/>
              <a:buChar char="q"/>
              <a:tabLst>
                <a:tab pos="450850" algn="l"/>
              </a:tabLst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CONTROL </a:t>
            </a:r>
            <a:r>
              <a:rPr lang="ru-RU" dirty="0">
                <a:cs typeface="Courier New" panose="02070309020205020404" pitchFamily="49" charset="0"/>
              </a:rPr>
              <a:t>(IBM DB2)</a:t>
            </a:r>
            <a:r>
              <a:rPr lang="ru-RU" dirty="0"/>
              <a:t> </a:t>
            </a:r>
            <a:r>
              <a:rPr lang="ru-RU" dirty="0" smtClean="0"/>
              <a:t>- </a:t>
            </a:r>
            <a:r>
              <a:rPr lang="ru-RU" dirty="0"/>
              <a:t>комплексная привилегия управления структурой таблицы; </a:t>
            </a:r>
          </a:p>
          <a:p>
            <a:pPr marL="874713" indent="-342900">
              <a:spcBef>
                <a:spcPts val="1200"/>
              </a:spcBef>
              <a:buFont typeface="Wingdings" panose="05000000000000000000" pitchFamily="2" charset="2"/>
              <a:buChar char="q"/>
              <a:tabLst>
                <a:tab pos="450850" algn="l"/>
              </a:tabLst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REFERENCES</a:t>
            </a:r>
            <a:r>
              <a:rPr lang="ru-RU" dirty="0" smtClean="0"/>
              <a:t> - </a:t>
            </a:r>
            <a:r>
              <a:rPr lang="ru-RU" dirty="0"/>
              <a:t>привилегия создания внешних ключей; </a:t>
            </a:r>
          </a:p>
          <a:p>
            <a:pPr marL="874713" indent="-342900">
              <a:spcBef>
                <a:spcPts val="1200"/>
              </a:spcBef>
              <a:buFont typeface="Wingdings" panose="05000000000000000000" pitchFamily="2" charset="2"/>
              <a:buChar char="q"/>
              <a:tabLst>
                <a:tab pos="450850" algn="l"/>
              </a:tabLst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RUNSTAT</a:t>
            </a:r>
            <a:r>
              <a:rPr lang="ru-RU" dirty="0" smtClean="0"/>
              <a:t> - </a:t>
            </a:r>
            <a:r>
              <a:rPr lang="ru-RU" dirty="0"/>
              <a:t>выполнение сбора статистической информации по таблице </a:t>
            </a:r>
            <a:endParaRPr lang="ru-RU" dirty="0" smtClean="0"/>
          </a:p>
          <a:p>
            <a:pPr marL="531813" indent="0">
              <a:spcBef>
                <a:spcPts val="1200"/>
              </a:spcBef>
              <a:buNone/>
              <a:tabLst>
                <a:tab pos="450850" algn="l"/>
              </a:tabLst>
            </a:pPr>
            <a:r>
              <a:rPr lang="ru-RU" dirty="0" smtClean="0"/>
              <a:t>и </a:t>
            </a:r>
            <a:r>
              <a:rPr lang="ru-RU" dirty="0"/>
              <a:t>другие.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77289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Примеры предоставления привилегий доступа к таблицам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6515" y="1600200"/>
            <a:ext cx="8730970" cy="4708525"/>
          </a:xfrm>
        </p:spPr>
        <p:txBody>
          <a:bodyPr/>
          <a:lstStyle/>
          <a:p>
            <a:r>
              <a:rPr lang="ru-RU" dirty="0"/>
              <a:t>Пример предоставления пользователю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Adrian</a:t>
            </a:r>
            <a:r>
              <a:rPr lang="en-US" dirty="0"/>
              <a:t> </a:t>
            </a:r>
            <a:r>
              <a:rPr lang="ru-RU" dirty="0"/>
              <a:t>право на выборку данных из таблицы </a:t>
            </a:r>
            <a:r>
              <a:rPr lang="ru-RU" dirty="0" smtClean="0"/>
              <a:t>продавцов:</a:t>
            </a:r>
            <a:endParaRPr lang="ru-RU" dirty="0"/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GRANT SELECT </a:t>
            </a: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 salespeople </a:t>
            </a: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 Adrian.</a:t>
            </a:r>
          </a:p>
          <a:p>
            <a:r>
              <a:rPr lang="ru-RU" dirty="0"/>
              <a:t>Привилегии </a:t>
            </a:r>
            <a:r>
              <a:rPr lang="ru-RU" dirty="0" smtClean="0"/>
              <a:t>можно </a:t>
            </a:r>
            <a:r>
              <a:rPr lang="ru-RU" dirty="0"/>
              <a:t>перечислять через запятую, например:</a:t>
            </a: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GRANT SELECT, INSERT, DELETE </a:t>
            </a: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 sales </a:t>
            </a: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 Joe, Adrian, Thomas</a:t>
            </a:r>
          </a:p>
          <a:p>
            <a:pPr marL="136525" indent="0">
              <a:buNone/>
            </a:pPr>
            <a:r>
              <a:rPr lang="en-US" dirty="0"/>
              <a:t>{</a:t>
            </a:r>
            <a:r>
              <a:rPr lang="ru-RU" dirty="0"/>
              <a:t>Предоставить пользователям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Joe, Adrian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Thomas </a:t>
            </a:r>
            <a:r>
              <a:rPr lang="ru-RU" dirty="0"/>
              <a:t>право на выборку, добавление и удаление данных из таблицы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dirty="0" smtClean="0"/>
              <a:t>}.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90837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079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предоставления привилегий доступа к таблицам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213865"/>
            <a:ext cx="8229600" cy="3764015"/>
          </a:xfrm>
        </p:spPr>
        <p:txBody>
          <a:bodyPr/>
          <a:lstStyle/>
          <a:p>
            <a:r>
              <a:rPr lang="ru-RU" dirty="0"/>
              <a:t>Если необходимо выделить привилегию не на всю таблицу, а лишь на отдельные столбцы, используют следующий синтаксис:</a:t>
            </a:r>
          </a:p>
          <a:p>
            <a:pPr marL="136525" indent="10239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 SELECT (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136525" indent="10239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36525" indent="10239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Adrian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36525" indent="0">
              <a:buNone/>
            </a:pPr>
            <a:r>
              <a:rPr lang="ru-RU" dirty="0"/>
              <a:t>{Предоставить пользователю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Adrian</a:t>
            </a:r>
            <a:r>
              <a:rPr lang="ru-RU" dirty="0"/>
              <a:t> право на выборку данных из столбцов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ru-RU" dirty="0"/>
              <a:t> таблицы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ru-RU" dirty="0"/>
              <a:t>}.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426880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Примеры предоставления привилегий доступа к таблицам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530" y="1600200"/>
            <a:ext cx="8480285" cy="4708525"/>
          </a:xfrm>
        </p:spPr>
        <p:txBody>
          <a:bodyPr/>
          <a:lstStyle/>
          <a:p>
            <a:r>
              <a:rPr lang="ru-RU" dirty="0"/>
              <a:t>Пользователям могут выделяться разные привилегии к разным столбцам одной таблицы, например:  </a:t>
            </a: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GRANT SELECT,</a:t>
            </a: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UPDATE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empaddress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 (admission) </a:t>
            </a: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 employee</a:t>
            </a: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 Bill,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Maru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0">
              <a:buNone/>
            </a:pPr>
            <a:r>
              <a:rPr lang="en-US" dirty="0"/>
              <a:t>{</a:t>
            </a:r>
            <a:r>
              <a:rPr lang="ru-RU" dirty="0"/>
              <a:t>Предоставить пользователям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Maru</a:t>
            </a:r>
            <a:r>
              <a:rPr lang="en-US" dirty="0"/>
              <a:t> </a:t>
            </a:r>
            <a:r>
              <a:rPr lang="ru-RU" dirty="0"/>
              <a:t>право на выборку из всей таблицы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dirty="0"/>
              <a:t>, </a:t>
            </a:r>
            <a:r>
              <a:rPr lang="ru-RU" dirty="0"/>
              <a:t>на изменение столбцов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/>
              <a:t>и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empaddres</a:t>
            </a:r>
            <a:r>
              <a:rPr lang="en-US" dirty="0" err="1"/>
              <a:t>s</a:t>
            </a:r>
            <a:r>
              <a:rPr lang="en-US" dirty="0"/>
              <a:t> </a:t>
            </a:r>
            <a:r>
              <a:rPr lang="ru-RU" dirty="0"/>
              <a:t>таблицы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 </a:t>
            </a:r>
            <a:r>
              <a:rPr lang="ru-RU" dirty="0"/>
              <a:t>и на удаление столбца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admission</a:t>
            </a:r>
            <a:r>
              <a:rPr lang="en-US" dirty="0"/>
              <a:t> (</a:t>
            </a:r>
            <a:r>
              <a:rPr lang="ru-RU" dirty="0"/>
              <a:t>допуск) той же таблицы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dirty="0"/>
              <a:t>}.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133972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Примеры предоставления привилегий доступа к таблицам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08820"/>
            <a:ext cx="8345270" cy="4439090"/>
          </a:xfrm>
        </p:spPr>
        <p:txBody>
          <a:bodyPr/>
          <a:lstStyle/>
          <a:p>
            <a:r>
              <a:rPr lang="ru-RU" dirty="0" smtClean="0"/>
              <a:t>Обобщающий </a:t>
            </a:r>
            <a:r>
              <a:rPr lang="ru-RU" dirty="0"/>
              <a:t>аргумент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ru-RU" dirty="0" smtClean="0"/>
              <a:t> заменяет </a:t>
            </a:r>
            <a:r>
              <a:rPr lang="ru-RU" dirty="0"/>
              <a:t>в команде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 </a:t>
            </a:r>
            <a:r>
              <a:rPr lang="ru-RU" dirty="0"/>
              <a:t>перечень всех возможных привилегий </a:t>
            </a:r>
            <a:r>
              <a:rPr lang="ru-RU" dirty="0" smtClean="0"/>
              <a:t>работы </a:t>
            </a:r>
            <a:r>
              <a:rPr lang="ru-RU" dirty="0"/>
              <a:t>с таблицей.</a:t>
            </a: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salesPeople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Diane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dirty="0" smtClean="0"/>
              <a:t>Аргумент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u-RU" dirty="0"/>
              <a:t> имеет аналогичный смысл, но только в отношении пользователей, например:</a:t>
            </a: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 SELECT </a:t>
            </a: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phonelist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9822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957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предоставления привилегий доступа к таблицам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853825"/>
            <a:ext cx="8686800" cy="4259070"/>
          </a:xfrm>
        </p:spPr>
        <p:txBody>
          <a:bodyPr/>
          <a:lstStyle/>
          <a:p>
            <a:r>
              <a:rPr lang="ru-RU" dirty="0"/>
              <a:t>Иногда возникает ситуация, когда пользователя необходимо не только наделить привилегиями, но и дать возможность передавать эти привилегии другим пользователям. В этом случае используют команду</a:t>
            </a:r>
          </a:p>
          <a:p>
            <a:pPr indent="708025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 SELECT </a:t>
            </a:r>
          </a:p>
          <a:p>
            <a:pPr indent="708025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salesPeople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indent="708025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Adrian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indent="708025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WITH GRANT OPTION</a:t>
            </a:r>
          </a:p>
          <a:p>
            <a:pPr marL="136525" indent="0">
              <a:buNone/>
            </a:pPr>
            <a:r>
              <a:rPr lang="ru-RU" dirty="0"/>
              <a:t>{Пользователю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Adrian</a:t>
            </a:r>
            <a:r>
              <a:rPr lang="ru-RU" dirty="0"/>
              <a:t> разрешено передавать привилегию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ru-RU" dirty="0"/>
              <a:t> к таблице продавцов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salesPeople</a:t>
            </a:r>
            <a:r>
              <a:rPr lang="ru-RU" dirty="0"/>
              <a:t> третьим лицам}.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032546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507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предоставления привилегий доступа к таблицам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690805"/>
            <a:ext cx="8757466" cy="4708525"/>
          </a:xfrm>
        </p:spPr>
        <p:txBody>
          <a:bodyPr/>
          <a:lstStyle/>
          <a:p>
            <a:r>
              <a:rPr lang="ru-RU" dirty="0"/>
              <a:t>Теперь 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Adrian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/>
              <a:t>может </a:t>
            </a:r>
            <a:r>
              <a:rPr lang="ru-RU" dirty="0"/>
              <a:t>ввести, например, команду:</a:t>
            </a:r>
          </a:p>
          <a:p>
            <a:pPr marL="136525" indent="8461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 SELECT </a:t>
            </a:r>
          </a:p>
          <a:p>
            <a:pPr marL="136525" indent="8461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salesPeoples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36525" indent="8461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Stephen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8461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WITH GRANT OPTION</a:t>
            </a:r>
          </a:p>
          <a:p>
            <a:pPr marL="136525" indent="0">
              <a:buNone/>
            </a:pPr>
            <a:r>
              <a:rPr lang="ru-RU" dirty="0"/>
              <a:t>{Пользователю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Stephen</a:t>
            </a:r>
            <a:r>
              <a:rPr lang="ru-RU" dirty="0"/>
              <a:t> разрешено передавать привилегию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ru-RU" dirty="0"/>
              <a:t>к таблице продавцов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salesPeople</a:t>
            </a:r>
            <a:r>
              <a:rPr lang="ru-RU" dirty="0"/>
              <a:t> третьим лицам}.</a:t>
            </a:r>
          </a:p>
          <a:p>
            <a:r>
              <a:rPr lang="ru-RU" dirty="0"/>
              <a:t>Понятно, что такой мощной командой нужно пользоваться очень аккуратно, т.к., например, в рассмотренном выше примере количество пользователей, имеющих доступ к таблице, будет расти в геометрической прогрессии.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451465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лишения </a:t>
            </a:r>
            <a:r>
              <a:rPr lang="ru-RU" dirty="0"/>
              <a:t>привилегий доступа к таблицам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60835"/>
            <a:ext cx="8229600" cy="3673410"/>
          </a:xfrm>
        </p:spPr>
        <p:txBody>
          <a:bodyPr/>
          <a:lstStyle/>
          <a:p>
            <a:r>
              <a:rPr lang="ru-RU" dirty="0"/>
              <a:t>Лишение пользователя привилегий осуществляется командой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REVOKE.</a:t>
            </a:r>
            <a:r>
              <a:rPr lang="ru-RU" dirty="0"/>
              <a:t> Ее синтаксис аналогичен синтаксису команды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</a:t>
            </a:r>
            <a:r>
              <a:rPr lang="ru-RU" dirty="0"/>
              <a:t>, но имеет обратный смысл. </a:t>
            </a:r>
          </a:p>
          <a:p>
            <a:pPr marL="136525" indent="10239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REVOKE INSERT </a:t>
            </a:r>
          </a:p>
          <a:p>
            <a:pPr marL="136525" indent="10239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salesPeople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36525" indent="10239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Adrian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0">
              <a:buNone/>
            </a:pPr>
            <a:r>
              <a:rPr lang="ru-RU" dirty="0"/>
              <a:t>{Лишить пользователя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Adrian</a:t>
            </a:r>
            <a:r>
              <a:rPr lang="ru-RU" dirty="0"/>
              <a:t> права на добавление данных в таблицу </a:t>
            </a:r>
            <a:r>
              <a:rPr lang="ru-RU" dirty="0" smtClean="0"/>
              <a:t>продавцов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salesPeople</a:t>
            </a:r>
            <a:r>
              <a:rPr lang="ru-RU" dirty="0" smtClean="0"/>
              <a:t>}.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308779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Лишение </a:t>
            </a:r>
            <a:r>
              <a:rPr lang="ru-RU" dirty="0"/>
              <a:t>привилегий доступа к таблицам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Возникает вопрос: кто имеет право отменять привилегии, и что делать в том случае, если пользователь успел передать свои привилегии?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не стандартная ситуация, поэтому нет никаких авторитетных ответов на эти вопросы. </a:t>
            </a:r>
            <a:endParaRPr lang="ru-RU" dirty="0" smtClean="0"/>
          </a:p>
          <a:p>
            <a:r>
              <a:rPr lang="ru-RU" dirty="0" smtClean="0"/>
              <a:t>Наиболее </a:t>
            </a:r>
            <a:r>
              <a:rPr lang="ru-RU" dirty="0"/>
              <a:t>общий подход в такой ситуации следующий: привилегии отменяются пользователем, который их предоставил, и отмена будет </a:t>
            </a:r>
            <a:r>
              <a:rPr lang="ru-RU" dirty="0" err="1"/>
              <a:t>каскадироваться</a:t>
            </a:r>
            <a:r>
              <a:rPr lang="ru-RU" dirty="0"/>
              <a:t>, то есть она будет автоматически распространяться на всех пользователям получивших от него эту привилегию.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83539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Использование представлений для фильтрации привилегий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Всякий раз, когда пользователю выделяется привилегия к базовой таблице, она автоматически распространяется на все строки, а при использовании возможных исключений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ru-RU" dirty="0"/>
              <a:t> и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REFERENCES</a:t>
            </a:r>
            <a:r>
              <a:rPr lang="ru-RU" dirty="0"/>
              <a:t>, и на все столбцы таблицы. </a:t>
            </a:r>
            <a:endParaRPr lang="ru-RU" dirty="0" smtClean="0"/>
          </a:p>
          <a:p>
            <a:r>
              <a:rPr lang="ru-RU" dirty="0" smtClean="0"/>
              <a:t>Действия </a:t>
            </a:r>
            <a:r>
              <a:rPr lang="ru-RU" dirty="0"/>
              <a:t>привилегий по отношению к базовой таблице можно сделать более точными, используя представления. </a:t>
            </a:r>
            <a:endParaRPr lang="ru-RU" dirty="0" smtClean="0"/>
          </a:p>
          <a:p>
            <a:r>
              <a:rPr lang="ru-RU" dirty="0" smtClean="0"/>
              <a:t>Сначала создается </a:t>
            </a:r>
            <a:r>
              <a:rPr lang="ru-RU" dirty="0"/>
              <a:t>представление, которое ссылается на основную </a:t>
            </a:r>
            <a:r>
              <a:rPr lang="ru-RU" dirty="0" smtClean="0"/>
              <a:t>таблицу, а </a:t>
            </a:r>
            <a:r>
              <a:rPr lang="ru-RU" dirty="0"/>
              <a:t>затем </a:t>
            </a:r>
            <a:r>
              <a:rPr lang="ru-RU" dirty="0" smtClean="0"/>
              <a:t>уже </a:t>
            </a:r>
            <a:r>
              <a:rPr lang="ru-RU" dirty="0"/>
              <a:t>выделяется </a:t>
            </a:r>
            <a:r>
              <a:rPr lang="ru-RU" dirty="0" smtClean="0"/>
              <a:t>привилегия доступа к этому представлению, </a:t>
            </a:r>
            <a:r>
              <a:rPr lang="ru-RU" dirty="0"/>
              <a:t>а не </a:t>
            </a:r>
            <a:r>
              <a:rPr lang="ru-RU" dirty="0" smtClean="0"/>
              <a:t>к самой таблице. </a:t>
            </a:r>
          </a:p>
          <a:p>
            <a:r>
              <a:rPr lang="ru-RU" dirty="0" smtClean="0"/>
              <a:t>Это </a:t>
            </a:r>
            <a:r>
              <a:rPr lang="ru-RU" dirty="0"/>
              <a:t>значительно улучшает базисные возможности команды GRANT.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00854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Использование представлений для фильтрации привилегий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70230"/>
            <a:ext cx="8229600" cy="3674005"/>
          </a:xfrm>
        </p:spPr>
        <p:txBody>
          <a:bodyPr/>
          <a:lstStyle/>
          <a:p>
            <a:r>
              <a:rPr lang="ru-RU" dirty="0" smtClean="0"/>
              <a:t>Таким образом представления </a:t>
            </a:r>
            <a:r>
              <a:rPr lang="ru-RU" dirty="0"/>
              <a:t>позволяют сделать видимыми для субъектов только определенные столбцы или определенные строки базовых таблиц. </a:t>
            </a:r>
            <a:endParaRPr lang="ru-RU" dirty="0" smtClean="0"/>
          </a:p>
          <a:p>
            <a:r>
              <a:rPr lang="ru-RU" dirty="0" smtClean="0"/>
              <a:t>Сконструировав </a:t>
            </a:r>
            <a:r>
              <a:rPr lang="ru-RU" dirty="0"/>
              <a:t>подходящие представления, администратор БД, по существу, защищает таблицы от несанкционированного доступа и снабжает каждого пользователя своим видением БД, когда недоступные для него </a:t>
            </a:r>
            <a:r>
              <a:rPr lang="ru-RU" dirty="0" smtClean="0"/>
              <a:t>объекты как </a:t>
            </a:r>
            <a:r>
              <a:rPr lang="ru-RU" dirty="0"/>
              <a:t>бы не существуют.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287714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2185" y="274638"/>
            <a:ext cx="852529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Предоставление привилегий </a:t>
            </a:r>
            <a:r>
              <a:rPr lang="ru-RU" dirty="0"/>
              <a:t>доступа к </a:t>
            </a:r>
            <a:r>
              <a:rPr lang="ru-RU" dirty="0" smtClean="0"/>
              <a:t>представлениям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505" y="1600200"/>
            <a:ext cx="8892480" cy="4708525"/>
          </a:xfrm>
        </p:spPr>
        <p:txBody>
          <a:bodyPr/>
          <a:lstStyle/>
          <a:p>
            <a:r>
              <a:rPr lang="ru-RU" b="1" dirty="0" smtClean="0"/>
              <a:t>Пример. </a:t>
            </a:r>
            <a:r>
              <a:rPr lang="ru-RU" dirty="0" smtClean="0"/>
              <a:t>Пусть пользователю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Thomas</a:t>
            </a:r>
            <a:r>
              <a:rPr lang="en-US" dirty="0"/>
              <a:t> </a:t>
            </a:r>
            <a:r>
              <a:rPr lang="ru-RU" dirty="0"/>
              <a:t>необходимо предоставить возможность видеть только столбцы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n-US" dirty="0"/>
              <a:t> </a:t>
            </a:r>
            <a:r>
              <a:rPr lang="ru-RU" dirty="0"/>
              <a:t>базовой таблицы продавцов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salesPeople</a:t>
            </a:r>
            <a:r>
              <a:rPr lang="en-US" dirty="0"/>
              <a:t>. </a:t>
            </a:r>
            <a:endParaRPr lang="ru-RU" dirty="0"/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VIEW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thomasView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SELECT name, address </a:t>
            </a:r>
          </a:p>
          <a:p>
            <a:pPr marL="136525" indent="10239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salesPeople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ru-RU" dirty="0" smtClean="0"/>
              <a:t>Теперь пользователю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Thomas</a:t>
            </a:r>
            <a:r>
              <a:rPr lang="en-US" dirty="0"/>
              <a:t> </a:t>
            </a:r>
            <a:r>
              <a:rPr lang="ru-RU" dirty="0"/>
              <a:t>выделяется привилегия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/>
              <a:t> </a:t>
            </a:r>
            <a:r>
              <a:rPr lang="ru-RU" dirty="0"/>
              <a:t>к представлению </a:t>
            </a:r>
            <a:r>
              <a:rPr lang="en-US" dirty="0" err="1" smtClean="0"/>
              <a:t>t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homasView</a:t>
            </a:r>
            <a:r>
              <a:rPr lang="ru-RU" dirty="0" smtClean="0"/>
              <a:t>, а не к самой таблице</a:t>
            </a:r>
            <a:r>
              <a:rPr lang="en-US" dirty="0" smtClean="0"/>
              <a:t> </a:t>
            </a:r>
            <a:endParaRPr lang="ru-RU" dirty="0" smtClean="0"/>
          </a:p>
          <a:p>
            <a:pPr indent="612775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GRANT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</a:p>
          <a:p>
            <a:pPr indent="612775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thomasView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indent="612775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 Thomas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961560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Доступ </a:t>
            </a:r>
            <a:r>
              <a:rPr lang="ru-RU" dirty="0"/>
              <a:t>к </a:t>
            </a:r>
            <a:r>
              <a:rPr lang="ru-RU" dirty="0" smtClean="0"/>
              <a:t>представлениям с фильтрацией строк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6525" y="1600200"/>
            <a:ext cx="8505945" cy="4708525"/>
          </a:xfrm>
        </p:spPr>
        <p:txBody>
          <a:bodyPr/>
          <a:lstStyle/>
          <a:p>
            <a:r>
              <a:rPr lang="ru-RU" dirty="0" smtClean="0"/>
              <a:t>Пользователю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Adrian</a:t>
            </a:r>
            <a:r>
              <a:rPr lang="ru-RU" dirty="0"/>
              <a:t> предоставить </a:t>
            </a:r>
            <a:r>
              <a:rPr lang="ru-RU" dirty="0" smtClean="0"/>
              <a:t>привилегию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ru-RU" dirty="0"/>
              <a:t> в таблице </a:t>
            </a:r>
            <a:r>
              <a:rPr lang="ru-RU" dirty="0" smtClean="0"/>
              <a:t>заказчиков </a:t>
            </a:r>
            <a:r>
              <a:rPr lang="en-US" dirty="0"/>
              <a:t>customers</a:t>
            </a:r>
            <a:r>
              <a:rPr lang="ru-RU" dirty="0" smtClean="0"/>
              <a:t>, </a:t>
            </a:r>
            <a:r>
              <a:rPr lang="ru-RU" dirty="0"/>
              <a:t>размещенных в </a:t>
            </a:r>
            <a:r>
              <a:rPr lang="ru-RU" dirty="0" smtClean="0"/>
              <a:t>Лондоне:  </a:t>
            </a:r>
            <a:endParaRPr lang="ru-RU" dirty="0"/>
          </a:p>
          <a:p>
            <a:pPr marL="136525" indent="1119188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VIEW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londoncust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119188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SELECT *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119188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customers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119188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city = 'London'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119188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CHECK OPTION,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41275">
              <a:buNone/>
            </a:pPr>
            <a:r>
              <a:rPr lang="ru-RU" dirty="0" smtClean="0"/>
              <a:t>затем необходимо передать </a:t>
            </a:r>
            <a:r>
              <a:rPr lang="ru-RU" dirty="0"/>
              <a:t>пользователю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Adrian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/>
              <a:t>привилегию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ru-RU" dirty="0" smtClean="0"/>
              <a:t>к </a:t>
            </a:r>
            <a:r>
              <a:rPr lang="ru-RU" dirty="0"/>
              <a:t>созданному </a:t>
            </a:r>
            <a:r>
              <a:rPr lang="ru-RU" dirty="0" smtClean="0"/>
              <a:t>представлению: </a:t>
            </a:r>
            <a:endParaRPr lang="ru-RU" dirty="0"/>
          </a:p>
          <a:p>
            <a:pPr marL="136525" indent="11191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GRANT UPDATE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1191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Londoncust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1191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 Adrian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66535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Доступ к представлениям с фильтрацией </a:t>
            </a:r>
            <a:r>
              <a:rPr lang="ru-RU" dirty="0" smtClean="0"/>
              <a:t>столбцов и строк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505" y="1600200"/>
            <a:ext cx="8840325" cy="4708525"/>
          </a:xfrm>
        </p:spPr>
        <p:txBody>
          <a:bodyPr/>
          <a:lstStyle/>
          <a:p>
            <a:r>
              <a:rPr lang="ru-RU" dirty="0"/>
              <a:t>Фильтрацию данных в представлении можно распространить </a:t>
            </a:r>
            <a:r>
              <a:rPr lang="ru-RU" dirty="0" smtClean="0"/>
              <a:t> на </a:t>
            </a:r>
            <a:r>
              <a:rPr lang="ru-RU" dirty="0"/>
              <a:t>конкретные столбцы и </a:t>
            </a:r>
            <a:r>
              <a:rPr lang="ru-RU" dirty="0" smtClean="0"/>
              <a:t>строки исходной таблицы.</a:t>
            </a:r>
          </a:p>
          <a:p>
            <a:r>
              <a:rPr lang="ru-RU" dirty="0" smtClean="0"/>
              <a:t>Пусть </a:t>
            </a:r>
            <a:r>
              <a:rPr lang="ru-RU" dirty="0"/>
              <a:t>всем пользователям необходимо предоставить возможность видеть в исходной таблице сотрудников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ru-RU" dirty="0"/>
              <a:t> только два столбца: фамилию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u-RU" dirty="0"/>
              <a:t> и отдел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dept</a:t>
            </a:r>
            <a:r>
              <a:rPr lang="ru-RU" dirty="0"/>
              <a:t> и только строки, относящиеся к обувному отделу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shoe</a:t>
            </a:r>
            <a:r>
              <a:rPr lang="ru-RU" dirty="0"/>
              <a:t>. </a:t>
            </a:r>
          </a:p>
          <a:p>
            <a:r>
              <a:rPr lang="ru-RU" dirty="0"/>
              <a:t>Сначала создаем соответствующее представление:</a:t>
            </a:r>
          </a:p>
          <a:p>
            <a:pPr marL="136525" indent="10239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CREATE VIEW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empview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ru-RU" dirty="0">
                <a:cs typeface="Courier New" panose="02070309020205020404" pitchFamily="49" charset="0"/>
              </a:rPr>
              <a:t>(условие)</a:t>
            </a:r>
          </a:p>
          <a:p>
            <a:pPr marL="136525" indent="10239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dept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0239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02393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dept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= ‘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‘.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83631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Доступ к представлениям с фильтрацией </a:t>
            </a:r>
            <a:r>
              <a:rPr lang="ru-RU" dirty="0" smtClean="0"/>
              <a:t>столбцов и </a:t>
            </a:r>
            <a:r>
              <a:rPr lang="ru-RU" dirty="0"/>
              <a:t>строк 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Затем предоставляется </a:t>
            </a:r>
            <a:r>
              <a:rPr lang="ru-RU" dirty="0"/>
              <a:t>всем право на выборку из </a:t>
            </a:r>
            <a:r>
              <a:rPr lang="ru-RU" dirty="0" smtClean="0"/>
              <a:t>созданного представления</a:t>
            </a:r>
            <a:r>
              <a:rPr lang="ru-RU" dirty="0"/>
              <a:t>:</a:t>
            </a: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 SELECT</a:t>
            </a: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empview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TO PUBLIC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ru-RU" dirty="0"/>
              <a:t>Если </a:t>
            </a:r>
            <a:r>
              <a:rPr lang="ru-RU" dirty="0" smtClean="0"/>
              <a:t>при доступе </a:t>
            </a:r>
            <a:r>
              <a:rPr lang="ru-RU" dirty="0"/>
              <a:t>к представлению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empview</a:t>
            </a:r>
            <a:r>
              <a:rPr lang="ru-RU" dirty="0"/>
              <a:t>, </a:t>
            </a:r>
            <a:r>
              <a:rPr lang="ru-RU" dirty="0" smtClean="0"/>
              <a:t>пытаться запросить </a:t>
            </a:r>
            <a:r>
              <a:rPr lang="ru-RU" dirty="0"/>
              <a:t>сведения, относящиеся к отделу игрушек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toy</a:t>
            </a:r>
            <a:r>
              <a:rPr lang="ru-RU" dirty="0"/>
              <a:t>:</a:t>
            </a: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SELECT *</a:t>
            </a: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empview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36525" indent="1119188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dept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= ‘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toy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‘,</a:t>
            </a:r>
          </a:p>
          <a:p>
            <a:pPr marL="136525" indent="0">
              <a:buNone/>
            </a:pPr>
            <a:r>
              <a:rPr lang="ru-RU" dirty="0" smtClean="0"/>
              <a:t>      </a:t>
            </a:r>
            <a:r>
              <a:rPr lang="ru-RU" u="sng" dirty="0" smtClean="0"/>
              <a:t>то ответ будет из </a:t>
            </a:r>
            <a:r>
              <a:rPr lang="ru-RU" u="sng" dirty="0"/>
              <a:t>нуля строк, а не код </a:t>
            </a:r>
            <a:r>
              <a:rPr lang="ru-RU" u="sng" dirty="0" smtClean="0"/>
              <a:t>ответа</a:t>
            </a:r>
            <a:r>
              <a:rPr lang="ru-RU" dirty="0" smtClean="0"/>
              <a:t>.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899334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Привилегии пользователя при создании представления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38790"/>
            <a:ext cx="8229600" cy="4708525"/>
          </a:xfrm>
        </p:spPr>
        <p:txBody>
          <a:bodyPr/>
          <a:lstStyle/>
          <a:p>
            <a:r>
              <a:rPr lang="ru-RU" sz="2300" dirty="0"/>
              <a:t>При создании представления пользователь должен иметь привилегию </a:t>
            </a: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ru-RU" sz="2300" dirty="0"/>
              <a:t> ко всем базовым таблицам, на которые имеются ссылки в создаваемом представлении. </a:t>
            </a:r>
            <a:endParaRPr lang="ru-RU" sz="2300" dirty="0" smtClean="0"/>
          </a:p>
          <a:p>
            <a:r>
              <a:rPr lang="ru-RU" sz="2300" dirty="0" smtClean="0"/>
              <a:t>Если </a:t>
            </a:r>
            <a:r>
              <a:rPr lang="ru-RU" sz="2300" dirty="0"/>
              <a:t>представление – модифицируемое, то пользователь должен иметь привилегии </a:t>
            </a: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INSERT, UPDATE</a:t>
            </a:r>
            <a:r>
              <a:rPr lang="ru-RU" sz="2300" dirty="0"/>
              <a:t>, и </a:t>
            </a: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ru-RU" sz="2300" dirty="0"/>
              <a:t> к базовым таблицам, причем эти привилегии будут автоматически передаваться и к представлению. </a:t>
            </a:r>
            <a:endParaRPr lang="ru-RU" sz="2300" dirty="0" smtClean="0"/>
          </a:p>
          <a:p>
            <a:r>
              <a:rPr lang="ru-RU" sz="2300" dirty="0" smtClean="0"/>
              <a:t>Если </a:t>
            </a:r>
            <a:r>
              <a:rPr lang="ru-RU" sz="2300" dirty="0"/>
              <a:t>пользователь не имеет привилегий на модификацию в базовых таблицах, то он не сможет получить их и в представлениях, которые он создал, даже если сами эти представления </a:t>
            </a:r>
            <a:r>
              <a:rPr lang="ru-RU" sz="2300" dirty="0" smtClean="0"/>
              <a:t>– модифицируемые</a:t>
            </a:r>
            <a:r>
              <a:rPr lang="ru-RU" sz="2300" dirty="0"/>
              <a:t>. </a:t>
            </a:r>
          </a:p>
          <a:p>
            <a:r>
              <a:rPr lang="ru-RU" sz="2300" dirty="0" smtClean="0"/>
              <a:t>Привилегия </a:t>
            </a: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REFERENCES</a:t>
            </a:r>
            <a:r>
              <a:rPr lang="ru-RU" sz="2300" dirty="0"/>
              <a:t> при создании представлений никогда не используется</a:t>
            </a:r>
            <a:r>
              <a:rPr lang="ru-RU" sz="2300" dirty="0" smtClean="0"/>
              <a:t>.</a:t>
            </a:r>
            <a:endParaRPr lang="ru-RU" sz="23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674721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Представления с агрегатными функциями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Другая возможность состоит в том, чтобы предлагать пользователям доступ к уже извлеченным данным,  </a:t>
            </a:r>
            <a:r>
              <a:rPr lang="ru-RU" dirty="0" smtClean="0"/>
              <a:t>         а </a:t>
            </a:r>
            <a:r>
              <a:rPr lang="ru-RU" dirty="0"/>
              <a:t>не к фактическим значениям в исходной таблице. </a:t>
            </a:r>
            <a:endParaRPr lang="en-US" dirty="0" smtClean="0"/>
          </a:p>
          <a:p>
            <a:r>
              <a:rPr lang="ru-RU" dirty="0" smtClean="0"/>
              <a:t>Реализовать </a:t>
            </a:r>
            <a:r>
              <a:rPr lang="ru-RU" dirty="0"/>
              <a:t>эту возможность позволяют агрегатные функции. </a:t>
            </a:r>
            <a:endParaRPr lang="en-US" dirty="0" smtClean="0"/>
          </a:p>
          <a:p>
            <a:r>
              <a:rPr lang="ru-RU" dirty="0" smtClean="0"/>
              <a:t>С </a:t>
            </a:r>
            <a:r>
              <a:rPr lang="ru-RU" dirty="0"/>
              <a:t>помощью агрегатных функций можно создавать представление, которое реализует: </a:t>
            </a:r>
            <a:endParaRPr lang="en-US" dirty="0" smtClean="0"/>
          </a:p>
          <a:p>
            <a:pPr marL="1524000" indent="-361950">
              <a:buFont typeface="Wingdings" panose="05000000000000000000" pitchFamily="2" charset="2"/>
              <a:buChar char="q"/>
            </a:pPr>
            <a:r>
              <a:rPr lang="ru-RU" dirty="0" smtClean="0"/>
              <a:t>счет </a:t>
            </a:r>
            <a:r>
              <a:rPr lang="ru-RU" dirty="0"/>
              <a:t>COUNT, </a:t>
            </a:r>
            <a:endParaRPr lang="en-US" dirty="0" smtClean="0"/>
          </a:p>
          <a:p>
            <a:pPr marL="1524000" indent="-361950">
              <a:buFont typeface="Wingdings" panose="05000000000000000000" pitchFamily="2" charset="2"/>
              <a:buChar char="q"/>
            </a:pPr>
            <a:r>
              <a:rPr lang="ru-RU" dirty="0" smtClean="0"/>
              <a:t>среднее </a:t>
            </a:r>
            <a:r>
              <a:rPr lang="ru-RU" dirty="0"/>
              <a:t>значение AVG, </a:t>
            </a:r>
            <a:endParaRPr lang="en-US" dirty="0" smtClean="0"/>
          </a:p>
          <a:p>
            <a:pPr marL="1524000" indent="-361950">
              <a:buFont typeface="Wingdings" panose="05000000000000000000" pitchFamily="2" charset="2"/>
              <a:buChar char="q"/>
            </a:pPr>
            <a:r>
              <a:rPr lang="ru-RU" dirty="0" smtClean="0"/>
              <a:t>общее </a:t>
            </a:r>
            <a:r>
              <a:rPr lang="ru-RU" dirty="0"/>
              <a:t>количество </a:t>
            </a:r>
            <a:r>
              <a:rPr lang="ru-RU" dirty="0" smtClean="0"/>
              <a:t>SUM,</a:t>
            </a:r>
          </a:p>
          <a:p>
            <a:pPr marL="1524000" indent="-361950">
              <a:buFont typeface="Wingdings" panose="05000000000000000000" pitchFamily="2" charset="2"/>
              <a:buChar char="q"/>
            </a:pPr>
            <a:r>
              <a:rPr lang="ru-RU" dirty="0" smtClean="0"/>
              <a:t>и др.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71378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Представления с агрегатными функциями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1570" y="1600200"/>
            <a:ext cx="8229601" cy="4708525"/>
          </a:xfrm>
        </p:spPr>
        <p:txBody>
          <a:bodyPr/>
          <a:lstStyle/>
          <a:p>
            <a:pPr marL="136525" indent="941388">
              <a:buNone/>
            </a:pPr>
            <a:r>
              <a:rPr lang="ru-RU" b="1" dirty="0" smtClean="0">
                <a:cs typeface="Courier New" panose="02070309020205020404" pitchFamily="49" charset="0"/>
              </a:rPr>
              <a:t>Пример.</a:t>
            </a:r>
          </a:p>
          <a:p>
            <a:pPr marL="136525" indent="941388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VIEW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datetotals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36525" indent="941388">
              <a:buNone/>
            </a:pPr>
            <a:r>
              <a:rPr lang="en-US" spc="-300" dirty="0">
                <a:latin typeface="Courier New" panose="02070309020205020404" pitchFamily="49" charset="0"/>
                <a:cs typeface="Courier New" panose="02070309020205020404" pitchFamily="49" charset="0"/>
              </a:rPr>
              <a:t>AS SELECT </a:t>
            </a:r>
            <a:r>
              <a:rPr lang="en-US" spc="-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odate</a:t>
            </a:r>
            <a:r>
              <a:rPr lang="en-US" spc="-300" dirty="0">
                <a:latin typeface="Courier New" panose="02070309020205020404" pitchFamily="49" charset="0"/>
                <a:cs typeface="Courier New" panose="02070309020205020404" pitchFamily="49" charset="0"/>
              </a:rPr>
              <a:t>, COUNT (*), SUM (</a:t>
            </a:r>
            <a:r>
              <a:rPr lang="en-US" spc="-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amt</a:t>
            </a:r>
            <a:r>
              <a:rPr lang="en-US" spc="-300" dirty="0">
                <a:latin typeface="Courier New" panose="02070309020205020404" pitchFamily="49" charset="0"/>
                <a:cs typeface="Courier New" panose="02070309020205020404" pitchFamily="49" charset="0"/>
              </a:rPr>
              <a:t>), AVG (</a:t>
            </a:r>
            <a:r>
              <a:rPr lang="en-US" spc="-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amt</a:t>
            </a:r>
            <a:r>
              <a:rPr lang="en-US" spc="-3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136525" indent="9413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Orders </a:t>
            </a:r>
          </a:p>
          <a:p>
            <a:pPr marL="136525" indent="9413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odate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Теперь можно передать пользователю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Diane</a:t>
            </a:r>
            <a:r>
              <a:rPr lang="en-US" dirty="0"/>
              <a:t> </a:t>
            </a:r>
            <a:r>
              <a:rPr lang="ru-RU" dirty="0"/>
              <a:t>привилегию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/>
              <a:t> </a:t>
            </a:r>
            <a:r>
              <a:rPr lang="ru-RU" dirty="0"/>
              <a:t>в представлении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datetotals</a:t>
            </a:r>
            <a:r>
              <a:rPr lang="en-US" dirty="0"/>
              <a:t>:  </a:t>
            </a:r>
          </a:p>
          <a:p>
            <a:pPr marL="136525" indent="941388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GRANT SELECT </a:t>
            </a:r>
          </a:p>
          <a:p>
            <a:pPr marL="136525" indent="941388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datetotals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36525" indent="941388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 Diane.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47018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Привилегии доступа к процедурам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48780"/>
            <a:ext cx="8229600" cy="4708525"/>
          </a:xfrm>
        </p:spPr>
        <p:txBody>
          <a:bodyPr/>
          <a:lstStyle/>
          <a:p>
            <a:pPr>
              <a:spcBef>
                <a:spcPts val="600"/>
              </a:spcBef>
              <a:buClrTx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 отношению к </a:t>
            </a:r>
            <a:r>
              <a:rPr lang="ru-RU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процедуре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можно предоставить лишь право на ее выполнение. При этом не нужно заботиться о выделении прав доступа к объектам, обрабатываемым процедурой – их наличие не обязательно. </a:t>
            </a:r>
          </a:p>
          <a:p>
            <a:pPr>
              <a:spcBef>
                <a:spcPts val="600"/>
              </a:spcBef>
              <a:buClrTx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Таким образом процедуры БД являются удобным средством предоставления контролируемого доступа для выполнения строго определенных действий с данными.</a:t>
            </a:r>
          </a:p>
          <a:p>
            <a:pPr>
              <a:spcBef>
                <a:spcPts val="600"/>
              </a:spcBef>
              <a:buClrTx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 предоставления права выполнения (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EXECUTE</a:t>
            </a:r>
            <a:r>
              <a:rPr lang="ru-RU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процедуры </a:t>
            </a:r>
            <a:r>
              <a:rPr lang="ru-RU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integ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всем пользователям: </a:t>
            </a:r>
          </a:p>
          <a:p>
            <a:pPr indent="-15875">
              <a:spcBef>
                <a:spcPts val="600"/>
              </a:spcBef>
              <a:buClrTx/>
              <a:buNone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GRANT  EXECUTE</a:t>
            </a:r>
          </a:p>
          <a:p>
            <a:pPr indent="-15875">
              <a:spcBef>
                <a:spcPts val="600"/>
              </a:spcBef>
              <a:buClrTx/>
              <a:buNone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ON PROCEDURE </a:t>
            </a:r>
            <a:r>
              <a:rPr lang="ru-RU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integ_check</a:t>
            </a:r>
            <a:endParaRPr lang="ru-RU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indent="-15875">
              <a:spcBef>
                <a:spcPts val="600"/>
              </a:spcBef>
              <a:buClrTx/>
              <a:buNone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TO PUBLIC.</a:t>
            </a:r>
          </a:p>
          <a:p>
            <a:pPr>
              <a:spcBef>
                <a:spcPts val="600"/>
              </a:spcBef>
              <a:buClrTx/>
            </a:pP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56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346782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Привилегии доступа к процедурам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 умолчанию все пользователи имеют право создавать процедуры в БД. Если бы они при этом автоматически получали права на их выполнение, то смогли бы осуществить, по существу, любую операцию с данными, поскольку выполнение процедуры не требует прав доступа к обрабатываемым объектам.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исключения этой возможности </a:t>
            </a:r>
            <a:r>
              <a:rPr lang="ru-RU" dirty="0" smtClean="0"/>
              <a:t>предоставление </a:t>
            </a:r>
            <a:r>
              <a:rPr lang="ru-RU" dirty="0"/>
              <a:t>права на выполнение процедуры, возможна только администратором БД. </a:t>
            </a:r>
            <a:endParaRPr lang="ru-RU" dirty="0" smtClean="0"/>
          </a:p>
          <a:p>
            <a:r>
              <a:rPr lang="ru-RU" dirty="0" smtClean="0"/>
              <a:t>Видно</a:t>
            </a:r>
            <a:r>
              <a:rPr lang="ru-RU" dirty="0"/>
              <a:t>, насколько осторожно нужно относиться к предоставлению привилегий выполнения по отношению к новым, непроверенным процедурам.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569645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Права доступа  к БД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Права доступа к БД как к единому целому может предоставлять только администратор  БД </a:t>
            </a:r>
            <a:r>
              <a:rPr lang="ru-RU" dirty="0"/>
              <a:t>или администратор сервера БД.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Эти «права» на самом деле устанавливают ряд ограничений на использование БД, т.е. по сути, являются запретительными.</a:t>
            </a:r>
          </a:p>
          <a:p>
            <a:r>
              <a:rPr lang="ru-RU" dirty="0"/>
              <a:t>Так, в СУБД  INGRES в правах доступа к БД используются следующие виды  ограничений:</a:t>
            </a:r>
          </a:p>
          <a:p>
            <a:pPr marL="900113" indent="-273050">
              <a:buFont typeface="Wingdings" panose="05000000000000000000" pitchFamily="2" charset="2"/>
              <a:buChar char="Ø"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QUERY_IO_LIMIT</a:t>
            </a:r>
            <a:r>
              <a:rPr lang="ru-RU" dirty="0" smtClean="0"/>
              <a:t> </a:t>
            </a:r>
            <a:r>
              <a:rPr lang="ru-RU" dirty="0"/>
              <a:t>– предполагаемое максимальное число операций ввода/вывода на один запрос; </a:t>
            </a:r>
          </a:p>
          <a:p>
            <a:pPr marL="900113" indent="-273050">
              <a:buFont typeface="Wingdings" panose="05000000000000000000" pitchFamily="2" charset="2"/>
              <a:buChar char="Ø"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QUERY_ROW_LIMIT</a:t>
            </a:r>
            <a:r>
              <a:rPr lang="ru-RU" dirty="0" smtClean="0"/>
              <a:t> </a:t>
            </a:r>
            <a:r>
              <a:rPr lang="ru-RU" dirty="0"/>
              <a:t>– предполагаемое максимальное число строк, возвращаемых одним запросом</a:t>
            </a:r>
            <a:r>
              <a:rPr lang="ru-RU" dirty="0" smtClean="0"/>
              <a:t>;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651974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Права доступа  к 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6525" y="1600200"/>
            <a:ext cx="8686801" cy="4708525"/>
          </a:xfrm>
        </p:spPr>
        <p:txBody>
          <a:bodyPr/>
          <a:lstStyle/>
          <a:p>
            <a:pPr marL="982663" indent="-355600">
              <a:buFont typeface="Wingdings" panose="05000000000000000000" pitchFamily="2" charset="2"/>
              <a:buChar char="Ø"/>
            </a:pPr>
            <a:r>
              <a:rPr lang="ru-RU" dirty="0" smtClean="0"/>
              <a:t>ограничение </a:t>
            </a:r>
            <a:r>
              <a:rPr lang="ru-RU" dirty="0"/>
              <a:t>на использование ресурсов процессора;</a:t>
            </a:r>
          </a:p>
          <a:p>
            <a:pPr marL="982663" indent="-355600">
              <a:buFont typeface="Wingdings" panose="05000000000000000000" pitchFamily="2" charset="2"/>
              <a:buChar char="Ø"/>
            </a:pPr>
            <a:r>
              <a:rPr lang="ru-RU" dirty="0" smtClean="0"/>
              <a:t>ограничение </a:t>
            </a:r>
            <a:r>
              <a:rPr lang="ru-RU" dirty="0"/>
              <a:t>на число запрашиваемых страниц;</a:t>
            </a:r>
          </a:p>
          <a:p>
            <a:pPr marL="982663" indent="-355600">
              <a:buFont typeface="Wingdings" panose="05000000000000000000" pitchFamily="2" charset="2"/>
              <a:buChar char="Ø"/>
            </a:pPr>
            <a:r>
              <a:rPr lang="ru-RU" dirty="0" smtClean="0"/>
              <a:t>управление </a:t>
            </a:r>
            <a:r>
              <a:rPr lang="ru-RU" dirty="0"/>
              <a:t>доступом к БД;</a:t>
            </a:r>
          </a:p>
          <a:p>
            <a:pPr marL="982663" indent="-355600">
              <a:buFont typeface="Wingdings" panose="05000000000000000000" pitchFamily="2" charset="2"/>
              <a:buChar char="Ø"/>
            </a:pPr>
            <a:r>
              <a:rPr lang="ru-RU" dirty="0" smtClean="0"/>
              <a:t>управление </a:t>
            </a:r>
            <a:r>
              <a:rPr lang="ru-RU" dirty="0"/>
              <a:t>созданием таблиц;</a:t>
            </a:r>
          </a:p>
          <a:p>
            <a:pPr marL="982663" indent="-355600">
              <a:buFont typeface="Wingdings" panose="05000000000000000000" pitchFamily="2" charset="2"/>
              <a:buChar char="Ø"/>
            </a:pPr>
            <a:r>
              <a:rPr lang="ru-RU" dirty="0" smtClean="0"/>
              <a:t>управление </a:t>
            </a:r>
            <a:r>
              <a:rPr lang="ru-RU" dirty="0"/>
              <a:t>созданием  процедур; </a:t>
            </a:r>
          </a:p>
          <a:p>
            <a:pPr marL="982663" indent="-355600">
              <a:buFont typeface="Wingdings" panose="05000000000000000000" pitchFamily="2" charset="2"/>
              <a:buChar char="Ø"/>
            </a:pPr>
            <a:r>
              <a:rPr lang="ru-RU" dirty="0" smtClean="0"/>
              <a:t>управление </a:t>
            </a:r>
            <a:r>
              <a:rPr lang="ru-RU" dirty="0"/>
              <a:t>использованием опции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ru-RU" dirty="0"/>
              <a:t> (подключение от имени другого пользователя).</a:t>
            </a:r>
          </a:p>
          <a:p>
            <a:r>
              <a:rPr lang="ru-RU" dirty="0"/>
              <a:t>По умолчанию в правах пользователя нет </a:t>
            </a:r>
            <a:r>
              <a:rPr lang="ru-RU" dirty="0" smtClean="0"/>
              <a:t>этих ограничений</a:t>
            </a:r>
            <a:r>
              <a:rPr lang="ru-RU" dirty="0"/>
              <a:t>. </a:t>
            </a:r>
          </a:p>
          <a:p>
            <a:r>
              <a:rPr lang="ru-RU" dirty="0"/>
              <a:t>Привилегии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QUERY_IO_LIMIT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QUERY_ROW_LIMIT </a:t>
            </a:r>
            <a:r>
              <a:rPr lang="ru-RU" dirty="0" smtClean="0"/>
              <a:t>пользователей </a:t>
            </a:r>
            <a:r>
              <a:rPr lang="ru-RU" dirty="0"/>
              <a:t>проверяются на основании оценок, выдаваемых оптимизатором запросов </a:t>
            </a:r>
            <a:r>
              <a:rPr lang="ru-RU" dirty="0" smtClean="0"/>
              <a:t>.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217391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43635"/>
            <a:ext cx="8480285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операторов </a:t>
            </a:r>
            <a:r>
              <a:rPr lang="ru-RU" dirty="0" smtClean="0"/>
              <a:t>доступа </a:t>
            </a:r>
            <a:r>
              <a:rPr lang="ru-RU" dirty="0"/>
              <a:t>к 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530" y="1178750"/>
            <a:ext cx="8595955" cy="4708525"/>
          </a:xfrm>
        </p:spPr>
        <p:txBody>
          <a:bodyPr/>
          <a:lstStyle/>
          <a:p>
            <a:r>
              <a:rPr lang="ru-RU" dirty="0"/>
              <a:t>Примеры операторов управления доступом к БД, как к единому целому:</a:t>
            </a:r>
          </a:p>
          <a:p>
            <a:pPr marL="900113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GRANT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NOCREATE_TABLE,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NOCREATE_PROCEDURE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0113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 DATABASE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new_accts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0113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 GROUP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clerks;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0">
              <a:spcBef>
                <a:spcPts val="0"/>
              </a:spcBef>
              <a:buNone/>
            </a:pPr>
            <a:r>
              <a:rPr lang="en-US" dirty="0"/>
              <a:t>{</a:t>
            </a:r>
            <a:r>
              <a:rPr lang="ru-RU" dirty="0"/>
              <a:t>Запретить членам группы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clerks </a:t>
            </a:r>
            <a:r>
              <a:rPr lang="ru-RU" dirty="0"/>
              <a:t>создавать таблицы и процедуры в базе данных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new_accts</a:t>
            </a:r>
            <a:r>
              <a:rPr lang="en-US" dirty="0"/>
              <a:t>};</a:t>
            </a:r>
          </a:p>
          <a:p>
            <a:pPr marL="136525" indent="7635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GRANT QUERY_ROW_LIMIT 250</a:t>
            </a:r>
          </a:p>
          <a:p>
            <a:pPr marL="136525" indent="7635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 DATABASE customers</a:t>
            </a:r>
          </a:p>
          <a:p>
            <a:pPr marL="136525" indent="7635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Mary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0">
              <a:spcBef>
                <a:spcPts val="0"/>
              </a:spcBef>
              <a:buNone/>
            </a:pPr>
            <a:r>
              <a:rPr lang="en-US" dirty="0"/>
              <a:t>{</a:t>
            </a:r>
            <a:r>
              <a:rPr lang="ru-RU" dirty="0"/>
              <a:t>Разрешить пользователю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Mary</a:t>
            </a:r>
            <a:r>
              <a:rPr lang="en-US" dirty="0"/>
              <a:t> </a:t>
            </a:r>
            <a:r>
              <a:rPr lang="ru-RU" dirty="0"/>
              <a:t>получать в БД клиентов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customers</a:t>
            </a:r>
            <a:r>
              <a:rPr lang="en-US" dirty="0"/>
              <a:t> </a:t>
            </a:r>
            <a:r>
              <a:rPr lang="ru-RU" dirty="0"/>
              <a:t>не более 250 строк на один запрос}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672615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Права доступа  к серверу БД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Права доступа к серверу БД распространяются на все БД, обслуживаемые данным сервером. Набор этих прав тот же, что и для отдельных БД. </a:t>
            </a:r>
          </a:p>
          <a:p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 оператора, предоставляющего обладателям роли </a:t>
            </a:r>
            <a:r>
              <a:rPr lang="ru-RU" sz="2500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creators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право на создание таблиц во всех БД:</a:t>
            </a:r>
          </a:p>
          <a:p>
            <a:pPr>
              <a:spcBef>
                <a:spcPts val="1200"/>
              </a:spcBef>
            </a:pP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GRANT CREATЕ ТАВLЕ</a:t>
            </a:r>
          </a:p>
          <a:p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ON CURRENT INSTALLATION</a:t>
            </a:r>
          </a:p>
          <a:p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TU ROLE </a:t>
            </a:r>
            <a:r>
              <a:rPr lang="ru-RU" sz="25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creators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Привилегии, явно определенные для отдельных БД, имеют приоритет над привилегиями сервера.</a:t>
            </a:r>
          </a:p>
          <a:p>
            <a:endParaRPr lang="ru-RU" sz="2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179539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Отмена привилегий доступа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2225" y="1600200"/>
            <a:ext cx="8030235" cy="4708525"/>
          </a:xfrm>
        </p:spPr>
        <p:txBody>
          <a:bodyPr/>
          <a:lstStyle/>
          <a:p>
            <a:r>
              <a:rPr lang="ru-RU" dirty="0"/>
              <a:t>Для отмены привилегий, выданных ранее (как разрешительных, так и запретительных), служит оператор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REVOKE</a:t>
            </a:r>
            <a:r>
              <a:rPr lang="ru-RU" dirty="0"/>
              <a:t>. Синтаксически он аналогичен оператору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GRANT</a:t>
            </a:r>
            <a:r>
              <a:rPr lang="ru-RU" dirty="0"/>
              <a:t> с заменой слова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ТО</a:t>
            </a:r>
            <a:r>
              <a:rPr lang="ru-RU" dirty="0"/>
              <a:t> на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FRОМ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Пример:</a:t>
            </a:r>
            <a:endParaRPr lang="ru-RU" dirty="0"/>
          </a:p>
          <a:p>
            <a:pPr marL="136525" indent="941388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REVOKE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QUERY ROW LIMIT</a:t>
            </a:r>
          </a:p>
          <a:p>
            <a:pPr marL="136525" indent="9413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 DATABASE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оуее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525" indent="94138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ОМ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ROLE review emp. 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Приведенный оператор отменяет ограничение на число результирующих строк в одном запросе, если ранее оно было наложено на роль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review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29770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Иерархия прав доступа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7085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ru-RU" dirty="0"/>
              <a:t>Иерархия различных прав доступа задается, обычно, производителем СУБД. Так, в СУБД  INGRES средства управления доступом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позволяют реализовать следующие ограничения доступа:</a:t>
            </a:r>
          </a:p>
          <a:p>
            <a:pPr marL="1255713" lvl="0" indent="-355600">
              <a:spcBef>
                <a:spcPts val="0"/>
              </a:spcBef>
              <a:buFont typeface="Wingdings 2" pitchFamily="18" charset="2"/>
              <a:buChar char=""/>
            </a:pPr>
            <a:r>
              <a:rPr lang="ru-RU" sz="24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операционные </a:t>
            </a:r>
            <a:r>
              <a:rPr lang="ru-RU" b="1" i="1" dirty="0"/>
              <a:t>ограничения </a:t>
            </a:r>
            <a:r>
              <a:rPr lang="ru-RU" dirty="0"/>
              <a:t>(за счет прав доступа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INSERT, UРDАТЕ,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ru-RU" dirty="0" smtClean="0"/>
              <a:t>)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1255713" lvl="0" indent="-355600">
              <a:spcBef>
                <a:spcPts val="0"/>
              </a:spcBef>
              <a:buFont typeface="Wingdings 2" pitchFamily="18" charset="2"/>
              <a:buChar char=""/>
            </a:pPr>
            <a:r>
              <a:rPr lang="ru-RU" sz="24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ограничения по</a:t>
            </a:r>
            <a:r>
              <a:rPr lang="en-US" sz="24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значениям</a:t>
            </a:r>
            <a:r>
              <a:rPr lang="ru-RU" b="1" dirty="0" smtClean="0"/>
              <a:t> </a:t>
            </a:r>
            <a:r>
              <a:rPr lang="ru-RU" dirty="0"/>
              <a:t>(за счет механизма представлений);</a:t>
            </a:r>
          </a:p>
          <a:p>
            <a:pPr marL="1255713" lvl="0" indent="-355600">
              <a:spcBef>
                <a:spcPts val="0"/>
              </a:spcBef>
              <a:buClrTx/>
              <a:buFont typeface="Wingdings 2" pitchFamily="18" charset="2"/>
              <a:buChar char=""/>
            </a:pPr>
            <a:r>
              <a:rPr lang="ru-RU" sz="24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ограничения на ресурсы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(за счет привилегий доступа к БД)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spcBef>
                <a:spcPts val="0"/>
              </a:spcBef>
            </a:pPr>
            <a:r>
              <a:rPr lang="ru-RU" dirty="0"/>
              <a:t>Последний вид ограничений во многих СУБД, в частности, в СУБД ЛИНТЕР отсутствует, вследствие отсутствия доступа к БД в целом. </a:t>
            </a:r>
            <a:endParaRPr lang="ru-RU" dirty="0" smtClean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63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866316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прав доступа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обработке запроса СУБД сначала проверяет операционные ограничения. Если они оказываются нарушенными, запрос отвергается </a:t>
            </a:r>
            <a:r>
              <a:rPr lang="ru-RU" u="sng" dirty="0"/>
              <a:t>с выдачей соответствующей диагностики</a:t>
            </a:r>
            <a:r>
              <a:rPr lang="ru-RU" dirty="0"/>
              <a:t>. Нарушение ограничений на значения влияет только на количество возвращаемых результирующих строк. </a:t>
            </a:r>
            <a:r>
              <a:rPr lang="ru-RU" u="sng" dirty="0"/>
              <a:t>Никакой диагностики при этом не выдается</a:t>
            </a:r>
            <a:r>
              <a:rPr lang="ru-RU" dirty="0"/>
              <a:t>. После учета двух предыдущих ограничений, запрос поступает на обработку оптимизатору запросов для проверки ограничений на ресурсы. Если тот обнаружит превышение этих ограничений, запрос будет отвергнут </a:t>
            </a:r>
            <a:r>
              <a:rPr lang="ru-RU" u="sng" dirty="0"/>
              <a:t>с выдачей соответствующей диагностики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85370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1143000"/>
          </a:xfrm>
        </p:spPr>
        <p:txBody>
          <a:bodyPr/>
          <a:lstStyle/>
          <a:p>
            <a:r>
              <a:rPr lang="ru-RU" dirty="0"/>
              <a:t>Иерархия прав доступа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58" y="1500174"/>
            <a:ext cx="8401080" cy="4708525"/>
          </a:xfrm>
        </p:spPr>
        <p:txBody>
          <a:bodyPr/>
          <a:lstStyle/>
          <a:p>
            <a:pPr marL="0" indent="355600">
              <a:spcBef>
                <a:spcPts val="0"/>
              </a:spcBef>
              <a:buNone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соответствии с принятой в СУБД системой привилегий каждый пользователь помимо собственных, имеет привилегии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PUBLIC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может входить в различные группы и запускать приложения с определенными ролями. </a:t>
            </a:r>
            <a:r>
              <a:rPr lang="ru-RU" dirty="0"/>
              <a:t>Возникает вопрос: как соотносятся между собой права, предоставленные различным именованным носителям привилегий? </a:t>
            </a:r>
            <a:endParaRPr lang="ru-RU" dirty="0" smtClean="0"/>
          </a:p>
          <a:p>
            <a:pPr marL="0" indent="355600">
              <a:spcBef>
                <a:spcPts val="0"/>
              </a:spcBef>
              <a:buNone/>
            </a:pPr>
            <a:r>
              <a:rPr lang="ru-RU" dirty="0"/>
              <a:t>В СУБД INGRES иерархия авторизации привилегий выглядит следующим образом</a:t>
            </a:r>
            <a:r>
              <a:rPr lang="ru-RU" dirty="0" smtClean="0"/>
              <a:t>:</a:t>
            </a:r>
          </a:p>
          <a:p>
            <a:pPr marL="1160463" indent="-260350">
              <a:spcBef>
                <a:spcPts val="0"/>
              </a:spcBef>
              <a:buFont typeface="Wingdings 2" pitchFamily="18" charset="2"/>
              <a:buChar char=""/>
            </a:pPr>
            <a:r>
              <a:rPr lang="ru-RU" dirty="0"/>
              <a:t>роль (высший приоритет);</a:t>
            </a:r>
          </a:p>
          <a:p>
            <a:pPr marL="1160463" indent="-260350">
              <a:spcBef>
                <a:spcPts val="0"/>
              </a:spcBef>
              <a:buClrTx/>
              <a:buFont typeface="Wingdings 2" pitchFamily="18" charset="2"/>
              <a:buChar char=""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пользователь;</a:t>
            </a:r>
          </a:p>
          <a:p>
            <a:pPr marL="1160463" indent="-260350">
              <a:spcBef>
                <a:spcPts val="0"/>
              </a:spcBef>
              <a:buClrTx/>
              <a:buFont typeface="Wingdings 2" pitchFamily="18" charset="2"/>
              <a:buChar char=""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группа;</a:t>
            </a:r>
          </a:p>
          <a:p>
            <a:pPr marL="1160463" indent="-260350">
              <a:spcBef>
                <a:spcPts val="0"/>
              </a:spcBef>
              <a:buClrTx/>
              <a:buFont typeface="Wingdings 2" pitchFamily="18" charset="2"/>
              <a:buChar char=""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PUBLIC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(низший приоритет).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65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42194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прав доступа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каждого объекта, к которому осуществляется доступ, СУБД пытается отыскать в иерархии привилегию, относящуюся к запрашиваемому  виду доступа; 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SELECT, ЕXЕСUТE </a:t>
            </a:r>
            <a:r>
              <a:rPr lang="ru-RU" dirty="0"/>
              <a:t>и т.п.). </a:t>
            </a:r>
            <a:endParaRPr lang="ru-RU" dirty="0" smtClean="0"/>
          </a:p>
          <a:p>
            <a:r>
              <a:rPr lang="ru-RU" dirty="0" smtClean="0"/>
              <a:t>Например</a:t>
            </a:r>
            <a:r>
              <a:rPr lang="ru-RU" dirty="0"/>
              <a:t>, при попытке доступа к таблице с целью обновления 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ru-RU" dirty="0"/>
              <a:t>), СУБД последовательно проверяет привилегии роли, пользователя, группы и всех пользователей 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u-RU" dirty="0"/>
              <a:t>). Если хотя бы на одном уровне иерархии привилегия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ru-RU" dirty="0"/>
              <a:t> имеется, запрос передается для дальнейшей обработки. В противном случае используется подразумеваемое право, доступа, которое предписывает отвергнуть запрос.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123701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Трактовка </a:t>
            </a:r>
            <a:r>
              <a:rPr lang="ru-RU" dirty="0"/>
              <a:t>ограничений на ресурсы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79400" y="1339850"/>
            <a:ext cx="8559800" cy="4708525"/>
          </a:xfrm>
        </p:spPr>
        <p:txBody>
          <a:bodyPr/>
          <a:lstStyle/>
          <a:p>
            <a:r>
              <a:rPr lang="ru-RU" dirty="0" smtClean="0"/>
              <a:t>Пример для </a:t>
            </a:r>
            <a:r>
              <a:rPr lang="ru-RU" dirty="0"/>
              <a:t>СУБД INGRES. </a:t>
            </a:r>
            <a:r>
              <a:rPr lang="ru-RU" dirty="0" smtClean="0"/>
              <a:t> </a:t>
            </a:r>
            <a:r>
              <a:rPr lang="ru-RU" sz="2300" dirty="0" smtClean="0"/>
              <a:t>Пусть на 4-х уровнях иерархии прописаны свои ограничения на число результирующих строк </a:t>
            </a:r>
            <a:r>
              <a:rPr lang="ru-RU" sz="2300" dirty="0"/>
              <a:t>запроса (привилегия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QUERY_ROW_LIMIT</a:t>
            </a:r>
            <a:r>
              <a:rPr lang="en-US" sz="2300" dirty="0"/>
              <a:t>)</a:t>
            </a:r>
            <a:r>
              <a:rPr lang="ru-RU" sz="2300" dirty="0" smtClean="0"/>
              <a:t>:</a:t>
            </a:r>
          </a:p>
          <a:p>
            <a:pPr marL="804863" indent="273050">
              <a:spcBef>
                <a:spcPts val="0"/>
              </a:spcBef>
              <a:buFont typeface="Wingdings" pitchFamily="2" charset="2"/>
              <a:buChar char="§"/>
            </a:pPr>
            <a:r>
              <a:rPr lang="ru-RU" sz="2300" dirty="0" smtClean="0"/>
              <a:t>роль – 1700;</a:t>
            </a:r>
          </a:p>
          <a:p>
            <a:pPr marL="804863" indent="273050">
              <a:spcBef>
                <a:spcPts val="0"/>
              </a:spcBef>
              <a:buFont typeface="Wingdings" pitchFamily="2" charset="2"/>
              <a:buChar char="§"/>
            </a:pPr>
            <a:r>
              <a:rPr lang="ru-RU" sz="2300" dirty="0" smtClean="0"/>
              <a:t>пользователь – 1500;</a:t>
            </a:r>
          </a:p>
          <a:p>
            <a:pPr marL="804863" indent="273050">
              <a:spcBef>
                <a:spcPts val="0"/>
              </a:spcBef>
              <a:buFont typeface="Wingdings" pitchFamily="2" charset="2"/>
              <a:buChar char="§"/>
            </a:pPr>
            <a:r>
              <a:rPr lang="ru-RU" sz="2300" dirty="0" smtClean="0"/>
              <a:t>группа – 2000;</a:t>
            </a:r>
          </a:p>
          <a:p>
            <a:pPr marL="804863" indent="273050">
              <a:spcBef>
                <a:spcPts val="0"/>
              </a:spcBef>
              <a:buFont typeface="Wingdings" pitchFamily="2" charset="2"/>
              <a:buChar char="§"/>
            </a:pP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u-RU" sz="2300" dirty="0" smtClean="0"/>
              <a:t> – 1000.</a:t>
            </a:r>
          </a:p>
          <a:p>
            <a:pPr marL="95250" indent="41275"/>
            <a:r>
              <a:rPr lang="ru-RU" sz="2300" dirty="0" smtClean="0"/>
              <a:t>   Если пользователь в начале сеанса задал и роль, и группу, будет использовано ограничение по роли. Если бы привилегия для роли отсутствовала или роль не была бы задана, он смог бы получать 1500 строк и т.д. Если бы привилегия </a:t>
            </a: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QUERY</a:t>
            </a:r>
            <a:r>
              <a:rPr lang="ru-RU" sz="2300" i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ROW LIMIT</a:t>
            </a:r>
            <a:r>
              <a:rPr lang="ru-RU" sz="2300" dirty="0" smtClean="0"/>
              <a:t> вообще не была бы специфицирована, СУБД по умолчанию вообще не наложила бы ограничений на число строк.</a:t>
            </a:r>
          </a:p>
          <a:p>
            <a:endParaRPr lang="ru-RU" sz="23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372491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Информация </a:t>
            </a:r>
            <a:r>
              <a:rPr lang="ru-RU" dirty="0"/>
              <a:t>о привилегиях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530" y="1600200"/>
            <a:ext cx="8640960" cy="4708525"/>
          </a:xfrm>
        </p:spPr>
        <p:txBody>
          <a:bodyPr/>
          <a:lstStyle/>
          <a:p>
            <a:r>
              <a:rPr lang="ru-RU" dirty="0"/>
              <a:t>Важно не только давать и отбирать привилегии, но и иметь информацию о том, какими правами доступа обладает каждый из субъектов. Такая информация в том или ином виде хранится в специальной служебной БД СУБД. Так, в СУБД INGRES подобные данные хранятся в таблицах специальной БД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iidbdb</a:t>
            </a:r>
            <a:r>
              <a:rPr lang="ru-RU" dirty="0"/>
              <a:t>. </a:t>
            </a:r>
          </a:p>
          <a:p>
            <a:r>
              <a:rPr lang="ru-RU" dirty="0"/>
              <a:t>Необходимую информацию о правах доступа, относящихся к текущему подключению можно получить с помощью функции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dbmsinfo</a:t>
            </a:r>
            <a:r>
              <a:rPr lang="ru-RU" dirty="0"/>
              <a:t>, а также путем анализа содержимого БД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iidbdb</a:t>
            </a:r>
            <a:r>
              <a:rPr lang="ru-RU" dirty="0"/>
              <a:t>. Можно узнать имена действующих группы и роли, значения количественных ограничений, наличие привилегий для создания таблиц и процедур и т.п.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586228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Информация о привилегиях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Другие таблицы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iiusergroup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iirole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iidbprivileges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БД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iidbdb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содержат, соответственно, список групп и их состав, перечень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pолей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вместе с зашифрованными паролями и сведения о привилегиях доступа к БД. </a:t>
            </a:r>
          </a:p>
          <a:p>
            <a:r>
              <a:rPr lang="ru-RU" dirty="0"/>
              <a:t>Так, таблица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iiusergroup</a:t>
            </a:r>
            <a:r>
              <a:rPr lang="ru-RU" dirty="0"/>
              <a:t> состоит из трех столбцов:</a:t>
            </a:r>
          </a:p>
          <a:p>
            <a:pPr marL="136525" indent="762000">
              <a:buNone/>
            </a:pPr>
            <a:r>
              <a:rPr lang="ru-RU" dirty="0" smtClean="0"/>
              <a:t>•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groupid</a:t>
            </a:r>
            <a:r>
              <a:rPr lang="ru-RU" dirty="0" smtClean="0"/>
              <a:t> </a:t>
            </a:r>
            <a:r>
              <a:rPr lang="ru-RU" dirty="0"/>
              <a:t>– имя группы;</a:t>
            </a:r>
          </a:p>
          <a:p>
            <a:pPr marL="136525" indent="762000">
              <a:buNone/>
            </a:pPr>
            <a:r>
              <a:rPr lang="ru-RU" dirty="0" smtClean="0"/>
              <a:t>•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groupmem</a:t>
            </a:r>
            <a:r>
              <a:rPr lang="ru-RU" dirty="0" smtClean="0"/>
              <a:t> </a:t>
            </a:r>
            <a:r>
              <a:rPr lang="ru-RU" dirty="0"/>
              <a:t>– имя члена группы;</a:t>
            </a:r>
          </a:p>
          <a:p>
            <a:pPr marL="136525" indent="762000">
              <a:buNone/>
            </a:pPr>
            <a:r>
              <a:rPr lang="ru-RU" dirty="0" smtClean="0"/>
              <a:t>•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reserve</a:t>
            </a:r>
            <a:r>
              <a:rPr lang="ru-RU" dirty="0" smtClean="0"/>
              <a:t> </a:t>
            </a:r>
            <a:r>
              <a:rPr lang="ru-RU" dirty="0"/>
              <a:t>– резервный столбец.</a:t>
            </a:r>
          </a:p>
          <a:p>
            <a:r>
              <a:rPr lang="ru-RU" dirty="0"/>
              <a:t>Средствами SQL из этих таблиц можно извлечь всю необходимую информацию.</a:t>
            </a:r>
          </a:p>
          <a:p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53783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1143000"/>
          </a:xfrm>
        </p:spPr>
        <p:txBody>
          <a:bodyPr>
            <a:noAutofit/>
          </a:bodyPr>
          <a:lstStyle/>
          <a:p>
            <a:r>
              <a:rPr lang="ru-RU" sz="4000" dirty="0" smtClean="0">
                <a:solidFill>
                  <a:schemeClr val="accent1">
                    <a:lumMod val="75000"/>
                  </a:schemeClr>
                </a:solidFill>
              </a:rPr>
              <a:t>Соотношение прав доступа СУБД и ОС</a:t>
            </a:r>
            <a:endParaRPr lang="ru-RU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58" y="1654175"/>
            <a:ext cx="8501090" cy="4708525"/>
          </a:xfrm>
        </p:spPr>
        <p:txBody>
          <a:bodyPr/>
          <a:lstStyle/>
          <a:p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Данные, обрабатываемые средствами СУБД, располагаются в файлах и/или логических томах ОС. </a:t>
            </a:r>
            <a:r>
              <a:rPr lang="ru-RU" dirty="0"/>
              <a:t>Соответственно, и доступ к этим данным возможен как с помощью СУБД, так и посредством утилит </a:t>
            </a:r>
            <a:r>
              <a:rPr lang="ru-RU" dirty="0" smtClean="0"/>
              <a:t>ОС. Это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создает угрозу несанкционированного вмешательства в БД через утилиты ОС. </a:t>
            </a:r>
          </a:p>
          <a:p>
            <a:r>
              <a:rPr lang="ru-RU" dirty="0"/>
              <a:t>Чтобы средствами ОС нельзя было скомпрометировать БД и сопутствующую информацию, например журналы транзакций, должен быть установлен максимально жесткий режим доступа к соответствующим файлам и томам. 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70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0993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/>
              <a:t>Соотношение прав доступа СУБД и ОС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6535" y="1600200"/>
            <a:ext cx="8525291" cy="4708525"/>
          </a:xfrm>
        </p:spPr>
        <p:txBody>
          <a:bodyPr/>
          <a:lstStyle/>
          <a:p>
            <a:r>
              <a:rPr lang="ru-RU" dirty="0"/>
              <a:t>Данные из БД могут экспортироваться в файлы ОС или другие хранилища. Возможен и обратный процесс импорта данных. Необходимо следить за тем, чтобы подобные операции не понижали уровень защищенности системы. </a:t>
            </a:r>
            <a:endParaRPr lang="ru-RU" dirty="0" smtClean="0"/>
          </a:p>
          <a:p>
            <a:r>
              <a:rPr lang="ru-RU" dirty="0" smtClean="0"/>
              <a:t>Сделать </a:t>
            </a:r>
            <a:r>
              <a:rPr lang="ru-RU" dirty="0"/>
              <a:t>это не просто. Во-первых, ОС может не обеспечивать должной защиты. Во-вторых, даже для развитых ОС необходимо </a:t>
            </a:r>
            <a:r>
              <a:rPr lang="ru-RU" dirty="0" smtClean="0"/>
              <a:t>соответствие </a:t>
            </a:r>
            <a:r>
              <a:rPr lang="ru-RU" dirty="0"/>
              <a:t>между механизмами защиты СУБД и ОС. При большом числе пользователей </a:t>
            </a:r>
            <a:r>
              <a:rPr lang="ru-RU" dirty="0" smtClean="0"/>
              <a:t>данная </a:t>
            </a:r>
            <a:r>
              <a:rPr lang="ru-RU" dirty="0"/>
              <a:t>задача становится очень сложной. Поэтому </a:t>
            </a:r>
            <a:r>
              <a:rPr lang="ru-RU" dirty="0" smtClean="0"/>
              <a:t>практичное </a:t>
            </a:r>
            <a:r>
              <a:rPr lang="ru-RU" dirty="0"/>
              <a:t>решение сводится к административному контролю за экспортом/импортом информации.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982613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/>
              <a:t>Соотношение прав доступа СУБД и ОС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Исходные тексты сложных процедур БД, также могут храниться в файлах </a:t>
            </a:r>
            <a:r>
              <a:rPr lang="ru-RU" dirty="0" smtClean="0"/>
              <a:t>ОС, и потенциально возможно их нелегальное изменение, </a:t>
            </a:r>
            <a:r>
              <a:rPr lang="ru-RU" dirty="0"/>
              <a:t>способное привести к </a:t>
            </a:r>
            <a:r>
              <a:rPr lang="ru-RU" dirty="0" smtClean="0"/>
              <a:t>нарушениям ИБ. </a:t>
            </a:r>
          </a:p>
          <a:p>
            <a:r>
              <a:rPr lang="ru-RU" dirty="0" smtClean="0"/>
              <a:t>СУБД </a:t>
            </a:r>
            <a:r>
              <a:rPr lang="ru-RU" dirty="0"/>
              <a:t>и ОС предлагают во многом сходные средства защиты данных. Более того, многие СУБД просто полагаются на </a:t>
            </a:r>
            <a:r>
              <a:rPr lang="ru-RU" dirty="0" smtClean="0"/>
              <a:t>ОС. </a:t>
            </a:r>
            <a:r>
              <a:rPr lang="ru-RU" dirty="0"/>
              <a:t>Но даже для таких «дружественных» сервисов проведение </a:t>
            </a:r>
            <a:r>
              <a:rPr lang="ru-RU" dirty="0" smtClean="0"/>
              <a:t>согласованной </a:t>
            </a:r>
            <a:r>
              <a:rPr lang="ru-RU" dirty="0"/>
              <a:t>политики безопасности является достаточно </a:t>
            </a:r>
            <a:r>
              <a:rPr lang="ru-RU" dirty="0" smtClean="0"/>
              <a:t>сложным делом. </a:t>
            </a:r>
          </a:p>
          <a:p>
            <a:r>
              <a:rPr lang="ru-RU" dirty="0" smtClean="0"/>
              <a:t>Поэтому на </a:t>
            </a:r>
            <a:r>
              <a:rPr lang="ru-RU" dirty="0"/>
              <a:t>практике приходится всячески ограничивать информационный обмен между СУБД и ОС.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189238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Мандатная защита в СУБД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600200"/>
            <a:ext cx="8685965" cy="4708525"/>
          </a:xfrm>
        </p:spPr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Современные АИС обеспечивают также принудительный контроль доступа (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mandatory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 Он основан на отказе от понятия владельца данных и опирается на, так называемые,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метки безопасности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labels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), которые присваиваются данным при их </a:t>
            </a:r>
            <a:r>
              <a:rPr lang="ru-RU" dirty="0" smtClean="0"/>
              <a:t>создании и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служат для классификации данных по уровням конфиденциальности. </a:t>
            </a:r>
          </a:p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Метки содержатся также и на официальных разрешениях (допусках) </a:t>
            </a:r>
            <a:r>
              <a:rPr lang="ru-RU" dirty="0" smtClean="0"/>
              <a:t>пользователей для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обращения к данным соответствующего уровня конфиденциальности.</a:t>
            </a:r>
          </a:p>
          <a:p>
            <a:r>
              <a:rPr lang="ru-RU" dirty="0" smtClean="0"/>
              <a:t>При мандатной защите конкретный </a:t>
            </a:r>
            <a:r>
              <a:rPr lang="ru-RU" dirty="0"/>
              <a:t>пользователь может оперировать только с данными, расположенными на </a:t>
            </a:r>
            <a:r>
              <a:rPr lang="ru-RU" dirty="0" smtClean="0"/>
              <a:t>уровне конфиденциальности, </a:t>
            </a:r>
            <a:r>
              <a:rPr lang="ru-RU" dirty="0"/>
              <a:t>который соответствует его статусу. </a:t>
            </a:r>
            <a:endPara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Tx/>
            </a:pP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73</a:t>
            </a:fld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Метки безопасности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30725" y="1268760"/>
            <a:ext cx="8516750" cy="470852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dirty="0"/>
              <a:t>Мандатная защита, позволяет связать метки безопасности с каждой строкой любой таблицы в БД. Любой пользователь может потребовать в своем запросе отобразить любую таблицу из БД, однако увидит он только те строки, </a:t>
            </a:r>
            <a:r>
              <a:rPr lang="ru-RU" dirty="0" smtClean="0"/>
              <a:t>метки </a:t>
            </a:r>
            <a:r>
              <a:rPr lang="ru-RU" dirty="0"/>
              <a:t>безопасности </a:t>
            </a:r>
            <a:r>
              <a:rPr lang="ru-RU" dirty="0" smtClean="0"/>
              <a:t>которых не </a:t>
            </a:r>
            <a:r>
              <a:rPr lang="ru-RU" dirty="0"/>
              <a:t>превышают </a:t>
            </a:r>
            <a:r>
              <a:rPr lang="ru-RU" dirty="0" smtClean="0"/>
              <a:t>его статус. </a:t>
            </a:r>
            <a:endParaRPr lang="ru-RU" dirty="0"/>
          </a:p>
          <a:p>
            <a:r>
              <a:rPr lang="ru-RU" dirty="0"/>
              <a:t>СУБД проверяет </a:t>
            </a:r>
            <a:r>
              <a:rPr lang="ru-RU" dirty="0" smtClean="0"/>
              <a:t>статус пользователя </a:t>
            </a:r>
            <a:r>
              <a:rPr lang="ru-RU" dirty="0"/>
              <a:t>и, в ответ на его запрос, возвращает только те строки таблицы, которые удовлетворяют запросу и соответствуют этому </a:t>
            </a:r>
            <a:r>
              <a:rPr lang="ru-RU" dirty="0" smtClean="0"/>
              <a:t>статусу.</a:t>
            </a:r>
            <a:endParaRPr lang="ru-RU" dirty="0"/>
          </a:p>
          <a:p>
            <a:r>
              <a:rPr lang="ru-RU" dirty="0"/>
              <a:t>Метки безопасности неизменны на всем протяжении существования объекта </a:t>
            </a:r>
            <a:r>
              <a:rPr lang="ru-RU" dirty="0" smtClean="0"/>
              <a:t>защиты, уничтожаются </a:t>
            </a:r>
            <a:r>
              <a:rPr lang="ru-RU" dirty="0"/>
              <a:t>только вместе с </a:t>
            </a:r>
            <a:r>
              <a:rPr lang="ru-RU" dirty="0" smtClean="0"/>
              <a:t>ним </a:t>
            </a:r>
            <a:r>
              <a:rPr lang="ru-RU" dirty="0"/>
              <a:t>и территориально (на диске) располагаются </a:t>
            </a:r>
            <a:r>
              <a:rPr lang="ru-RU" dirty="0" smtClean="0"/>
              <a:t>тоже вместе </a:t>
            </a:r>
            <a:r>
              <a:rPr lang="ru-RU" dirty="0"/>
              <a:t>с </a:t>
            </a:r>
            <a:r>
              <a:rPr lang="ru-RU" dirty="0" smtClean="0"/>
              <a:t>ним, </a:t>
            </a:r>
            <a:r>
              <a:rPr lang="ru-RU" dirty="0"/>
              <a:t>а не в системном каталоге, как это происходит при логической защите.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74</a:t>
            </a:fld>
            <a:endParaRPr lang="ru-RU" sz="2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Метки безопасности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4708525"/>
          </a:xfrm>
        </p:spPr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Средства мандатной защиты предоставляются специальными (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trusted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версиями СУБД, которые не позволяют игнорировать метки безопасности при получении доступа к информации. </a:t>
            </a:r>
          </a:p>
          <a:p>
            <a:r>
              <a:rPr lang="ru-RU" dirty="0"/>
              <a:t>Такие реализации СУБД, как правило, представляют собой комплекс средств как на машине-сервере, так и на машине-клиенте, при этом возможно использование специальной защищенной версии </a:t>
            </a:r>
            <a:r>
              <a:rPr lang="ru-RU" dirty="0" smtClean="0"/>
              <a:t>ОС. </a:t>
            </a:r>
            <a:r>
              <a:rPr lang="ru-RU" dirty="0"/>
              <a:t>Кроме разграничения доступа к информации посредством меток конфиденциальности, защищенные СУБД предоставляют средства слежения за доступом субъектов к объектам защиты (аудит</a:t>
            </a:r>
            <a:r>
              <a:rPr lang="ru-RU" dirty="0" smtClean="0"/>
              <a:t>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75</a:t>
            </a:fld>
            <a:endParaRPr lang="ru-RU"/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Метки безопасности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530" y="1465780"/>
            <a:ext cx="8480285" cy="4708525"/>
          </a:xfrm>
        </p:spPr>
        <p:txBody>
          <a:bodyPr/>
          <a:lstStyle/>
          <a:p>
            <a:r>
              <a:rPr lang="ru-RU" dirty="0"/>
              <a:t>Использование СУБД с возможностями мандатной защиты позволяет разграничить доступ собственно к данным, хранящимся в информационной системе, от доступа к именованным объектам данных. </a:t>
            </a:r>
            <a:endParaRPr lang="ru-RU" dirty="0" smtClean="0"/>
          </a:p>
          <a:p>
            <a:r>
              <a:rPr lang="ru-RU" dirty="0" smtClean="0"/>
              <a:t>Существуют </a:t>
            </a:r>
            <a:r>
              <a:rPr lang="ru-RU" dirty="0"/>
              <a:t>реализации, позволяющие разграничивать доступ вплоть до конкретного значения конкретного атрибута в конкретной строке конкретной таблицы. </a:t>
            </a:r>
            <a:endParaRPr lang="ru-RU" dirty="0" smtClean="0"/>
          </a:p>
          <a:p>
            <a:r>
              <a:rPr lang="ru-RU" dirty="0" smtClean="0"/>
              <a:t>Обычно </a:t>
            </a:r>
            <a:r>
              <a:rPr lang="ru-RU" dirty="0"/>
              <a:t>сама метка представляет собой </a:t>
            </a:r>
            <a:r>
              <a:rPr lang="ru-RU" dirty="0" smtClean="0"/>
              <a:t>целый набор </a:t>
            </a:r>
            <a:r>
              <a:rPr lang="ru-RU" dirty="0"/>
              <a:t>значений, отражающих, например, </a:t>
            </a:r>
            <a:r>
              <a:rPr lang="ru-RU" dirty="0" smtClean="0"/>
              <a:t>уровень </a:t>
            </a:r>
            <a:r>
              <a:rPr lang="ru-RU" dirty="0"/>
              <a:t>защищенности устройства, на котором хранится таблица, уровень защищенности самой таблицы, уровень защищенности атрибута и уровень </a:t>
            </a:r>
            <a:r>
              <a:rPr lang="ru-RU" dirty="0" smtClean="0"/>
              <a:t>защищенности кортежа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290553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СУБД </a:t>
            </a:r>
            <a:r>
              <a:rPr lang="en-US" dirty="0"/>
              <a:t>INGRES/</a:t>
            </a:r>
            <a:r>
              <a:rPr lang="ru-RU" dirty="0"/>
              <a:t>Е</a:t>
            </a:r>
            <a:r>
              <a:rPr lang="en-US" dirty="0" err="1"/>
              <a:t>nhanced</a:t>
            </a:r>
            <a:r>
              <a:rPr lang="en-US" dirty="0"/>
              <a:t> Security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41530" y="1428750"/>
            <a:ext cx="8525291" cy="4708525"/>
          </a:xfrm>
        </p:spPr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Механизм меток безопасности был впервые реализован в версии СУБД INGRES/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Еnhanced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(INGRES с повышенной безопасностью).</a:t>
            </a:r>
          </a:p>
          <a:p>
            <a:pPr>
              <a:buClrTx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этой СУБД к каждой реляционной таблице неявно добавляется столбец, содержащий метки безопасности строк таблицы. Каждая метка состоит из трех компонентов:</a:t>
            </a:r>
          </a:p>
          <a:p>
            <a:pPr marL="1528763" lvl="0" indent="-273050">
              <a:spcBef>
                <a:spcPts val="0"/>
              </a:spcBef>
              <a:buClrTx/>
              <a:buFont typeface="Wingdings" pitchFamily="2" charset="2"/>
              <a:buChar char="Ø"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уровень секретности;</a:t>
            </a:r>
          </a:p>
          <a:p>
            <a:pPr marL="1528763" lvl="0" indent="-273050">
              <a:spcBef>
                <a:spcPts val="0"/>
              </a:spcBef>
              <a:buClrTx/>
              <a:buFont typeface="Wingdings" pitchFamily="2" charset="2"/>
              <a:buChar char="Ø"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категория;</a:t>
            </a:r>
          </a:p>
          <a:p>
            <a:pPr marL="1528763" lvl="0" indent="-273050">
              <a:spcBef>
                <a:spcPts val="0"/>
              </a:spcBef>
              <a:buClrTx/>
              <a:buFont typeface="Wingdings" pitchFamily="2" charset="2"/>
              <a:buChar char="Ø"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область. </a:t>
            </a:r>
            <a:endParaRPr lang="ru-RU" dirty="0"/>
          </a:p>
          <a:p>
            <a:pPr marL="536575" indent="-363538">
              <a:spcBef>
                <a:spcPts val="0"/>
              </a:spcBef>
            </a:pPr>
            <a:r>
              <a:rPr lang="ru-RU" dirty="0" smtClean="0"/>
              <a:t>Компонент </a:t>
            </a:r>
            <a:r>
              <a:rPr lang="ru-RU" dirty="0"/>
              <a:t>«уровень секретности» зависит от </a:t>
            </a:r>
            <a:r>
              <a:rPr lang="ru-RU" dirty="0" smtClean="0"/>
              <a:t>приложения.</a:t>
            </a:r>
          </a:p>
          <a:p>
            <a:pPr marL="536575" indent="-363538">
              <a:spcBef>
                <a:spcPts val="0"/>
              </a:spcBef>
            </a:pPr>
            <a:r>
              <a:rPr lang="ru-RU" dirty="0"/>
              <a:t> </a:t>
            </a:r>
            <a:r>
              <a:rPr lang="ru-RU" dirty="0" smtClean="0"/>
              <a:t>Например, для </a:t>
            </a:r>
            <a:r>
              <a:rPr lang="ru-RU" dirty="0"/>
              <a:t>военных ведомств США </a:t>
            </a:r>
            <a:r>
              <a:rPr lang="ru-RU" dirty="0" smtClean="0"/>
              <a:t>это 4 </a:t>
            </a:r>
            <a:r>
              <a:rPr lang="ru-RU" dirty="0"/>
              <a:t>уровня секретности от «совершенно секретно» до «несекретно».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77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479575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СУБД </a:t>
            </a:r>
            <a:r>
              <a:rPr lang="en-US" dirty="0"/>
              <a:t>INGRES/</a:t>
            </a:r>
            <a:r>
              <a:rPr lang="ru-RU" dirty="0"/>
              <a:t>Е</a:t>
            </a:r>
            <a:r>
              <a:rPr lang="en-US" dirty="0" err="1"/>
              <a:t>nhanced</a:t>
            </a:r>
            <a:r>
              <a:rPr lang="en-US" dirty="0"/>
              <a:t> Security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6525" y="1403775"/>
            <a:ext cx="8525290" cy="4708525"/>
          </a:xfrm>
        </p:spPr>
        <p:txBody>
          <a:bodyPr/>
          <a:lstStyle/>
          <a:p>
            <a:r>
              <a:rPr lang="ru-RU" dirty="0"/>
              <a:t>Понятие </a:t>
            </a:r>
            <a:r>
              <a:rPr lang="ru-RU" dirty="0" smtClean="0"/>
              <a:t>«категория» позволяет </a:t>
            </a:r>
            <a:r>
              <a:rPr lang="ru-RU" dirty="0"/>
              <a:t>разделить данные на тематические </a:t>
            </a:r>
            <a:r>
              <a:rPr lang="ru-RU" dirty="0" smtClean="0"/>
              <a:t>отсеки. </a:t>
            </a:r>
            <a:r>
              <a:rPr lang="ru-RU" dirty="0"/>
              <a:t>В коммерческих приложениях категориями могут </a:t>
            </a:r>
            <a:r>
              <a:rPr lang="ru-RU" dirty="0" smtClean="0"/>
              <a:t>быть </a:t>
            </a:r>
            <a:r>
              <a:rPr lang="ru-RU" dirty="0"/>
              <a:t>«финансы», «кадры», «материальные ценности» и т.п. В военной сфере категориями могут </a:t>
            </a:r>
            <a:r>
              <a:rPr lang="ru-RU" dirty="0" smtClean="0"/>
              <a:t>быть </a:t>
            </a:r>
            <a:r>
              <a:rPr lang="ru-RU" dirty="0"/>
              <a:t>рода войск, типы вооружений и военной техники и т.п.</a:t>
            </a:r>
          </a:p>
          <a:p>
            <a:r>
              <a:rPr lang="ru-RU" dirty="0"/>
              <a:t>Компонент «</a:t>
            </a:r>
            <a:r>
              <a:rPr lang="ru-RU" dirty="0" smtClean="0"/>
              <a:t>область» </a:t>
            </a:r>
            <a:r>
              <a:rPr lang="ru-RU" dirty="0"/>
              <a:t>является </a:t>
            </a:r>
            <a:r>
              <a:rPr lang="ru-RU" dirty="0" smtClean="0"/>
              <a:t>еще одним средством </a:t>
            </a:r>
            <a:r>
              <a:rPr lang="ru-RU" dirty="0"/>
              <a:t>деления информации на отсеки. </a:t>
            </a:r>
            <a:r>
              <a:rPr lang="ru-RU" dirty="0" smtClean="0"/>
              <a:t>Он может </a:t>
            </a:r>
            <a:r>
              <a:rPr lang="ru-RU" dirty="0"/>
              <a:t>действительно иметь географический </a:t>
            </a:r>
            <a:r>
              <a:rPr lang="ru-RU" dirty="0" smtClean="0"/>
              <a:t>смысл (например</a:t>
            </a:r>
            <a:r>
              <a:rPr lang="ru-RU" dirty="0"/>
              <a:t>, </a:t>
            </a:r>
            <a:r>
              <a:rPr lang="ru-RU" dirty="0" smtClean="0"/>
              <a:t>страна, регион). В </a:t>
            </a:r>
            <a:r>
              <a:rPr lang="ru-RU" dirty="0"/>
              <a:t>коммерческих приложениях «область» может </a:t>
            </a:r>
            <a:r>
              <a:rPr lang="ru-RU" dirty="0" smtClean="0"/>
              <a:t>обозначать тип </a:t>
            </a:r>
            <a:r>
              <a:rPr lang="ru-RU" dirty="0"/>
              <a:t>местности (городская, сельская), городские районы, </a:t>
            </a:r>
            <a:r>
              <a:rPr lang="ru-RU" dirty="0" smtClean="0"/>
              <a:t>филиалы, торговые точки и </a:t>
            </a:r>
            <a:r>
              <a:rPr lang="ru-RU" dirty="0"/>
              <a:t>т.п. В военных приложениях – это </a:t>
            </a:r>
            <a:r>
              <a:rPr lang="ru-RU" dirty="0" smtClean="0"/>
              <a:t>- </a:t>
            </a:r>
            <a:r>
              <a:rPr lang="ru-RU" dirty="0"/>
              <a:t>военные округа, места дислокации частей и т.п.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786118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СУБД </a:t>
            </a:r>
            <a:r>
              <a:rPr lang="en-US" dirty="0"/>
              <a:t>INGRES/</a:t>
            </a:r>
            <a:r>
              <a:rPr lang="ru-RU" dirty="0"/>
              <a:t>Е</a:t>
            </a:r>
            <a:r>
              <a:rPr lang="en-US" dirty="0" err="1"/>
              <a:t>nhanced</a:t>
            </a:r>
            <a:r>
              <a:rPr lang="en-US" dirty="0"/>
              <a:t> Security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0685" y="1600200"/>
            <a:ext cx="8686800" cy="4708525"/>
          </a:xfrm>
        </p:spPr>
        <p:txBody>
          <a:bodyPr/>
          <a:lstStyle/>
          <a:p>
            <a:pPr marL="342900" indent="-342900"/>
            <a:r>
              <a:rPr lang="ru-RU" sz="2500" dirty="0"/>
              <a:t>Каждый пользователь INGRES/</a:t>
            </a:r>
            <a:r>
              <a:rPr lang="ru-RU" sz="2500" dirty="0" err="1"/>
              <a:t>Enhanced</a:t>
            </a:r>
            <a:r>
              <a:rPr lang="ru-RU" sz="2500" dirty="0"/>
              <a:t> </a:t>
            </a:r>
            <a:r>
              <a:rPr lang="ru-RU" sz="2500" dirty="0" err="1"/>
              <a:t>Security</a:t>
            </a:r>
            <a:r>
              <a:rPr lang="ru-RU" sz="2500" dirty="0"/>
              <a:t> </a:t>
            </a:r>
            <a:r>
              <a:rPr lang="ru-RU" sz="2500" dirty="0" smtClean="0"/>
              <a:t>имеет статус, определяемый присвоенной ему меткой безопасности пользователя (МБП). Он 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может получить доступ к данным с меткой безопасности данных (МБД), если одновременно удовлетворяются следующие 3 условия:</a:t>
            </a:r>
          </a:p>
          <a:p>
            <a:pPr marL="898525" lvl="0" indent="-268288">
              <a:buFont typeface="Wingdings" panose="05000000000000000000" pitchFamily="2" charset="2"/>
              <a:buChar char="Ø"/>
            </a:pP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уровень секретности  в </a:t>
            </a:r>
            <a:r>
              <a:rPr lang="ru-RU" sz="2500" dirty="0" smtClean="0"/>
              <a:t>МБП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должен быть не ниже уровня секретности </a:t>
            </a:r>
            <a:r>
              <a:rPr lang="ru-RU" sz="2500" dirty="0"/>
              <a:t>в МБД;</a:t>
            </a:r>
            <a:endParaRPr lang="ru-RU" sz="25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98525" lvl="0" indent="-268288">
              <a:buClrTx/>
              <a:buFont typeface="Wingdings" panose="05000000000000000000" pitchFamily="2" charset="2"/>
              <a:buChar char="Ø"/>
            </a:pP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набор категорий, заданных в</a:t>
            </a:r>
            <a:r>
              <a:rPr lang="ru-RU" sz="25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МБД, должен целиком содержаться в МБП;</a:t>
            </a:r>
          </a:p>
          <a:p>
            <a:pPr marL="898525" lvl="0" indent="-268288">
              <a:buClrTx/>
              <a:buFont typeface="Wingdings" panose="05000000000000000000" pitchFamily="2" charset="2"/>
              <a:buChar char="Ø"/>
            </a:pP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набор областей, заданных в МБП, должен целиком содержаться в МБД.</a:t>
            </a:r>
          </a:p>
          <a:p>
            <a:pPr>
              <a:buClrTx/>
            </a:pPr>
            <a:endParaRPr lang="ru-RU" sz="2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79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620573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507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СУБД </a:t>
            </a:r>
            <a:r>
              <a:rPr lang="en-US" dirty="0"/>
              <a:t>INGRES/</a:t>
            </a:r>
            <a:r>
              <a:rPr lang="ru-RU" dirty="0"/>
              <a:t>Е</a:t>
            </a:r>
            <a:r>
              <a:rPr lang="en-US" dirty="0" err="1"/>
              <a:t>nhanced</a:t>
            </a:r>
            <a:r>
              <a:rPr lang="en-US" dirty="0"/>
              <a:t> Security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80</a:t>
            </a:fld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216138"/>
              </p:ext>
            </p:extLst>
          </p:nvPr>
        </p:nvGraphicFramePr>
        <p:xfrm>
          <a:off x="457201" y="2573905"/>
          <a:ext cx="8345269" cy="2978778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144469"/>
                <a:gridCol w="1172300"/>
                <a:gridCol w="1069781"/>
                <a:gridCol w="162560"/>
                <a:gridCol w="1197201"/>
                <a:gridCol w="1161245"/>
                <a:gridCol w="997553"/>
                <a:gridCol w="282185"/>
                <a:gridCol w="1157975"/>
              </a:tblGrid>
              <a:tr h="403030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МБД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МБП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ru-RU" sz="1800" b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Доступ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1002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Уровень </a:t>
                      </a:r>
                      <a:r>
                        <a:rPr lang="ru-RU" sz="1800" b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секрет-и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Категория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Область</a:t>
                      </a:r>
                      <a:endParaRPr lang="ru-RU" sz="1800" b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Уровень </a:t>
                      </a:r>
                      <a:r>
                        <a:rPr lang="ru-RU" sz="1800" b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секрет-</a:t>
                      </a:r>
                      <a:r>
                        <a:rPr lang="ru-RU" sz="1800" b="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ти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Категория</a:t>
                      </a:r>
                      <a:endParaRPr lang="ru-RU" sz="1800" b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Область</a:t>
                      </a:r>
                      <a:endParaRPr lang="ru-RU" sz="1800" b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ru-RU" sz="1800" b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733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Секретно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Финансы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Россия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СНГ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Сов. секретно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Финансы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и кадры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Россия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Symbol"/>
                        </a:rPr>
                        <a:t>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Разрешен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</a:tr>
              <a:tr h="733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Секретно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Финансы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Россия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СНГ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Сов. секретно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Кадры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Россия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Symbol"/>
                        </a:rPr>
                        <a:t>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Запрещен</a:t>
                      </a:r>
                      <a:endParaRPr lang="ru-RU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86835" y="1718810"/>
            <a:ext cx="2835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2400" b="1" dirty="0">
                <a:solidFill>
                  <a:srgbClr val="F0AD00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 </a:t>
            </a:r>
            <a:r>
              <a:rPr lang="ru-RU" sz="2400" b="1" dirty="0" smtClean="0">
                <a:solidFill>
                  <a:srgbClr val="F0AD00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2400" b="1" dirty="0">
              <a:solidFill>
                <a:srgbClr val="F0AD00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8938743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СУБД </a:t>
            </a:r>
            <a:r>
              <a:rPr lang="en-US" dirty="0"/>
              <a:t>INGRES/</a:t>
            </a:r>
            <a:r>
              <a:rPr lang="ru-RU" dirty="0"/>
              <a:t>Е</a:t>
            </a:r>
            <a:r>
              <a:rPr lang="en-US" dirty="0" err="1"/>
              <a:t>nhanced</a:t>
            </a:r>
            <a:r>
              <a:rPr lang="en-US" dirty="0"/>
              <a:t> Security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81</a:t>
            </a:fld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3536885" y="1572180"/>
            <a:ext cx="179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 2</a:t>
            </a:r>
            <a:endParaRPr lang="ru-RU" sz="2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Объект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0893686"/>
              </p:ext>
            </p:extLst>
          </p:nvPr>
        </p:nvGraphicFramePr>
        <p:xfrm>
          <a:off x="206515" y="2758747"/>
          <a:ext cx="8756093" cy="2824212"/>
        </p:xfrm>
        <a:graphic>
          <a:graphicData uri="http://schemas.openxmlformats.org/drawingml/2006/table">
            <a:tbl>
              <a:tblPr firstRow="1" firstCol="1" bandRow="1"/>
              <a:tblGrid>
                <a:gridCol w="1346623"/>
                <a:gridCol w="1155145"/>
                <a:gridCol w="976861"/>
                <a:gridCol w="249735"/>
                <a:gridCol w="1375745"/>
                <a:gridCol w="1223084"/>
                <a:gridCol w="988740"/>
                <a:gridCol w="225025"/>
                <a:gridCol w="1215135"/>
              </a:tblGrid>
              <a:tr h="313801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Метка данных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Метка пользователя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Доступ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276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Уровень секретности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Категория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Область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Уровень секретности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Категория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Область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9414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Сов. секретно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Ракетное оружие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Россия,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Украина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Сов. секретно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Ядерное и ракетное оружие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Россия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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Разрешен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9414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Сов. секретно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Ракетное оружие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Россия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Сов. секретно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Ядерное и ракетное оружие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Россия, Украина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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690620" algn="l"/>
                        </a:tabLst>
                      </a:pPr>
                      <a:r>
                        <a:rPr lang="ru-RU" sz="18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Запрещен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5412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СУБД </a:t>
            </a:r>
            <a:r>
              <a:rPr lang="en-US" dirty="0"/>
              <a:t>INGRES/</a:t>
            </a:r>
            <a:r>
              <a:rPr lang="ru-RU" dirty="0"/>
              <a:t>Е</a:t>
            </a:r>
            <a:r>
              <a:rPr lang="en-US" dirty="0" err="1"/>
              <a:t>nhanced</a:t>
            </a:r>
            <a:r>
              <a:rPr lang="en-US" dirty="0"/>
              <a:t> Security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6535" y="1600200"/>
            <a:ext cx="8390274" cy="4708525"/>
          </a:xfrm>
        </p:spPr>
        <p:txBody>
          <a:bodyPr/>
          <a:lstStyle/>
          <a:p>
            <a:r>
              <a:rPr lang="ru-RU" dirty="0"/>
              <a:t>Для совместимости с обычными версиями СУБД, столбец с метками безопасности не </a:t>
            </a:r>
            <a:r>
              <a:rPr lang="ru-RU" dirty="0" smtClean="0"/>
              <a:t>показывается.</a:t>
            </a:r>
            <a:endParaRPr lang="ru-RU" dirty="0"/>
          </a:p>
          <a:p>
            <a:r>
              <a:rPr lang="ru-RU" dirty="0"/>
              <a:t>Механизм меток безопасности не отменяет, а дополняет произвольное управление доступом. Пользователи по-прежнему могут оперировать </a:t>
            </a:r>
            <a:r>
              <a:rPr lang="ru-RU" dirty="0" smtClean="0"/>
              <a:t>данными в </a:t>
            </a:r>
            <a:r>
              <a:rPr lang="ru-RU" dirty="0"/>
              <a:t>рамках своих привилегий, но даже при наличии привилегии SЕLECT им </a:t>
            </a:r>
            <a:r>
              <a:rPr lang="ru-RU" dirty="0" smtClean="0"/>
              <a:t>будет доступна </a:t>
            </a:r>
            <a:r>
              <a:rPr lang="ru-RU" dirty="0"/>
              <a:t>только часть данных.</a:t>
            </a:r>
          </a:p>
          <a:p>
            <a:r>
              <a:rPr lang="ru-RU" dirty="0"/>
              <a:t>При добавлении или изменении строк </a:t>
            </a:r>
            <a:r>
              <a:rPr lang="ru-RU" dirty="0" smtClean="0"/>
              <a:t>они </a:t>
            </a:r>
            <a:r>
              <a:rPr lang="ru-RU" dirty="0"/>
              <a:t>наследуют </a:t>
            </a:r>
            <a:r>
              <a:rPr lang="ru-RU" dirty="0" smtClean="0"/>
              <a:t>МБП, </a:t>
            </a:r>
            <a:r>
              <a:rPr lang="ru-RU" dirty="0"/>
              <a:t>инициировавшего операцию. </a:t>
            </a:r>
            <a:r>
              <a:rPr lang="ru-RU" dirty="0" smtClean="0"/>
              <a:t>Таким образом, </a:t>
            </a:r>
            <a:r>
              <a:rPr lang="ru-RU" dirty="0"/>
              <a:t>даже если авторизованный пользователь перепишет секретную информацию в </a:t>
            </a:r>
            <a:r>
              <a:rPr lang="ru-RU" dirty="0" smtClean="0"/>
              <a:t>общедоступную </a:t>
            </a:r>
            <a:r>
              <a:rPr lang="ru-RU" dirty="0"/>
              <a:t>таблицу, менее благонадежные пользователи не смогут ее прочитать.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994300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СУБД </a:t>
            </a:r>
            <a:r>
              <a:rPr lang="en-US" dirty="0"/>
              <a:t>INGRES/</a:t>
            </a:r>
            <a:r>
              <a:rPr lang="ru-RU" dirty="0"/>
              <a:t>Е</a:t>
            </a:r>
            <a:r>
              <a:rPr lang="en-US" dirty="0" err="1"/>
              <a:t>nhanced</a:t>
            </a:r>
            <a:r>
              <a:rPr lang="en-US" dirty="0"/>
              <a:t> Security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Специальная привилегия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DOWNGRADE</a:t>
            </a:r>
            <a:r>
              <a:rPr lang="ru-RU" dirty="0"/>
              <a:t> позволяет изменять метки безопасности, ассоциированные с данными. </a:t>
            </a:r>
            <a:r>
              <a:rPr lang="ru-RU" dirty="0" smtClean="0"/>
              <a:t>Это необходимо </a:t>
            </a:r>
            <a:r>
              <a:rPr lang="ru-RU" dirty="0"/>
              <a:t>для коррекции меток, по тем или иным причинам оказавшихся неправильными.</a:t>
            </a:r>
          </a:p>
          <a:p>
            <a:r>
              <a:rPr lang="ru-RU" dirty="0"/>
              <a:t>СУБД INCRES/</a:t>
            </a:r>
            <a:r>
              <a:rPr lang="ru-RU" dirty="0" err="1"/>
              <a:t>Еnhancеd</a:t>
            </a:r>
            <a:r>
              <a:rPr lang="ru-RU" dirty="0"/>
              <a:t> </a:t>
            </a:r>
            <a:r>
              <a:rPr lang="ru-RU" dirty="0" err="1"/>
              <a:t>Security</a:t>
            </a:r>
            <a:r>
              <a:rPr lang="ru-RU" dirty="0"/>
              <a:t> допускает не только скрытое, но и явное включение меток безопасности в реляционные таблицы. Появился новый тип данных, </a:t>
            </a:r>
            <a:r>
              <a:rPr lang="ru-RU" dirty="0" err="1"/>
              <a:t>security</a:t>
            </a:r>
            <a:r>
              <a:rPr lang="ru-RU" dirty="0"/>
              <a:t> </a:t>
            </a:r>
            <a:r>
              <a:rPr lang="ru-RU" dirty="0" err="1"/>
              <a:t>label</a:t>
            </a:r>
            <a:r>
              <a:rPr lang="ru-RU" dirty="0"/>
              <a:t>, поддерживающий соответствующие операции сравнения.</a:t>
            </a:r>
          </a:p>
          <a:p>
            <a:r>
              <a:rPr lang="ru-RU" dirty="0"/>
              <a:t>INCRES/</a:t>
            </a:r>
            <a:r>
              <a:rPr lang="ru-RU" dirty="0" err="1"/>
              <a:t>Еnhancеd</a:t>
            </a:r>
            <a:r>
              <a:rPr lang="ru-RU" dirty="0"/>
              <a:t> </a:t>
            </a:r>
            <a:r>
              <a:rPr lang="ru-RU" dirty="0" err="1"/>
              <a:t>Security</a:t>
            </a:r>
            <a:r>
              <a:rPr lang="ru-RU" dirty="0"/>
              <a:t> – первая СУБД, получившая сертификат по классу безопасности В1. В настоящее время появились и другие СУБД с мандатной защитой.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462618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 «Линтер»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Отечественным примером </a:t>
            </a:r>
            <a:r>
              <a:rPr lang="ru-RU" dirty="0" smtClean="0"/>
              <a:t>является СУБД </a:t>
            </a:r>
            <a:r>
              <a:rPr lang="ru-RU" dirty="0"/>
              <a:t>с меточной безопасностью </a:t>
            </a:r>
            <a:r>
              <a:rPr lang="ru-RU" dirty="0" smtClean="0"/>
              <a:t>является СУБД «Линтер», которая </a:t>
            </a:r>
            <a:r>
              <a:rPr lang="ru-RU" dirty="0"/>
              <a:t>получила признание в </a:t>
            </a:r>
            <a:r>
              <a:rPr lang="ru-RU" dirty="0" smtClean="0"/>
              <a:t> силовых </a:t>
            </a:r>
            <a:r>
              <a:rPr lang="ru-RU" dirty="0"/>
              <a:t>структурах, как единственная СУБД, имеющая сертификат по второму классу защиты от </a:t>
            </a:r>
            <a:r>
              <a:rPr lang="ru-RU" dirty="0" smtClean="0"/>
              <a:t>НСД, </a:t>
            </a:r>
            <a:r>
              <a:rPr lang="ru-RU" dirty="0"/>
              <a:t>что соответствует классу B3 </a:t>
            </a:r>
            <a:r>
              <a:rPr lang="ru-RU" dirty="0" smtClean="0"/>
              <a:t>оранжевой книги. </a:t>
            </a:r>
          </a:p>
          <a:p>
            <a:r>
              <a:rPr lang="ru-RU" dirty="0" smtClean="0"/>
              <a:t>Мандатная </a:t>
            </a:r>
            <a:r>
              <a:rPr lang="ru-RU" dirty="0"/>
              <a:t>защита ЛИНТЕР также опирается на механизм меток безопасности, однако, по сравнению с СУБД INCRES/</a:t>
            </a:r>
            <a:r>
              <a:rPr lang="ru-RU" dirty="0" err="1"/>
              <a:t>Еnhancеd</a:t>
            </a:r>
            <a:r>
              <a:rPr lang="ru-RU" dirty="0"/>
              <a:t> </a:t>
            </a:r>
            <a:r>
              <a:rPr lang="ru-RU" dirty="0" err="1"/>
              <a:t>Security</a:t>
            </a:r>
            <a:r>
              <a:rPr lang="ru-RU" dirty="0"/>
              <a:t> ЛИНТЕР имеет свои специфические особенности, которые позволяют существенно более строго реализовать контроль управления доступом к конфиденциальным данным.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857869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 «Линтер»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35215"/>
            <a:ext cx="8229600" cy="4214065"/>
          </a:xfrm>
        </p:spPr>
        <p:txBody>
          <a:bodyPr/>
          <a:lstStyle/>
          <a:p>
            <a:pPr marL="593725" indent="-457200">
              <a:buSzPct val="100000"/>
              <a:buFont typeface="+mj-lt"/>
              <a:buAutoNum type="arabicPeriod"/>
            </a:pPr>
            <a:r>
              <a:rPr lang="ru-RU" dirty="0" smtClean="0"/>
              <a:t>В </a:t>
            </a:r>
            <a:r>
              <a:rPr lang="ru-RU" dirty="0"/>
              <a:t>СУБД «Линтер» все перечисленные объекты (независимо от их иерархии в БД) разбиваются на группы принадлежности. </a:t>
            </a:r>
            <a:endParaRPr lang="ru-RU" dirty="0" smtClean="0"/>
          </a:p>
          <a:p>
            <a:pPr marL="898525" indent="-268288">
              <a:buSzPct val="60000"/>
              <a:buFont typeface="Wingdings" panose="05000000000000000000" pitchFamily="2" charset="2"/>
              <a:buChar char="§"/>
            </a:pPr>
            <a:r>
              <a:rPr lang="ru-RU" dirty="0" smtClean="0"/>
              <a:t>Объект </a:t>
            </a:r>
            <a:r>
              <a:rPr lang="ru-RU" dirty="0"/>
              <a:t>может принадлежать только одной из групп (это может быть, например, разбиение по отделам организации). </a:t>
            </a:r>
            <a:endParaRPr lang="ru-RU" dirty="0" smtClean="0"/>
          </a:p>
          <a:p>
            <a:pPr marL="898525" indent="-268288">
              <a:buSzPct val="60000"/>
              <a:buFont typeface="Wingdings" panose="05000000000000000000" pitchFamily="2" charset="2"/>
              <a:buChar char="§"/>
            </a:pPr>
            <a:r>
              <a:rPr lang="ru-RU" dirty="0" smtClean="0"/>
              <a:t>Группы </a:t>
            </a:r>
            <a:r>
              <a:rPr lang="ru-RU" dirty="0"/>
              <a:t>принадлежности напрямую связаны с группами субъектов. Субъект вправе видеть только данные своей группы, если между группами субъектов не установлены отношения доверия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233523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 «Линтер»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3725" indent="-457200">
              <a:buSzPct val="100000"/>
              <a:buFont typeface="+mj-lt"/>
              <a:buAutoNum type="arabicPeriod" startAt="2"/>
            </a:pPr>
            <a:r>
              <a:rPr lang="ru-RU" dirty="0" smtClean="0"/>
              <a:t>В </a:t>
            </a:r>
            <a:r>
              <a:rPr lang="ru-RU" dirty="0"/>
              <a:t>СУБД «Линтер» все объекты выстроены в иерархию по уровням конфиденциальности и по уровням ценности или важности. </a:t>
            </a:r>
            <a:endParaRPr lang="ru-RU" dirty="0" smtClean="0"/>
          </a:p>
          <a:p>
            <a:pPr marL="898525" indent="-268288">
              <a:buSzPct val="60000"/>
              <a:buFont typeface="Wingdings" panose="05000000000000000000" pitchFamily="2" charset="2"/>
              <a:buChar char="§"/>
            </a:pPr>
            <a:r>
              <a:rPr lang="ru-RU" dirty="0" smtClean="0"/>
              <a:t>Уровень </a:t>
            </a:r>
            <a:r>
              <a:rPr lang="ru-RU" dirty="0"/>
              <a:t>конфиденциальности разбивает объекты по доступности на чтение. Пользователь с более низким уровнем доступа не будет знать даже о существовании объектов с более высоким уровнем конфиденциальности. </a:t>
            </a:r>
            <a:endParaRPr lang="ru-RU" dirty="0" smtClean="0"/>
          </a:p>
          <a:p>
            <a:pPr marL="898525" indent="-268288">
              <a:buSzPct val="60000"/>
              <a:buFont typeface="Wingdings" panose="05000000000000000000" pitchFamily="2" charset="2"/>
              <a:buChar char="§"/>
            </a:pPr>
            <a:r>
              <a:rPr lang="ru-RU" dirty="0" smtClean="0"/>
              <a:t>Уровень </a:t>
            </a:r>
            <a:r>
              <a:rPr lang="ru-RU" dirty="0"/>
              <a:t>ценности, напротив, разбивает данные (объекты) по важности, ограничивая возможность их удаления и модификации.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637451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 «Линтер»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Метка объекта включает:</a:t>
            </a:r>
          </a:p>
          <a:p>
            <a:pPr marL="803275" indent="-266700">
              <a:buNone/>
            </a:pPr>
            <a:r>
              <a:rPr lang="ru-RU" dirty="0"/>
              <a:t>•	группу субъекта, который внес данный объект;</a:t>
            </a:r>
          </a:p>
          <a:p>
            <a:pPr marL="803275" indent="-266700">
              <a:buNone/>
            </a:pPr>
            <a:r>
              <a:rPr lang="ru-RU" dirty="0"/>
              <a:t>•	уровень доступа на чтение –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RAL</a:t>
            </a:r>
            <a:r>
              <a:rPr lang="ru-RU" dirty="0"/>
              <a:t> (</a:t>
            </a:r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Access</a:t>
            </a:r>
            <a:r>
              <a:rPr lang="ru-RU" dirty="0"/>
              <a:t> </a:t>
            </a:r>
            <a:r>
              <a:rPr lang="ru-RU" dirty="0" err="1"/>
              <a:t>Level</a:t>
            </a:r>
            <a:r>
              <a:rPr lang="ru-RU" dirty="0"/>
              <a:t>);</a:t>
            </a:r>
          </a:p>
          <a:p>
            <a:pPr marL="803275" indent="-266700">
              <a:buNone/>
            </a:pPr>
            <a:r>
              <a:rPr lang="ru-RU" dirty="0"/>
              <a:t>•	уровень доступа на запись –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WAL</a:t>
            </a:r>
            <a:r>
              <a:rPr lang="ru-RU" dirty="0"/>
              <a:t> (</a:t>
            </a:r>
            <a:r>
              <a:rPr lang="ru-RU" dirty="0" err="1"/>
              <a:t>Write</a:t>
            </a:r>
            <a:r>
              <a:rPr lang="ru-RU" dirty="0"/>
              <a:t> </a:t>
            </a:r>
            <a:r>
              <a:rPr lang="ru-RU" dirty="0" err="1"/>
              <a:t>Access</a:t>
            </a:r>
            <a:r>
              <a:rPr lang="ru-RU" dirty="0"/>
              <a:t> </a:t>
            </a:r>
            <a:r>
              <a:rPr lang="ru-RU" dirty="0" err="1"/>
              <a:t>Level</a:t>
            </a:r>
            <a:r>
              <a:rPr lang="ru-RU" dirty="0"/>
              <a:t>).</a:t>
            </a:r>
          </a:p>
          <a:p>
            <a:r>
              <a:rPr lang="ru-RU" dirty="0"/>
              <a:t>Метка субъекта выглядит аналогично:</a:t>
            </a:r>
          </a:p>
          <a:p>
            <a:pPr marL="803275" indent="-266700">
              <a:buNone/>
            </a:pPr>
            <a:r>
              <a:rPr lang="ru-RU" dirty="0"/>
              <a:t>•	группу, к которой принадлежит субъект;</a:t>
            </a:r>
          </a:p>
          <a:p>
            <a:pPr marL="803275" indent="-266700">
              <a:buNone/>
            </a:pPr>
            <a:r>
              <a:rPr lang="ru-RU" dirty="0"/>
              <a:t>•	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RAL</a:t>
            </a:r>
            <a:r>
              <a:rPr lang="ru-RU" dirty="0"/>
              <a:t>-уровень субъекта, который представляет собой максимальный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RAL</a:t>
            </a:r>
            <a:r>
              <a:rPr lang="ru-RU" dirty="0"/>
              <a:t>-уровень доступной </a:t>
            </a:r>
            <a:r>
              <a:rPr lang="ru-RU" dirty="0" smtClean="0"/>
              <a:t>субъекту;</a:t>
            </a:r>
            <a:endParaRPr lang="ru-RU" dirty="0"/>
          </a:p>
          <a:p>
            <a:pPr marL="803275" indent="-266700">
              <a:buNone/>
            </a:pPr>
            <a:r>
              <a:rPr lang="ru-RU" dirty="0"/>
              <a:t>•	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WAL</a:t>
            </a:r>
            <a:r>
              <a:rPr lang="ru-RU" dirty="0"/>
              <a:t>-уровень субъекта, то есть минимальный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RAL</a:t>
            </a:r>
            <a:r>
              <a:rPr lang="ru-RU" dirty="0"/>
              <a:t>-уровень объекта, который может быть создан этим субъектом.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854467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 «Линтер»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6525" y="1600795"/>
            <a:ext cx="8570296" cy="4708525"/>
          </a:xfrm>
        </p:spPr>
        <p:txBody>
          <a:bodyPr/>
          <a:lstStyle/>
          <a:p>
            <a:r>
              <a:rPr lang="ru-RU" dirty="0"/>
              <a:t>Все пользователи БД считаются разбитыми на непересекающиеся группы. Группа описывает область доступных пользователю данных. Для каждой группы существует </a:t>
            </a:r>
            <a:r>
              <a:rPr lang="ru-RU" dirty="0" smtClean="0"/>
              <a:t>админ </a:t>
            </a:r>
            <a:r>
              <a:rPr lang="ru-RU" dirty="0"/>
              <a:t>группы </a:t>
            </a:r>
            <a:r>
              <a:rPr lang="ru-RU" dirty="0" smtClean="0"/>
              <a:t>(DBA), </a:t>
            </a:r>
            <a:r>
              <a:rPr lang="ru-RU" dirty="0"/>
              <a:t>созданный </a:t>
            </a:r>
            <a:r>
              <a:rPr lang="ru-RU" dirty="0" smtClean="0"/>
              <a:t>админом </a:t>
            </a:r>
            <a:r>
              <a:rPr lang="ru-RU" dirty="0"/>
              <a:t>системы. При этом пользователи одной группы не видят данных, принадлежащих пользователям другой группы. </a:t>
            </a:r>
            <a:endParaRPr lang="ru-RU" dirty="0" smtClean="0"/>
          </a:p>
          <a:p>
            <a:r>
              <a:rPr lang="ru-RU" dirty="0" smtClean="0"/>
              <a:t>В системе </a:t>
            </a:r>
            <a:r>
              <a:rPr lang="ru-RU" dirty="0"/>
              <a:t>реализовано </a:t>
            </a:r>
            <a:r>
              <a:rPr lang="ru-RU" dirty="0" smtClean="0"/>
              <a:t>понятие </a:t>
            </a:r>
            <a:r>
              <a:rPr lang="ru-RU" dirty="0"/>
              <a:t>«уровень доверия между группами». </a:t>
            </a:r>
            <a:r>
              <a:rPr lang="ru-RU" dirty="0" smtClean="0"/>
              <a:t>Уровни </a:t>
            </a:r>
            <a:r>
              <a:rPr lang="ru-RU" dirty="0"/>
              <a:t>доверия не могут быть вложенными. Группа представляет собой </a:t>
            </a:r>
            <a:r>
              <a:rPr lang="ru-RU" dirty="0" smtClean="0"/>
              <a:t>число </a:t>
            </a:r>
            <a:r>
              <a:rPr lang="ru-RU" dirty="0"/>
              <a:t>в диапазоне [1-250]. Группа 0 – группа </a:t>
            </a:r>
            <a:r>
              <a:rPr lang="ru-RU" dirty="0" smtClean="0"/>
              <a:t>админ </a:t>
            </a:r>
            <a:r>
              <a:rPr lang="ru-RU" dirty="0"/>
              <a:t>системы. Только </a:t>
            </a:r>
            <a:r>
              <a:rPr lang="ru-RU" dirty="0" smtClean="0"/>
              <a:t>он может </a:t>
            </a:r>
            <a:r>
              <a:rPr lang="ru-RU" dirty="0"/>
              <a:t>создать пользователя в группе, отличной от своей. Все данные, созданные от имени пользователя, помечаются его группой.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956061"/>
      </p:ext>
    </p:extLst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 «Линтер»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530" y="1600200"/>
            <a:ext cx="8480285" cy="4708525"/>
          </a:xfrm>
        </p:spPr>
        <p:txBody>
          <a:bodyPr/>
          <a:lstStyle/>
          <a:p>
            <a:r>
              <a:rPr lang="ru-RU" dirty="0"/>
              <a:t>Уровни доступа вводятся для проверки прав на осуществление чтения-записи информации. </a:t>
            </a:r>
            <a:endParaRPr lang="ru-RU" dirty="0" smtClean="0"/>
          </a:p>
          <a:p>
            <a:r>
              <a:rPr lang="ru-RU" dirty="0" smtClean="0"/>
              <a:t>Вводятся </a:t>
            </a:r>
            <a:r>
              <a:rPr lang="ru-RU" dirty="0"/>
              <a:t>следующие уровни доступа:</a:t>
            </a:r>
          </a:p>
          <a:p>
            <a:pPr marL="136525" indent="400050">
              <a:buNone/>
            </a:pPr>
            <a:r>
              <a:rPr lang="ru-RU" dirty="0"/>
              <a:t>1.	Для пользователя (субъекта):</a:t>
            </a:r>
          </a:p>
          <a:p>
            <a:pPr marL="1166813" indent="-268288">
              <a:buFont typeface="Wingdings" panose="05000000000000000000" pitchFamily="2" charset="2"/>
              <a:buChar char="§"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RAL</a:t>
            </a:r>
            <a:r>
              <a:rPr lang="ru-RU" dirty="0"/>
              <a:t> – уровень доступа; пользователь может получать (читать) информацию,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RAL</a:t>
            </a:r>
            <a:r>
              <a:rPr lang="ru-RU" dirty="0"/>
              <a:t>-уровень которой не выше его собственного уровня доступа;</a:t>
            </a:r>
          </a:p>
          <a:p>
            <a:pPr marL="1166813" indent="-268288">
              <a:buFont typeface="Wingdings" panose="05000000000000000000" pitchFamily="2" charset="2"/>
              <a:buChar char="§"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WAL</a:t>
            </a:r>
            <a:r>
              <a:rPr lang="ru-RU" dirty="0"/>
              <a:t> – уровень доверия на понижение уровня конфиденциальности; пользователь не может вносить информацию с уровнем доступа 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RAL</a:t>
            </a:r>
            <a:r>
              <a:rPr lang="ru-RU" dirty="0"/>
              <a:t>-уровнем) более низким, чем данный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WAL</a:t>
            </a:r>
            <a:r>
              <a:rPr lang="ru-RU" dirty="0"/>
              <a:t>-уровень пользователя.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815096"/>
      </p:ext>
    </p:extLst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 «Линтер»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89040"/>
          </a:xfrm>
        </p:spPr>
        <p:txBody>
          <a:bodyPr/>
          <a:lstStyle/>
          <a:p>
            <a:pPr marL="136525" indent="400050">
              <a:buNone/>
            </a:pPr>
            <a:r>
              <a:rPr lang="ru-RU" dirty="0"/>
              <a:t>2.	Для информации:</a:t>
            </a:r>
          </a:p>
          <a:p>
            <a:pPr marL="1260475" indent="-361950">
              <a:buFont typeface="Wingdings" panose="05000000000000000000" pitchFamily="2" charset="2"/>
              <a:buChar char="§"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RAL </a:t>
            </a:r>
            <a:r>
              <a:rPr lang="ru-RU" dirty="0"/>
              <a:t>– уровень чтения; пользователь может получать (читать) информацию,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RAL</a:t>
            </a:r>
            <a:r>
              <a:rPr lang="ru-RU" dirty="0"/>
              <a:t>-уровень которой не выше его собственного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RAL</a:t>
            </a:r>
            <a:r>
              <a:rPr lang="ru-RU" dirty="0"/>
              <a:t>-уровня (может читать менее конфиденциальные данные);</a:t>
            </a:r>
          </a:p>
          <a:p>
            <a:pPr marL="1260475" indent="-361950">
              <a:buFont typeface="Wingdings" panose="05000000000000000000" pitchFamily="2" charset="2"/>
              <a:buChar char="§"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WAL</a:t>
            </a:r>
            <a:r>
              <a:rPr lang="ru-RU" dirty="0"/>
              <a:t> – уровень ценности или уровень доступа на запись (модификацию, удаление); пользователь может модифицировать (удалять) информацию,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WAL</a:t>
            </a:r>
            <a:r>
              <a:rPr lang="ru-RU" dirty="0"/>
              <a:t>-уровень которой не выше его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RAL</a:t>
            </a:r>
            <a:r>
              <a:rPr lang="ru-RU" dirty="0"/>
              <a:t>-уровня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408093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Овал 124"/>
          <p:cNvSpPr/>
          <p:nvPr/>
        </p:nvSpPr>
        <p:spPr>
          <a:xfrm>
            <a:off x="6401428" y="2940461"/>
            <a:ext cx="539934" cy="207346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4" name="Овал 123"/>
          <p:cNvSpPr/>
          <p:nvPr/>
        </p:nvSpPr>
        <p:spPr>
          <a:xfrm>
            <a:off x="5472226" y="2466112"/>
            <a:ext cx="539934" cy="207346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 «Линтер»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91</a:t>
            </a:fld>
            <a:endParaRPr lang="ru-RU"/>
          </a:p>
        </p:txBody>
      </p:sp>
      <p:grpSp>
        <p:nvGrpSpPr>
          <p:cNvPr id="62" name="Полотно 1"/>
          <p:cNvGrpSpPr/>
          <p:nvPr/>
        </p:nvGrpSpPr>
        <p:grpSpPr>
          <a:xfrm>
            <a:off x="1881435" y="1628800"/>
            <a:ext cx="7731125" cy="5082260"/>
            <a:chOff x="645795" y="355927"/>
            <a:chExt cx="4159250" cy="3295323"/>
          </a:xfrm>
        </p:grpSpPr>
        <p:sp>
          <p:nvSpPr>
            <p:cNvPr id="63" name="Прямоугольник 62"/>
            <p:cNvSpPr/>
            <p:nvPr/>
          </p:nvSpPr>
          <p:spPr>
            <a:xfrm>
              <a:off x="1078865" y="974725"/>
              <a:ext cx="3726180" cy="2676525"/>
            </a:xfrm>
            <a:prstGeom prst="rect">
              <a:avLst/>
            </a:prstGeom>
          </p:spPr>
        </p:sp>
        <p:grpSp>
          <p:nvGrpSpPr>
            <p:cNvPr id="64" name="Группа 63"/>
            <p:cNvGrpSpPr/>
            <p:nvPr/>
          </p:nvGrpSpPr>
          <p:grpSpPr>
            <a:xfrm>
              <a:off x="645795" y="936617"/>
              <a:ext cx="2859405" cy="333663"/>
              <a:chOff x="689538" y="611505"/>
              <a:chExt cx="2859405" cy="333663"/>
            </a:xfrm>
          </p:grpSpPr>
          <p:sp>
            <p:nvSpPr>
              <p:cNvPr id="86" name="Прямоугольник 85"/>
              <p:cNvSpPr/>
              <p:nvPr/>
            </p:nvSpPr>
            <p:spPr>
              <a:xfrm>
                <a:off x="689538" y="619413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87" name="Прямоугольник 86"/>
              <p:cNvSpPr/>
              <p:nvPr/>
            </p:nvSpPr>
            <p:spPr>
              <a:xfrm>
                <a:off x="1232463" y="619413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88" name="Прямоугольник 87"/>
              <p:cNvSpPr/>
              <p:nvPr/>
            </p:nvSpPr>
            <p:spPr>
              <a:xfrm>
                <a:off x="2463093" y="611505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89" name="Прямоугольник 88"/>
              <p:cNvSpPr/>
              <p:nvPr/>
            </p:nvSpPr>
            <p:spPr>
              <a:xfrm>
                <a:off x="3006018" y="611505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</p:grpSp>
        <p:grpSp>
          <p:nvGrpSpPr>
            <p:cNvPr id="65" name="Группа 64"/>
            <p:cNvGrpSpPr/>
            <p:nvPr/>
          </p:nvGrpSpPr>
          <p:grpSpPr>
            <a:xfrm>
              <a:off x="645795" y="1262372"/>
              <a:ext cx="2859405" cy="333663"/>
              <a:chOff x="689538" y="611505"/>
              <a:chExt cx="2859405" cy="333663"/>
            </a:xfrm>
          </p:grpSpPr>
          <p:sp>
            <p:nvSpPr>
              <p:cNvPr id="82" name="Прямоугольник 81"/>
              <p:cNvSpPr/>
              <p:nvPr/>
            </p:nvSpPr>
            <p:spPr>
              <a:xfrm>
                <a:off x="689538" y="619413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 dirty="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 dirty="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83" name="Прямоугольник 82"/>
              <p:cNvSpPr/>
              <p:nvPr/>
            </p:nvSpPr>
            <p:spPr>
              <a:xfrm>
                <a:off x="1232463" y="619413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84" name="Прямоугольник 83"/>
              <p:cNvSpPr/>
              <p:nvPr/>
            </p:nvSpPr>
            <p:spPr>
              <a:xfrm>
                <a:off x="2463093" y="611505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85" name="Прямоугольник 84"/>
              <p:cNvSpPr/>
              <p:nvPr/>
            </p:nvSpPr>
            <p:spPr>
              <a:xfrm>
                <a:off x="3006018" y="611505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</p:grpSp>
        <p:grpSp>
          <p:nvGrpSpPr>
            <p:cNvPr id="66" name="Группа 65"/>
            <p:cNvGrpSpPr/>
            <p:nvPr/>
          </p:nvGrpSpPr>
          <p:grpSpPr>
            <a:xfrm>
              <a:off x="645795" y="1588127"/>
              <a:ext cx="2859405" cy="333663"/>
              <a:chOff x="689538" y="611505"/>
              <a:chExt cx="2859405" cy="333663"/>
            </a:xfrm>
          </p:grpSpPr>
          <p:sp>
            <p:nvSpPr>
              <p:cNvPr id="78" name="Прямоугольник 77"/>
              <p:cNvSpPr/>
              <p:nvPr/>
            </p:nvSpPr>
            <p:spPr>
              <a:xfrm>
                <a:off x="689538" y="619413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79" name="Прямоугольник 78"/>
              <p:cNvSpPr/>
              <p:nvPr/>
            </p:nvSpPr>
            <p:spPr>
              <a:xfrm>
                <a:off x="1232463" y="619413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80" name="Прямоугольник 79"/>
              <p:cNvSpPr/>
              <p:nvPr/>
            </p:nvSpPr>
            <p:spPr>
              <a:xfrm>
                <a:off x="2463093" y="611505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81" name="Прямоугольник 80"/>
              <p:cNvSpPr/>
              <p:nvPr/>
            </p:nvSpPr>
            <p:spPr>
              <a:xfrm>
                <a:off x="3006018" y="611505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</p:grpSp>
        <p:grpSp>
          <p:nvGrpSpPr>
            <p:cNvPr id="67" name="Группа 66"/>
            <p:cNvGrpSpPr/>
            <p:nvPr/>
          </p:nvGrpSpPr>
          <p:grpSpPr>
            <a:xfrm>
              <a:off x="645795" y="1909605"/>
              <a:ext cx="2859405" cy="333663"/>
              <a:chOff x="689538" y="611505"/>
              <a:chExt cx="2859405" cy="333663"/>
            </a:xfrm>
          </p:grpSpPr>
          <p:sp>
            <p:nvSpPr>
              <p:cNvPr id="74" name="Прямоугольник 73"/>
              <p:cNvSpPr/>
              <p:nvPr/>
            </p:nvSpPr>
            <p:spPr>
              <a:xfrm>
                <a:off x="689538" y="619413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75" name="Прямоугольник 74"/>
              <p:cNvSpPr/>
              <p:nvPr/>
            </p:nvSpPr>
            <p:spPr>
              <a:xfrm>
                <a:off x="1232463" y="619413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76" name="Прямоугольник 75"/>
              <p:cNvSpPr/>
              <p:nvPr/>
            </p:nvSpPr>
            <p:spPr>
              <a:xfrm>
                <a:off x="2463093" y="611505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77" name="Прямоугольник 76"/>
              <p:cNvSpPr/>
              <p:nvPr/>
            </p:nvSpPr>
            <p:spPr>
              <a:xfrm>
                <a:off x="3006018" y="611505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</p:grpSp>
        <p:grpSp>
          <p:nvGrpSpPr>
            <p:cNvPr id="68" name="Группа 67"/>
            <p:cNvGrpSpPr/>
            <p:nvPr/>
          </p:nvGrpSpPr>
          <p:grpSpPr>
            <a:xfrm>
              <a:off x="645795" y="2231729"/>
              <a:ext cx="2859405" cy="333663"/>
              <a:chOff x="689538" y="611505"/>
              <a:chExt cx="2859405" cy="333663"/>
            </a:xfrm>
          </p:grpSpPr>
          <p:sp>
            <p:nvSpPr>
              <p:cNvPr id="70" name="Прямоугольник 69"/>
              <p:cNvSpPr/>
              <p:nvPr/>
            </p:nvSpPr>
            <p:spPr>
              <a:xfrm>
                <a:off x="689538" y="619413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71" name="Прямоугольник 70"/>
              <p:cNvSpPr/>
              <p:nvPr/>
            </p:nvSpPr>
            <p:spPr>
              <a:xfrm>
                <a:off x="1232463" y="619413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72" name="Прямоугольник 71"/>
              <p:cNvSpPr/>
              <p:nvPr/>
            </p:nvSpPr>
            <p:spPr>
              <a:xfrm>
                <a:off x="2463093" y="611505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73" name="Прямоугольник 72"/>
              <p:cNvSpPr/>
              <p:nvPr/>
            </p:nvSpPr>
            <p:spPr>
              <a:xfrm>
                <a:off x="3006018" y="611505"/>
                <a:ext cx="542925" cy="3257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200">
                    <a:ln w="9525" cap="rnd" cmpd="sng" algn="ctr">
                      <a:solidFill>
                        <a:srgbClr val="000000"/>
                      </a:solidFill>
                      <a:prstDash val="solid"/>
                      <a:bevel/>
                    </a:ln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ru-RU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</p:grpSp>
        <p:sp>
          <p:nvSpPr>
            <p:cNvPr id="69" name="Поле 27"/>
            <p:cNvSpPr txBox="1"/>
            <p:nvPr/>
          </p:nvSpPr>
          <p:spPr>
            <a:xfrm>
              <a:off x="645795" y="355927"/>
              <a:ext cx="2859405" cy="54291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ru-RU" sz="2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   Субъекты                         Объекты </a:t>
              </a:r>
              <a:endPara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Calibri"/>
                <a:cs typeface="Times New Roman"/>
              </a:endParaRPr>
            </a:p>
            <a:p>
              <a:pPr algn="l">
                <a:spcAft>
                  <a:spcPts val="0"/>
                </a:spcAft>
              </a:pPr>
              <a:r>
                <a:rPr lang="ru-RU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     </a:t>
              </a:r>
              <a:r>
                <a:rPr lang="en-US" sz="2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RAL</a:t>
              </a:r>
              <a:r>
                <a:rPr lang="ru-RU" sz="2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   </a:t>
              </a:r>
              <a:r>
                <a:rPr lang="en-US" sz="2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WAL</a:t>
              </a:r>
              <a:r>
                <a:rPr lang="ru-RU" sz="2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    </a:t>
              </a:r>
              <a:r>
                <a:rPr lang="en-US" sz="2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                </a:t>
              </a:r>
              <a:r>
                <a:rPr lang="ru-RU" sz="2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       </a:t>
              </a:r>
              <a:r>
                <a:rPr lang="en-US" sz="2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RAL    WAL   </a:t>
              </a:r>
              <a:endParaRPr lang="ru-RU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Calibri"/>
                <a:cs typeface="Times New Roman"/>
              </a:endParaRPr>
            </a:p>
          </p:txBody>
        </p:sp>
      </p:grpSp>
      <p:grpSp>
        <p:nvGrpSpPr>
          <p:cNvPr id="90" name="Полотно 28"/>
          <p:cNvGrpSpPr/>
          <p:nvPr/>
        </p:nvGrpSpPr>
        <p:grpSpPr>
          <a:xfrm>
            <a:off x="2321750" y="2651189"/>
            <a:ext cx="8123330" cy="4783256"/>
            <a:chOff x="499182" y="760023"/>
            <a:chExt cx="4348408" cy="3156022"/>
          </a:xfrm>
        </p:grpSpPr>
        <p:sp>
          <p:nvSpPr>
            <p:cNvPr id="91" name="Прямоугольник 90"/>
            <p:cNvSpPr/>
            <p:nvPr/>
          </p:nvSpPr>
          <p:spPr>
            <a:xfrm>
              <a:off x="1475105" y="1263015"/>
              <a:ext cx="3372485" cy="2653030"/>
            </a:xfrm>
            <a:prstGeom prst="rect">
              <a:avLst/>
            </a:prstGeom>
          </p:spPr>
        </p:sp>
        <p:grpSp>
          <p:nvGrpSpPr>
            <p:cNvPr id="92" name="Группа 91"/>
            <p:cNvGrpSpPr/>
            <p:nvPr/>
          </p:nvGrpSpPr>
          <p:grpSpPr>
            <a:xfrm>
              <a:off x="499182" y="760023"/>
              <a:ext cx="2382760" cy="2027628"/>
              <a:chOff x="499182" y="760023"/>
              <a:chExt cx="2382760" cy="2027628"/>
            </a:xfrm>
          </p:grpSpPr>
          <p:cxnSp>
            <p:nvCxnSpPr>
              <p:cNvPr id="93" name="Прямая со стрелкой 92"/>
              <p:cNvCxnSpPr/>
              <p:nvPr/>
            </p:nvCxnSpPr>
            <p:spPr>
              <a:xfrm>
                <a:off x="547954" y="1158168"/>
                <a:ext cx="1471418" cy="325827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Прямая со стрелкой 93"/>
              <p:cNvCxnSpPr/>
              <p:nvPr/>
            </p:nvCxnSpPr>
            <p:spPr>
              <a:xfrm>
                <a:off x="547954" y="1158168"/>
                <a:ext cx="1471418" cy="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Прямая со стрелкой 94"/>
              <p:cNvCxnSpPr/>
              <p:nvPr/>
            </p:nvCxnSpPr>
            <p:spPr>
              <a:xfrm>
                <a:off x="547954" y="1162837"/>
                <a:ext cx="1471418" cy="610646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Прямая со стрелкой 95"/>
              <p:cNvCxnSpPr/>
              <p:nvPr/>
            </p:nvCxnSpPr>
            <p:spPr>
              <a:xfrm>
                <a:off x="547954" y="1158600"/>
                <a:ext cx="1471418" cy="976833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97" name="Рисунок 9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9182" y="1096819"/>
                <a:ext cx="97544" cy="97544"/>
              </a:xfrm>
              <a:prstGeom prst="rect">
                <a:avLst/>
              </a:prstGeom>
            </p:spPr>
          </p:pic>
          <p:cxnSp>
            <p:nvCxnSpPr>
              <p:cNvPr id="98" name="Прямая со стрелкой 97"/>
              <p:cNvCxnSpPr>
                <a:endCxn id="114" idx="1"/>
              </p:cNvCxnSpPr>
              <p:nvPr/>
            </p:nvCxnSpPr>
            <p:spPr>
              <a:xfrm>
                <a:off x="2030011" y="1168624"/>
                <a:ext cx="749456" cy="1927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Прямая со стрелкой 98"/>
              <p:cNvCxnSpPr/>
              <p:nvPr/>
            </p:nvCxnSpPr>
            <p:spPr>
              <a:xfrm>
                <a:off x="2019372" y="1483995"/>
                <a:ext cx="759592" cy="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Прямая со стрелкой 99"/>
              <p:cNvCxnSpPr/>
              <p:nvPr/>
            </p:nvCxnSpPr>
            <p:spPr>
              <a:xfrm>
                <a:off x="2019372" y="1773483"/>
                <a:ext cx="759592" cy="9238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Прямая со стрелкой 100"/>
              <p:cNvCxnSpPr/>
              <p:nvPr/>
            </p:nvCxnSpPr>
            <p:spPr>
              <a:xfrm>
                <a:off x="2019372" y="2123679"/>
                <a:ext cx="759592" cy="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Прямая со стрелкой 101"/>
              <p:cNvCxnSpPr/>
              <p:nvPr/>
            </p:nvCxnSpPr>
            <p:spPr>
              <a:xfrm flipV="1">
                <a:off x="1062038" y="796290"/>
                <a:ext cx="957334" cy="98643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Прямая со стрелкой 102"/>
              <p:cNvCxnSpPr/>
              <p:nvPr/>
            </p:nvCxnSpPr>
            <p:spPr>
              <a:xfrm>
                <a:off x="1062038" y="1773483"/>
                <a:ext cx="957334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Прямая со стрелкой 103"/>
              <p:cNvCxnSpPr>
                <a:stCxn id="118" idx="1"/>
              </p:cNvCxnSpPr>
              <p:nvPr/>
            </p:nvCxnSpPr>
            <p:spPr>
              <a:xfrm flipV="1">
                <a:off x="1013460" y="1483995"/>
                <a:ext cx="1005912" cy="30187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Прямая со стрелкой 104"/>
              <p:cNvCxnSpPr/>
              <p:nvPr/>
            </p:nvCxnSpPr>
            <p:spPr>
              <a:xfrm flipV="1">
                <a:off x="1062038" y="1158168"/>
                <a:ext cx="957334" cy="62962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Прямая со стрелкой 105"/>
              <p:cNvCxnSpPr>
                <a:endCxn id="110" idx="1"/>
              </p:cNvCxnSpPr>
              <p:nvPr/>
            </p:nvCxnSpPr>
            <p:spPr>
              <a:xfrm>
                <a:off x="2019372" y="796290"/>
                <a:ext cx="253365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Прямая со стрелкой 106"/>
              <p:cNvCxnSpPr>
                <a:endCxn id="111" idx="1"/>
              </p:cNvCxnSpPr>
              <p:nvPr/>
            </p:nvCxnSpPr>
            <p:spPr>
              <a:xfrm>
                <a:off x="2030011" y="1168624"/>
                <a:ext cx="242726" cy="1335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Прямая со стрелкой 107"/>
              <p:cNvCxnSpPr>
                <a:endCxn id="112" idx="1"/>
              </p:cNvCxnSpPr>
              <p:nvPr/>
            </p:nvCxnSpPr>
            <p:spPr>
              <a:xfrm flipV="1">
                <a:off x="2030011" y="1471541"/>
                <a:ext cx="242726" cy="1245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Прямая со стрелкой 108"/>
              <p:cNvCxnSpPr>
                <a:endCxn id="113" idx="1"/>
              </p:cNvCxnSpPr>
              <p:nvPr/>
            </p:nvCxnSpPr>
            <p:spPr>
              <a:xfrm>
                <a:off x="2019372" y="1773483"/>
                <a:ext cx="253365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0" name="Рисунок 109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72737" y="760023"/>
                <a:ext cx="97155" cy="97155"/>
              </a:xfrm>
              <a:prstGeom prst="rect">
                <a:avLst/>
              </a:prstGeom>
            </p:spPr>
          </p:pic>
          <p:pic>
            <p:nvPicPr>
              <p:cNvPr id="111" name="Рисунок 110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72737" y="1133403"/>
                <a:ext cx="97155" cy="97155"/>
              </a:xfrm>
              <a:prstGeom prst="rect">
                <a:avLst/>
              </a:prstGeom>
            </p:spPr>
          </p:pic>
          <p:pic>
            <p:nvPicPr>
              <p:cNvPr id="112" name="Рисунок 11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72737" y="1422963"/>
                <a:ext cx="97155" cy="97155"/>
              </a:xfrm>
              <a:prstGeom prst="rect">
                <a:avLst/>
              </a:prstGeom>
            </p:spPr>
          </p:pic>
          <p:pic>
            <p:nvPicPr>
              <p:cNvPr id="113" name="Рисунок 112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72737" y="1737288"/>
                <a:ext cx="97155" cy="97155"/>
              </a:xfrm>
              <a:prstGeom prst="rect">
                <a:avLst/>
              </a:prstGeom>
            </p:spPr>
          </p:pic>
          <p:pic>
            <p:nvPicPr>
              <p:cNvPr id="114" name="Рисунок 113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79467" y="1121973"/>
                <a:ext cx="97155" cy="97155"/>
              </a:xfrm>
              <a:prstGeom prst="rect">
                <a:avLst/>
              </a:prstGeom>
            </p:spPr>
          </p:pic>
          <p:pic>
            <p:nvPicPr>
              <p:cNvPr id="115" name="Рисунок 114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79467" y="1422963"/>
                <a:ext cx="97155" cy="97155"/>
              </a:xfrm>
              <a:prstGeom prst="rect">
                <a:avLst/>
              </a:prstGeom>
            </p:spPr>
          </p:pic>
          <p:pic>
            <p:nvPicPr>
              <p:cNvPr id="116" name="Рисунок 115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78964" y="1741009"/>
                <a:ext cx="97155" cy="97155"/>
              </a:xfrm>
              <a:prstGeom prst="rect">
                <a:avLst/>
              </a:prstGeom>
            </p:spPr>
          </p:pic>
          <p:pic>
            <p:nvPicPr>
              <p:cNvPr id="117" name="Рисунок 116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84787" y="2074473"/>
                <a:ext cx="97155" cy="97155"/>
              </a:xfrm>
              <a:prstGeom prst="rect">
                <a:avLst/>
              </a:prstGeom>
            </p:spPr>
          </p:pic>
          <p:pic>
            <p:nvPicPr>
              <p:cNvPr id="118" name="Рисунок 117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3460" y="1737288"/>
                <a:ext cx="97155" cy="97155"/>
              </a:xfrm>
              <a:prstGeom prst="rect">
                <a:avLst/>
              </a:prstGeom>
            </p:spPr>
          </p:pic>
          <p:cxnSp>
            <p:nvCxnSpPr>
              <p:cNvPr id="119" name="Прямая со стрелкой 118"/>
              <p:cNvCxnSpPr/>
              <p:nvPr/>
            </p:nvCxnSpPr>
            <p:spPr>
              <a:xfrm>
                <a:off x="575291" y="2589530"/>
                <a:ext cx="514084" cy="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Прямая со стрелкой 119"/>
              <p:cNvCxnSpPr/>
              <p:nvPr/>
            </p:nvCxnSpPr>
            <p:spPr>
              <a:xfrm>
                <a:off x="561517" y="2787651"/>
                <a:ext cx="515852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6" name="Рисунок 12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72348" y="2086661"/>
                <a:ext cx="97544" cy="97544"/>
              </a:xfrm>
              <a:prstGeom prst="rect">
                <a:avLst/>
              </a:prstGeom>
            </p:spPr>
          </p:pic>
          <p:pic>
            <p:nvPicPr>
              <p:cNvPr id="129" name="Рисунок 128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78648" y="801565"/>
                <a:ext cx="97155" cy="97155"/>
              </a:xfrm>
              <a:prstGeom prst="rect">
                <a:avLst/>
              </a:prstGeom>
            </p:spPr>
          </p:pic>
        </p:grpSp>
      </p:grpSp>
      <p:sp>
        <p:nvSpPr>
          <p:cNvPr id="123" name="TextBox 122"/>
          <p:cNvSpPr txBox="1"/>
          <p:nvPr/>
        </p:nvSpPr>
        <p:spPr>
          <a:xfrm>
            <a:off x="3626895" y="5274205"/>
            <a:ext cx="3690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Уровень доступа на чтение</a:t>
            </a:r>
          </a:p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Уровень доступа на запись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25" name="Прямая со стрелкой 1024"/>
          <p:cNvCxnSpPr/>
          <p:nvPr/>
        </p:nvCxnSpPr>
        <p:spPr>
          <a:xfrm>
            <a:off x="1421650" y="2536574"/>
            <a:ext cx="0" cy="249980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TextBox 1026"/>
          <p:cNvSpPr txBox="1"/>
          <p:nvPr/>
        </p:nvSpPr>
        <p:spPr>
          <a:xfrm>
            <a:off x="1061610" y="215956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061610" y="504918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7262384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 «Линтер»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1" y="1493785"/>
            <a:ext cx="8685964" cy="4708525"/>
          </a:xfrm>
        </p:spPr>
        <p:txBody>
          <a:bodyPr/>
          <a:lstStyle/>
          <a:p>
            <a:r>
              <a:rPr lang="ru-RU" dirty="0"/>
              <a:t>Создать пользователя с произвольными уровнями может только </a:t>
            </a:r>
            <a:r>
              <a:rPr lang="ru-RU" dirty="0" smtClean="0"/>
              <a:t>администратор </a:t>
            </a:r>
            <a:r>
              <a:rPr lang="ru-RU" dirty="0"/>
              <a:t>системы. Остальные </a:t>
            </a:r>
            <a:r>
              <a:rPr lang="ru-RU" dirty="0" smtClean="0"/>
              <a:t>администраторы </a:t>
            </a:r>
            <a:r>
              <a:rPr lang="ru-RU" dirty="0"/>
              <a:t>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DBA</a:t>
            </a:r>
            <a:r>
              <a:rPr lang="ru-RU" dirty="0"/>
              <a:t>) могут создавать пользователей (или изменять </a:t>
            </a:r>
            <a:r>
              <a:rPr lang="ru-RU" dirty="0" smtClean="0"/>
              <a:t>их уровень) </a:t>
            </a:r>
            <a:r>
              <a:rPr lang="ru-RU" dirty="0"/>
              <a:t>лишь в пределах отведенных им уровней. </a:t>
            </a:r>
            <a:endParaRPr lang="ru-RU" dirty="0" smtClean="0"/>
          </a:p>
          <a:p>
            <a:r>
              <a:rPr lang="ru-RU" dirty="0" smtClean="0"/>
              <a:t>Пользователь </a:t>
            </a:r>
            <a:r>
              <a:rPr lang="ru-RU" dirty="0"/>
              <a:t>может принудительно пометить вводимые данные, указав в списке атрибутов уровни доступа для </a:t>
            </a:r>
            <a:r>
              <a:rPr lang="ru-RU" dirty="0" smtClean="0"/>
              <a:t>соотв. </a:t>
            </a:r>
            <a:r>
              <a:rPr lang="ru-RU" dirty="0"/>
              <a:t>записей и полей </a:t>
            </a:r>
            <a:r>
              <a:rPr lang="ru-RU" dirty="0" smtClean="0"/>
              <a:t>(для операций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ru-RU" dirty="0"/>
              <a:t> или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ru-RU" dirty="0"/>
              <a:t>). </a:t>
            </a:r>
            <a:endParaRPr lang="ru-RU" dirty="0" smtClean="0"/>
          </a:p>
          <a:p>
            <a:r>
              <a:rPr lang="ru-RU" dirty="0" smtClean="0"/>
              <a:t>По </a:t>
            </a:r>
            <a:r>
              <a:rPr lang="ru-RU" dirty="0"/>
              <a:t>умолчанию вносимые данные наследуют уровни пользователя, вносящего/изменяющего данные. </a:t>
            </a:r>
            <a:endParaRPr lang="ru-RU" dirty="0" smtClean="0"/>
          </a:p>
          <a:p>
            <a:r>
              <a:rPr lang="ru-RU" dirty="0" smtClean="0"/>
              <a:t>Уровни</a:t>
            </a:r>
            <a:r>
              <a:rPr lang="ru-RU" dirty="0"/>
              <a:t>, как и группы, нельзя использовать в случае, если они не созданы специальными запросами.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370379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Классическая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БД</Template>
  <TotalTime>9737</TotalTime>
  <Words>6420</Words>
  <Application>Microsoft Office PowerPoint</Application>
  <PresentationFormat>Экран (4:3)</PresentationFormat>
  <Paragraphs>716</Paragraphs>
  <Slides>92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92</vt:i4>
      </vt:variant>
    </vt:vector>
  </HeadingPairs>
  <TitlesOfParts>
    <vt:vector size="101" baseType="lpstr">
      <vt:lpstr>Arial</vt:lpstr>
      <vt:lpstr>Calibri</vt:lpstr>
      <vt:lpstr>Courier New</vt:lpstr>
      <vt:lpstr>Symbol</vt:lpstr>
      <vt:lpstr>Times New Roman</vt:lpstr>
      <vt:lpstr>Wingdings</vt:lpstr>
      <vt:lpstr>Wingdings 2</vt:lpstr>
      <vt:lpstr>Wingdings 3</vt:lpstr>
      <vt:lpstr>Тема1</vt:lpstr>
      <vt:lpstr>Безопасность  систем баз данных</vt:lpstr>
      <vt:lpstr>Управление доступом в СУБД</vt:lpstr>
      <vt:lpstr>Субъекты и объекты доступа</vt:lpstr>
      <vt:lpstr>Вторичные объекты доступа</vt:lpstr>
      <vt:lpstr>Требования по безопасности  в реляционных СУБД </vt:lpstr>
      <vt:lpstr>Схема доступа к данным в реляционных СУБД </vt:lpstr>
      <vt:lpstr>Категории пользователей СУБД</vt:lpstr>
      <vt:lpstr>Первоначальная учетная запись для администраторов БД </vt:lpstr>
      <vt:lpstr>Категории пользователей  в СУБД ЛИНТЕР</vt:lpstr>
      <vt:lpstr>Виды привилегий в СУБД</vt:lpstr>
      <vt:lpstr>Привилегии безопасности  в СУБД INGRES </vt:lpstr>
      <vt:lpstr>Установление привилегий безопасности</vt:lpstr>
      <vt:lpstr>Изменение привилегий безопасности </vt:lpstr>
      <vt:lpstr>Привилегии доступа </vt:lpstr>
      <vt:lpstr>Привилегии доступа </vt:lpstr>
      <vt:lpstr>Установление привилегий </vt:lpstr>
      <vt:lpstr>Управление привилегиями </vt:lpstr>
      <vt:lpstr>Управление привилегиями </vt:lpstr>
      <vt:lpstr>Группы</vt:lpstr>
      <vt:lpstr>Группы</vt:lpstr>
      <vt:lpstr>Создание и изменение групп</vt:lpstr>
      <vt:lpstr>Удаление групп</vt:lpstr>
      <vt:lpstr>Роли в СУБД</vt:lpstr>
      <vt:lpstr>Роли в СУБД</vt:lpstr>
      <vt:lpstr>Роли в СУБД</vt:lpstr>
      <vt:lpstr>Создание и удаление ролей</vt:lpstr>
      <vt:lpstr>Предоставление роли привилегий</vt:lpstr>
      <vt:lpstr>Изъятие привилегий роли </vt:lpstr>
      <vt:lpstr>Представления</vt:lpstr>
      <vt:lpstr>Представления</vt:lpstr>
      <vt:lpstr>Схема техники представлений </vt:lpstr>
      <vt:lpstr>Представления как защита данных в СУБД</vt:lpstr>
      <vt:lpstr>Обращение к представлению</vt:lpstr>
      <vt:lpstr>Хранение представлений</vt:lpstr>
      <vt:lpstr>Привилегии доступа к таблицам</vt:lpstr>
      <vt:lpstr>Привилегии доступа к таблицам</vt:lpstr>
      <vt:lpstr>Привилегии доступа к таблицам</vt:lpstr>
      <vt:lpstr>Привилегий доступа к таблицам</vt:lpstr>
      <vt:lpstr>Примеры предоставления привилегий доступа к таблицам</vt:lpstr>
      <vt:lpstr>Примеры предоставления привилегий доступа к таблицам</vt:lpstr>
      <vt:lpstr>Примеры предоставления привилегий доступа к таблицам</vt:lpstr>
      <vt:lpstr>Примеры предоставления привилегий доступа к таблицам</vt:lpstr>
      <vt:lpstr>Примеры предоставления привилегий доступа к таблицам</vt:lpstr>
      <vt:lpstr>Примеры предоставления привилегий доступа к таблицам</vt:lpstr>
      <vt:lpstr>Пример лишения привилегий доступа к таблицам</vt:lpstr>
      <vt:lpstr>Лишение привилегий доступа к таблицам</vt:lpstr>
      <vt:lpstr>Использование представлений для фильтрации привилегий</vt:lpstr>
      <vt:lpstr>Использование представлений для фильтрации привилегий</vt:lpstr>
      <vt:lpstr>Предоставление привилегий доступа к представлениям</vt:lpstr>
      <vt:lpstr>Доступ к представлениям с фильтрацией строк</vt:lpstr>
      <vt:lpstr>Доступ к представлениям с фильтрацией столбцов и строк</vt:lpstr>
      <vt:lpstr>Доступ к представлениям с фильтрацией столбцов и строк  </vt:lpstr>
      <vt:lpstr>Привилегии пользователя при создании представления</vt:lpstr>
      <vt:lpstr>Представления с агрегатными функциями</vt:lpstr>
      <vt:lpstr>Представления с агрегатными функциями</vt:lpstr>
      <vt:lpstr>Привилегии доступа к процедурам</vt:lpstr>
      <vt:lpstr>Привилегии доступа к процедурам</vt:lpstr>
      <vt:lpstr>Права доступа  к БД</vt:lpstr>
      <vt:lpstr>Права доступа  к БД</vt:lpstr>
      <vt:lpstr>Примеры операторов доступа к БД</vt:lpstr>
      <vt:lpstr>Права доступа  к серверу БД</vt:lpstr>
      <vt:lpstr>Отмена привилегий доступа</vt:lpstr>
      <vt:lpstr>Иерархия прав доступа</vt:lpstr>
      <vt:lpstr>Иерархия прав доступа</vt:lpstr>
      <vt:lpstr>Иерархия прав доступа</vt:lpstr>
      <vt:lpstr>Иерархия прав доступа</vt:lpstr>
      <vt:lpstr>Трактовка ограничений на ресурсы </vt:lpstr>
      <vt:lpstr>Информация о привилегиях</vt:lpstr>
      <vt:lpstr>Информация о привилегиях</vt:lpstr>
      <vt:lpstr>Соотношение прав доступа СУБД и ОС</vt:lpstr>
      <vt:lpstr>Соотношение прав доступа СУБД и ОС</vt:lpstr>
      <vt:lpstr>Соотношение прав доступа СУБД и ОС</vt:lpstr>
      <vt:lpstr>Мандатная защита в СУБД</vt:lpstr>
      <vt:lpstr>Метки безопасности </vt:lpstr>
      <vt:lpstr>Метки безопасности </vt:lpstr>
      <vt:lpstr>Метки безопасности </vt:lpstr>
      <vt:lpstr>СУБД INGRES/Еnhanced Security </vt:lpstr>
      <vt:lpstr>СУБД INGRES/Еnhanced Security </vt:lpstr>
      <vt:lpstr>СУБД INGRES/Еnhanced Security </vt:lpstr>
      <vt:lpstr>СУБД INGRES/Еnhanced Security </vt:lpstr>
      <vt:lpstr>СУБД INGRES/Еnhanced Security </vt:lpstr>
      <vt:lpstr>СУБД INGRES/Еnhanced Security </vt:lpstr>
      <vt:lpstr>СУБД INGRES/Еnhanced Security </vt:lpstr>
      <vt:lpstr>СУБД «Линтер»</vt:lpstr>
      <vt:lpstr>СУБД «Линтер»</vt:lpstr>
      <vt:lpstr>СУБД «Линтер»</vt:lpstr>
      <vt:lpstr>СУБД «Линтер»</vt:lpstr>
      <vt:lpstr>СУБД «Линтер»</vt:lpstr>
      <vt:lpstr>СУБД «Линтер»</vt:lpstr>
      <vt:lpstr>СУБД «Линтер»</vt:lpstr>
      <vt:lpstr>СУБД «Линтер»</vt:lpstr>
      <vt:lpstr>СУБД «Линтер»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 систем баз данных</dc:title>
  <dc:creator>БЮА</dc:creator>
  <cp:lastModifiedBy>BYA</cp:lastModifiedBy>
  <cp:revision>712</cp:revision>
  <dcterms:created xsi:type="dcterms:W3CDTF">2008-11-15T15:31:12Z</dcterms:created>
  <dcterms:modified xsi:type="dcterms:W3CDTF">2016-09-04T09:30:57Z</dcterms:modified>
</cp:coreProperties>
</file>