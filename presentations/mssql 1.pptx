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8" r:id="rId3"/>
    <p:sldId id="259" r:id="rId4"/>
    <p:sldId id="260" r:id="rId5"/>
    <p:sldId id="261" r:id="rId6"/>
    <p:sldId id="262" r:id="rId7"/>
    <p:sldId id="266" r:id="rId8"/>
    <p:sldId id="281" r:id="rId9"/>
    <p:sldId id="280" r:id="rId10"/>
    <p:sldId id="263" r:id="rId11"/>
    <p:sldId id="264" r:id="rId12"/>
    <p:sldId id="265" r:id="rId13"/>
    <p:sldId id="267" r:id="rId14"/>
    <p:sldId id="268" r:id="rId15"/>
    <p:sldId id="269" r:id="rId16"/>
    <p:sldId id="270" r:id="rId17"/>
    <p:sldId id="271" r:id="rId18"/>
    <p:sldId id="272" r:id="rId19"/>
    <p:sldId id="273" r:id="rId20"/>
    <p:sldId id="274" r:id="rId21"/>
    <p:sldId id="275" r:id="rId22"/>
    <p:sldId id="282" r:id="rId23"/>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115" autoAdjust="0"/>
  </p:normalViewPr>
  <p:slideViewPr>
    <p:cSldViewPr>
      <p:cViewPr varScale="1">
        <p:scale>
          <a:sx n="105" d="100"/>
          <a:sy n="105" d="100"/>
        </p:scale>
        <p:origin x="1794" y="1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C7584C-AD9A-492E-9320-379CA442F37A}" type="datetimeFigureOut">
              <a:rPr lang="ru-RU" smtClean="0"/>
              <a:pPr/>
              <a:t>04.09.2026</a:t>
            </a:fld>
            <a:endParaRPr lang="ru-RU"/>
          </a:p>
        </p:txBody>
      </p:sp>
      <p:sp>
        <p:nvSpPr>
          <p:cNvPr id="4" name="Образ слайда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9AE71DC-88D9-4E2B-8896-5B8AD7C02E9E}" type="slidenum">
              <a:rPr lang="ru-RU" smtClean="0"/>
              <a:pPr/>
              <a:t>‹#›</a:t>
            </a:fld>
            <a:endParaRPr lang="ru-R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79AE71DC-88D9-4E2B-8896-5B8AD7C02E9E}" type="slidenum">
              <a:rPr lang="ru-RU" smtClean="0"/>
              <a:pPr/>
              <a:t>9</a:t>
            </a:fld>
            <a:endParaRPr lang="ru-RU"/>
          </a:p>
        </p:txBody>
      </p:sp>
    </p:spTree>
    <p:extLst>
      <p:ext uri="{BB962C8B-B14F-4D97-AF65-F5344CB8AC3E}">
        <p14:creationId xmlns:p14="http://schemas.microsoft.com/office/powerpoint/2010/main" val="4462901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81A215A-8ADD-4B1F-A654-1AA338EBB0C4}" type="datetimeFigureOut">
              <a:rPr lang="ru-RU" smtClean="0"/>
              <a:pPr/>
              <a:t>04.09.2026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7B6BBAA9-1E5A-49C6-B361-68A0F05EEE81}" type="slidenum">
              <a:rPr lang="ru-RU" smtClean="0"/>
              <a:pPr/>
              <a:t>‹#›</a:t>
            </a:fld>
            <a:endParaRPr lang="ru-R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type="tx">
  <p:cSld name="Title and tex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74637"/>
            <a:ext cx="82296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57200" y="1600200"/>
            <a:ext cx="8229600" cy="4525962"/>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rgbClr val="663300"/>
              </a:buClr>
              <a:buSzPts val="1800"/>
              <a:buChar char="•"/>
              <a:defRPr/>
            </a:lvl1pPr>
            <a:lvl2pPr marL="914400" lvl="1" indent="-342900" algn="l">
              <a:lnSpc>
                <a:spcPct val="100000"/>
              </a:lnSpc>
              <a:spcBef>
                <a:spcPts val="360"/>
              </a:spcBef>
              <a:spcAft>
                <a:spcPts val="0"/>
              </a:spcAft>
              <a:buClr>
                <a:srgbClr val="663300"/>
              </a:buClr>
              <a:buSzPts val="1800"/>
              <a:buChar char="–"/>
              <a:defRPr/>
            </a:lvl2pPr>
            <a:lvl3pPr marL="1371600" lvl="2" indent="-342900" algn="l">
              <a:lnSpc>
                <a:spcPct val="100000"/>
              </a:lnSpc>
              <a:spcBef>
                <a:spcPts val="360"/>
              </a:spcBef>
              <a:spcAft>
                <a:spcPts val="0"/>
              </a:spcAft>
              <a:buClr>
                <a:srgbClr val="663300"/>
              </a:buClr>
              <a:buSzPts val="1800"/>
              <a:buChar char="•"/>
              <a:defRPr/>
            </a:lvl3pPr>
            <a:lvl4pPr marL="1828800" lvl="3" indent="-342900" algn="l">
              <a:lnSpc>
                <a:spcPct val="100000"/>
              </a:lnSpc>
              <a:spcBef>
                <a:spcPts val="360"/>
              </a:spcBef>
              <a:spcAft>
                <a:spcPts val="0"/>
              </a:spcAft>
              <a:buClr>
                <a:srgbClr val="663300"/>
              </a:buClr>
              <a:buSzPts val="1800"/>
              <a:buChar char="–"/>
              <a:defRPr/>
            </a:lvl4pPr>
            <a:lvl5pPr marL="2286000" lvl="4" indent="-342900" algn="l">
              <a:lnSpc>
                <a:spcPct val="100000"/>
              </a:lnSpc>
              <a:spcBef>
                <a:spcPts val="360"/>
              </a:spcBef>
              <a:spcAft>
                <a:spcPts val="0"/>
              </a:spcAft>
              <a:buClr>
                <a:srgbClr val="663300"/>
              </a:buClr>
              <a:buSzPts val="1800"/>
              <a:buChar char="»"/>
              <a:defRPr/>
            </a:lvl5pPr>
            <a:lvl6pPr marL="2743200" lvl="5" indent="-342900" algn="l">
              <a:lnSpc>
                <a:spcPct val="100000"/>
              </a:lnSpc>
              <a:spcBef>
                <a:spcPts val="360"/>
              </a:spcBef>
              <a:spcAft>
                <a:spcPts val="0"/>
              </a:spcAft>
              <a:buClr>
                <a:srgbClr val="663300"/>
              </a:buClr>
              <a:buSzPts val="1800"/>
              <a:buChar char="»"/>
              <a:defRPr/>
            </a:lvl6pPr>
            <a:lvl7pPr marL="3200400" lvl="6" indent="-342900" algn="l">
              <a:lnSpc>
                <a:spcPct val="100000"/>
              </a:lnSpc>
              <a:spcBef>
                <a:spcPts val="360"/>
              </a:spcBef>
              <a:spcAft>
                <a:spcPts val="0"/>
              </a:spcAft>
              <a:buClr>
                <a:srgbClr val="663300"/>
              </a:buClr>
              <a:buSzPts val="1800"/>
              <a:buChar char="»"/>
              <a:defRPr/>
            </a:lvl7pPr>
            <a:lvl8pPr marL="3657600" lvl="7" indent="-342900" algn="l">
              <a:lnSpc>
                <a:spcPct val="100000"/>
              </a:lnSpc>
              <a:spcBef>
                <a:spcPts val="360"/>
              </a:spcBef>
              <a:spcAft>
                <a:spcPts val="0"/>
              </a:spcAft>
              <a:buClr>
                <a:srgbClr val="663300"/>
              </a:buClr>
              <a:buSzPts val="1800"/>
              <a:buChar char="»"/>
              <a:defRPr/>
            </a:lvl8pPr>
            <a:lvl9pPr marL="4114800" lvl="8" indent="-342900" algn="l">
              <a:lnSpc>
                <a:spcPct val="100000"/>
              </a:lnSpc>
              <a:spcBef>
                <a:spcPts val="360"/>
              </a:spcBef>
              <a:spcAft>
                <a:spcPts val="0"/>
              </a:spcAft>
              <a:buClr>
                <a:srgbClr val="663300"/>
              </a:buClr>
              <a:buSzPts val="1800"/>
              <a:buChar char="»"/>
              <a:defRPr/>
            </a:lvl9pPr>
          </a:lstStyle>
          <a:p>
            <a:endParaRPr/>
          </a:p>
        </p:txBody>
      </p:sp>
      <p:sp>
        <p:nvSpPr>
          <p:cNvPr id="20" name="Google Shape;20;p3"/>
          <p:cNvSpPr txBox="1">
            <a:spLocks noGrp="1"/>
          </p:cNvSpPr>
          <p:nvPr>
            <p:ph type="dt" idx="10"/>
          </p:nvPr>
        </p:nvSpPr>
        <p:spPr>
          <a:xfrm>
            <a:off x="457200" y="6245225"/>
            <a:ext cx="21336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3124200" y="6245225"/>
            <a:ext cx="28956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6553200" y="6245225"/>
            <a:ext cx="2133600" cy="47625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None/>
              <a:defRPr sz="1400"/>
            </a:lvl1pPr>
            <a:lvl2pPr marL="0" lvl="1" indent="0" algn="r">
              <a:lnSpc>
                <a:spcPct val="100000"/>
              </a:lnSpc>
              <a:spcBef>
                <a:spcPts val="0"/>
              </a:spcBef>
              <a:spcAft>
                <a:spcPts val="0"/>
              </a:spcAft>
              <a:buNone/>
              <a:defRPr sz="1400"/>
            </a:lvl2pPr>
            <a:lvl3pPr marL="0" lvl="2" indent="0" algn="r">
              <a:lnSpc>
                <a:spcPct val="100000"/>
              </a:lnSpc>
              <a:spcBef>
                <a:spcPts val="0"/>
              </a:spcBef>
              <a:spcAft>
                <a:spcPts val="0"/>
              </a:spcAft>
              <a:buNone/>
              <a:defRPr sz="1400"/>
            </a:lvl3pPr>
            <a:lvl4pPr marL="0" lvl="3" indent="0" algn="r">
              <a:lnSpc>
                <a:spcPct val="100000"/>
              </a:lnSpc>
              <a:spcBef>
                <a:spcPts val="0"/>
              </a:spcBef>
              <a:spcAft>
                <a:spcPts val="0"/>
              </a:spcAft>
              <a:buNone/>
              <a:defRPr sz="1400"/>
            </a:lvl4pPr>
            <a:lvl5pPr marL="0" lvl="4" indent="0" algn="r">
              <a:lnSpc>
                <a:spcPct val="100000"/>
              </a:lnSpc>
              <a:spcBef>
                <a:spcPts val="0"/>
              </a:spcBef>
              <a:spcAft>
                <a:spcPts val="0"/>
              </a:spcAft>
              <a:buNone/>
              <a:defRPr sz="1400"/>
            </a:lvl5pPr>
            <a:lvl6pPr marL="0" lvl="5" indent="0" algn="r">
              <a:lnSpc>
                <a:spcPct val="100000"/>
              </a:lnSpc>
              <a:spcBef>
                <a:spcPts val="0"/>
              </a:spcBef>
              <a:spcAft>
                <a:spcPts val="0"/>
              </a:spcAft>
              <a:buNone/>
              <a:defRPr sz="1400"/>
            </a:lvl6pPr>
            <a:lvl7pPr marL="0" lvl="6" indent="0" algn="r">
              <a:lnSpc>
                <a:spcPct val="100000"/>
              </a:lnSpc>
              <a:spcBef>
                <a:spcPts val="0"/>
              </a:spcBef>
              <a:spcAft>
                <a:spcPts val="0"/>
              </a:spcAft>
              <a:buNone/>
              <a:defRPr sz="1400"/>
            </a:lvl7pPr>
            <a:lvl8pPr marL="0" lvl="7" indent="0" algn="r">
              <a:lnSpc>
                <a:spcPct val="100000"/>
              </a:lnSpc>
              <a:spcBef>
                <a:spcPts val="0"/>
              </a:spcBef>
              <a:spcAft>
                <a:spcPts val="0"/>
              </a:spcAft>
              <a:buNone/>
              <a:defRPr sz="1400"/>
            </a:lvl8pPr>
            <a:lvl9pPr marL="0" lvl="8" indent="0" algn="r">
              <a:lnSpc>
                <a:spcPct val="100000"/>
              </a:lnSpc>
              <a:spcBef>
                <a:spcPts val="0"/>
              </a:spcBef>
              <a:spcAft>
                <a:spcPts val="0"/>
              </a:spcAft>
              <a:buNone/>
              <a:defRPr sz="1400"/>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1A215A-8ADD-4B1F-A654-1AA338EBB0C4}" type="datetimeFigureOut">
              <a:rPr lang="ru-RU" smtClean="0"/>
              <a:pPr/>
              <a:t>04.09.2026</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6BBAA9-1E5A-49C6-B361-68A0F05EEE81}"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3;p16">
            <a:extLst>
              <a:ext uri="{FF2B5EF4-FFF2-40B4-BE49-F238E27FC236}">
                <a16:creationId xmlns:a16="http://schemas.microsoft.com/office/drawing/2014/main" id="{F22FDCF6-2BEA-486F-8CCA-FB2338F26451}"/>
              </a:ext>
            </a:extLst>
          </p:cNvPr>
          <p:cNvSpPr txBox="1">
            <a:spLocks/>
          </p:cNvSpPr>
          <p:nvPr/>
        </p:nvSpPr>
        <p:spPr>
          <a:xfrm>
            <a:off x="457200" y="1916832"/>
            <a:ext cx="8229600" cy="1143000"/>
          </a:xfrm>
          <a:prstGeom prst="rect">
            <a:avLst/>
          </a:prstGeom>
          <a:noFill/>
          <a:ln>
            <a:noFill/>
          </a:ln>
        </p:spPr>
        <p:txBody>
          <a:bodyPr spcFirstLastPara="1" wrap="square" lIns="91425" tIns="45700" rIns="91425" bIns="45700" anchor="ctr"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buClr>
                <a:srgbClr val="660033"/>
              </a:buClr>
              <a:buSzPts val="4400"/>
              <a:buFont typeface="Arial"/>
              <a:buNone/>
            </a:pPr>
            <a:r>
              <a:rPr lang="en-US" b="1" dirty="0">
                <a:solidFill>
                  <a:srgbClr val="660033"/>
                </a:solidFill>
                <a:latin typeface="Arial"/>
                <a:ea typeface="Arial"/>
                <a:cs typeface="Arial"/>
                <a:sym typeface="Arial"/>
              </a:rPr>
              <a:t>Microsoft SQL Server</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457200" y="274637"/>
            <a:ext cx="8229600" cy="593057"/>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660033"/>
              </a:buClr>
              <a:buSzPts val="4400"/>
              <a:buFont typeface="Arial"/>
              <a:buNone/>
            </a:pPr>
            <a:r>
              <a:rPr lang="en-US" sz="3600" b="1" i="0" u="none" dirty="0">
                <a:solidFill>
                  <a:srgbClr val="660033"/>
                </a:solidFill>
                <a:latin typeface="Arial"/>
                <a:ea typeface="Arial"/>
                <a:cs typeface="Arial"/>
                <a:sym typeface="Arial"/>
              </a:rPr>
              <a:t>Microsoft SQL Server</a:t>
            </a:r>
            <a:endParaRPr sz="3600" dirty="0"/>
          </a:p>
        </p:txBody>
      </p:sp>
      <p:sp>
        <p:nvSpPr>
          <p:cNvPr id="104" name="Google Shape;104;p16"/>
          <p:cNvSpPr txBox="1">
            <a:spLocks noGrp="1"/>
          </p:cNvSpPr>
          <p:nvPr>
            <p:ph type="body" idx="1"/>
          </p:nvPr>
        </p:nvSpPr>
        <p:spPr>
          <a:xfrm>
            <a:off x="457200" y="902153"/>
            <a:ext cx="8229600" cy="96470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663300"/>
              </a:buClr>
              <a:buSzPts val="3200"/>
              <a:buNone/>
            </a:pPr>
            <a:r>
              <a:rPr lang="ru-RU" sz="1800" b="0" i="0" u="none"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 </a:t>
            </a:r>
            <a:r>
              <a:rPr lang="en-US" sz="1800" b="0" i="0" u="none"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это корпоративная реляционная СУБД, построенная </a:t>
            </a:r>
            <a:r>
              <a:rPr lang="en-US" sz="1800" b="0" i="1" u="none"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по клиент-серверной</a:t>
            </a:r>
            <a:r>
              <a:rPr lang="en-US" sz="1800" b="0" i="0" u="none"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 </a:t>
            </a:r>
            <a:r>
              <a:rPr lang="en-US" sz="1800" b="0" i="1" u="none"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архитектуре</a:t>
            </a:r>
            <a:r>
              <a:rPr lang="en-US" sz="1800" b="0" i="0" u="none" dirty="0">
                <a:solidFill>
                  <a:schemeClr val="tx1">
                    <a:lumMod val="95000"/>
                    <a:lumOff val="5000"/>
                  </a:schemeClr>
                </a:solidFill>
                <a:latin typeface="Times New Roman" panose="02020603050405020304" pitchFamily="18" charset="0"/>
                <a:ea typeface="Arial"/>
                <a:cs typeface="Times New Roman" panose="02020603050405020304" pitchFamily="18" charset="0"/>
                <a:sym typeface="Arial"/>
              </a:rPr>
              <a:t>. </a:t>
            </a:r>
            <a:endParaRPr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 name="Прямоугольник 1">
            <a:extLst>
              <a:ext uri="{FF2B5EF4-FFF2-40B4-BE49-F238E27FC236}">
                <a16:creationId xmlns:a16="http://schemas.microsoft.com/office/drawing/2014/main" id="{1CEEB6B8-F7A4-49BE-9EC3-9027BADE7A2E}"/>
              </a:ext>
            </a:extLst>
          </p:cNvPr>
          <p:cNvSpPr/>
          <p:nvPr/>
        </p:nvSpPr>
        <p:spPr>
          <a:xfrm>
            <a:off x="457200" y="1510364"/>
            <a:ext cx="8229600" cy="1569660"/>
          </a:xfrm>
          <a:prstGeom prst="rect">
            <a:avLst/>
          </a:prstGeom>
        </p:spPr>
        <p:txBody>
          <a:bodyPr wrap="square">
            <a:spAutoFit/>
          </a:bodyPr>
          <a:lstStyle/>
          <a:p>
            <a:r>
              <a:rPr lang="ru-RU" sz="1600" dirty="0">
                <a:solidFill>
                  <a:schemeClr val="tx1">
                    <a:lumMod val="95000"/>
                    <a:lumOff val="5000"/>
                  </a:schemeClr>
                </a:solidFill>
                <a:latin typeface="Times New Roman" panose="02020603050405020304" pitchFamily="18" charset="0"/>
                <a:cs typeface="Times New Roman" panose="02020603050405020304" pitchFamily="18" charset="0"/>
              </a:rPr>
              <a:t>Система работает по следующему принципу:</a:t>
            </a:r>
          </a:p>
          <a:p>
            <a:r>
              <a:rPr lang="ru-RU" sz="1600" dirty="0">
                <a:solidFill>
                  <a:schemeClr val="tx1">
                    <a:lumMod val="95000"/>
                    <a:lumOff val="5000"/>
                  </a:schemeClr>
                </a:solidFill>
                <a:latin typeface="Times New Roman" panose="02020603050405020304" pitchFamily="18" charset="0"/>
                <a:cs typeface="Times New Roman" panose="02020603050405020304" pitchFamily="18" charset="0"/>
              </a:rPr>
              <a:t>1.      Клиент отправляет запрос</a:t>
            </a:r>
            <a:r>
              <a:rPr lang="ru-RU"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на языке Т-SQL</a:t>
            </a:r>
            <a:r>
              <a:rPr lang="ru-RU" sz="1600" dirty="0">
                <a:solidFill>
                  <a:schemeClr val="tx1">
                    <a:lumMod val="95000"/>
                    <a:lumOff val="5000"/>
                  </a:schemeClr>
                </a:solidFill>
                <a:latin typeface="Times New Roman" panose="02020603050405020304" pitchFamily="18" charset="0"/>
                <a:cs typeface="Times New Roman" panose="02020603050405020304" pitchFamily="18" charset="0"/>
              </a:rPr>
              <a:t> серверной машине.</a:t>
            </a:r>
          </a:p>
          <a:p>
            <a:r>
              <a:rPr lang="ru-RU" sz="1600" dirty="0">
                <a:solidFill>
                  <a:schemeClr val="tx1">
                    <a:lumMod val="95000"/>
                    <a:lumOff val="5000"/>
                  </a:schemeClr>
                </a:solidFill>
                <a:latin typeface="Times New Roman" panose="02020603050405020304" pitchFamily="18" charset="0"/>
                <a:cs typeface="Times New Roman" panose="02020603050405020304" pitchFamily="18" charset="0"/>
              </a:rPr>
              <a:t>2.      Сервер принимает обращение с требованием выполнить определенное действие и выполняет поставленную задачу.</a:t>
            </a:r>
          </a:p>
          <a:p>
            <a:r>
              <a:rPr lang="ru-RU" sz="1600" dirty="0">
                <a:solidFill>
                  <a:schemeClr val="tx1">
                    <a:lumMod val="95000"/>
                    <a:lumOff val="5000"/>
                  </a:schemeClr>
                </a:solidFill>
                <a:latin typeface="Times New Roman" panose="02020603050405020304" pitchFamily="18" charset="0"/>
                <a:cs typeface="Times New Roman" panose="02020603050405020304" pitchFamily="18" charset="0"/>
              </a:rPr>
              <a:t>3.      Программно-аппаратный комплекс отправляет клиенту результат выполненной работы, обработанного запроса.</a:t>
            </a:r>
            <a:endParaRPr lang="ru-RU" sz="16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grpSp>
        <p:nvGrpSpPr>
          <p:cNvPr id="5" name="Группа 4">
            <a:extLst>
              <a:ext uri="{FF2B5EF4-FFF2-40B4-BE49-F238E27FC236}">
                <a16:creationId xmlns:a16="http://schemas.microsoft.com/office/drawing/2014/main" id="{E35F9098-21C5-4A76-A37B-FAC95A9E53AB}"/>
              </a:ext>
            </a:extLst>
          </p:cNvPr>
          <p:cNvGrpSpPr/>
          <p:nvPr/>
        </p:nvGrpSpPr>
        <p:grpSpPr>
          <a:xfrm>
            <a:off x="1619672" y="3445941"/>
            <a:ext cx="5443694" cy="1948579"/>
            <a:chOff x="2" y="2"/>
            <a:chExt cx="6059790" cy="3132829"/>
          </a:xfrm>
        </p:grpSpPr>
        <p:grpSp>
          <p:nvGrpSpPr>
            <p:cNvPr id="6" name="Group 5">
              <a:extLst>
                <a:ext uri="{FF2B5EF4-FFF2-40B4-BE49-F238E27FC236}">
                  <a16:creationId xmlns:a16="http://schemas.microsoft.com/office/drawing/2014/main" id="{3298DB9C-706F-424E-A283-9C6C5171C53B}"/>
                </a:ext>
              </a:extLst>
            </p:cNvPr>
            <p:cNvGrpSpPr>
              <a:grpSpLocks/>
            </p:cNvGrpSpPr>
            <p:nvPr/>
          </p:nvGrpSpPr>
          <p:grpSpPr bwMode="auto">
            <a:xfrm>
              <a:off x="2216069" y="1052502"/>
              <a:ext cx="1259546" cy="1153616"/>
              <a:chOff x="2213970" y="1052502"/>
              <a:chExt cx="1055" cy="874"/>
            </a:xfrm>
          </p:grpSpPr>
          <p:pic>
            <p:nvPicPr>
              <p:cNvPr id="30" name="Picture 6">
                <a:extLst>
                  <a:ext uri="{FF2B5EF4-FFF2-40B4-BE49-F238E27FC236}">
                    <a16:creationId xmlns:a16="http://schemas.microsoft.com/office/drawing/2014/main" id="{45186F2B-0304-440E-8CB8-78D381BB61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13970" y="1052547"/>
                <a:ext cx="407" cy="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7">
                <a:extLst>
                  <a:ext uri="{FF2B5EF4-FFF2-40B4-BE49-F238E27FC236}">
                    <a16:creationId xmlns:a16="http://schemas.microsoft.com/office/drawing/2014/main" id="{8E2F0CDA-214E-4D16-8CA9-E29D8665BC1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14378" y="1052502"/>
                <a:ext cx="647" cy="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Group 8">
              <a:extLst>
                <a:ext uri="{FF2B5EF4-FFF2-40B4-BE49-F238E27FC236}">
                  <a16:creationId xmlns:a16="http://schemas.microsoft.com/office/drawing/2014/main" id="{C3658186-9C3F-403B-AB21-5344B5CD7997}"/>
                </a:ext>
              </a:extLst>
            </p:cNvPr>
            <p:cNvGrpSpPr>
              <a:grpSpLocks/>
            </p:cNvGrpSpPr>
            <p:nvPr/>
          </p:nvGrpSpPr>
          <p:grpSpPr bwMode="auto">
            <a:xfrm>
              <a:off x="5175554" y="841576"/>
              <a:ext cx="884238" cy="741363"/>
              <a:chOff x="5166279" y="839777"/>
              <a:chExt cx="557" cy="467"/>
            </a:xfrm>
          </p:grpSpPr>
          <p:pic>
            <p:nvPicPr>
              <p:cNvPr id="28" name="Picture 9">
                <a:extLst>
                  <a:ext uri="{FF2B5EF4-FFF2-40B4-BE49-F238E27FC236}">
                    <a16:creationId xmlns:a16="http://schemas.microsoft.com/office/drawing/2014/main" id="{5C903363-B127-40C3-92FA-0E8A192E99E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6506" y="839800"/>
                <a:ext cx="3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10">
                <a:extLst>
                  <a:ext uri="{FF2B5EF4-FFF2-40B4-BE49-F238E27FC236}">
                    <a16:creationId xmlns:a16="http://schemas.microsoft.com/office/drawing/2014/main" id="{348A8563-03BD-4F6D-862A-F6A60DB4F7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6279" y="839777"/>
                <a:ext cx="229"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Group 11">
              <a:extLst>
                <a:ext uri="{FF2B5EF4-FFF2-40B4-BE49-F238E27FC236}">
                  <a16:creationId xmlns:a16="http://schemas.microsoft.com/office/drawing/2014/main" id="{EE0D9F3A-E572-4C8F-9FFE-D01CF7035E92}"/>
                </a:ext>
              </a:extLst>
            </p:cNvPr>
            <p:cNvGrpSpPr>
              <a:grpSpLocks/>
            </p:cNvGrpSpPr>
            <p:nvPr/>
          </p:nvGrpSpPr>
          <p:grpSpPr bwMode="auto">
            <a:xfrm>
              <a:off x="2" y="2325162"/>
              <a:ext cx="884238" cy="741363"/>
              <a:chOff x="0" y="2320193"/>
              <a:chExt cx="557" cy="467"/>
            </a:xfrm>
          </p:grpSpPr>
          <p:pic>
            <p:nvPicPr>
              <p:cNvPr id="26" name="Picture 12">
                <a:extLst>
                  <a:ext uri="{FF2B5EF4-FFF2-40B4-BE49-F238E27FC236}">
                    <a16:creationId xmlns:a16="http://schemas.microsoft.com/office/drawing/2014/main" id="{9441FF30-94E9-4472-A551-35CC0921F7F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 y="2320216"/>
                <a:ext cx="3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3">
                <a:extLst>
                  <a:ext uri="{FF2B5EF4-FFF2-40B4-BE49-F238E27FC236}">
                    <a16:creationId xmlns:a16="http://schemas.microsoft.com/office/drawing/2014/main" id="{4D8236FD-8252-4051-9A7D-28497A2817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320193"/>
                <a:ext cx="229"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Group 17">
              <a:extLst>
                <a:ext uri="{FF2B5EF4-FFF2-40B4-BE49-F238E27FC236}">
                  <a16:creationId xmlns:a16="http://schemas.microsoft.com/office/drawing/2014/main" id="{51A8AD42-7468-4B63-B914-A0D642EA98C0}"/>
                </a:ext>
              </a:extLst>
            </p:cNvPr>
            <p:cNvGrpSpPr>
              <a:grpSpLocks/>
            </p:cNvGrpSpPr>
            <p:nvPr/>
          </p:nvGrpSpPr>
          <p:grpSpPr bwMode="auto">
            <a:xfrm>
              <a:off x="524816" y="2"/>
              <a:ext cx="884238" cy="741363"/>
              <a:chOff x="523875" y="0"/>
              <a:chExt cx="557" cy="467"/>
            </a:xfrm>
          </p:grpSpPr>
          <p:pic>
            <p:nvPicPr>
              <p:cNvPr id="24" name="Picture 18">
                <a:extLst>
                  <a:ext uri="{FF2B5EF4-FFF2-40B4-BE49-F238E27FC236}">
                    <a16:creationId xmlns:a16="http://schemas.microsoft.com/office/drawing/2014/main" id="{55BB19B5-B58C-4EB6-81A4-14C3E2DC877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4102" y="23"/>
                <a:ext cx="3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9">
                <a:extLst>
                  <a:ext uri="{FF2B5EF4-FFF2-40B4-BE49-F238E27FC236}">
                    <a16:creationId xmlns:a16="http://schemas.microsoft.com/office/drawing/2014/main" id="{8F4883C9-6FBD-4C47-94A8-16A2B6A069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3875" y="0"/>
                <a:ext cx="229"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Group 20">
              <a:extLst>
                <a:ext uri="{FF2B5EF4-FFF2-40B4-BE49-F238E27FC236}">
                  <a16:creationId xmlns:a16="http://schemas.microsoft.com/office/drawing/2014/main" id="{1D33AB89-3B4C-4DE3-A8FA-6EDB975E41D2}"/>
                </a:ext>
              </a:extLst>
            </p:cNvPr>
            <p:cNvGrpSpPr>
              <a:grpSpLocks/>
            </p:cNvGrpSpPr>
            <p:nvPr/>
          </p:nvGrpSpPr>
          <p:grpSpPr bwMode="auto">
            <a:xfrm>
              <a:off x="4732641" y="2391468"/>
              <a:ext cx="884238" cy="741363"/>
              <a:chOff x="4724160" y="2386359"/>
              <a:chExt cx="557" cy="467"/>
            </a:xfrm>
          </p:grpSpPr>
          <p:pic>
            <p:nvPicPr>
              <p:cNvPr id="22" name="Picture 21">
                <a:extLst>
                  <a:ext uri="{FF2B5EF4-FFF2-40B4-BE49-F238E27FC236}">
                    <a16:creationId xmlns:a16="http://schemas.microsoft.com/office/drawing/2014/main" id="{549C2F30-C921-4C61-92AE-8964F16795F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24387" y="2386382"/>
                <a:ext cx="3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2">
                <a:extLst>
                  <a:ext uri="{FF2B5EF4-FFF2-40B4-BE49-F238E27FC236}">
                    <a16:creationId xmlns:a16="http://schemas.microsoft.com/office/drawing/2014/main" id="{B71BCADC-8440-4494-A0CD-BBD04FB0A2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160" y="2386359"/>
                <a:ext cx="229"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 name="Group 23">
              <a:extLst>
                <a:ext uri="{FF2B5EF4-FFF2-40B4-BE49-F238E27FC236}">
                  <a16:creationId xmlns:a16="http://schemas.microsoft.com/office/drawing/2014/main" id="{D138F440-E058-4C84-B745-59787DAF3835}"/>
                </a:ext>
              </a:extLst>
            </p:cNvPr>
            <p:cNvGrpSpPr>
              <a:grpSpLocks/>
            </p:cNvGrpSpPr>
            <p:nvPr/>
          </p:nvGrpSpPr>
          <p:grpSpPr bwMode="auto">
            <a:xfrm>
              <a:off x="157953" y="1054755"/>
              <a:ext cx="884238" cy="741363"/>
              <a:chOff x="157670" y="1052502"/>
              <a:chExt cx="557" cy="467"/>
            </a:xfrm>
          </p:grpSpPr>
          <p:pic>
            <p:nvPicPr>
              <p:cNvPr id="20" name="Picture 24">
                <a:extLst>
                  <a:ext uri="{FF2B5EF4-FFF2-40B4-BE49-F238E27FC236}">
                    <a16:creationId xmlns:a16="http://schemas.microsoft.com/office/drawing/2014/main" id="{3B0831C7-0877-4F43-88C7-93D4D27CD23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7897" y="1052525"/>
                <a:ext cx="3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25">
                <a:extLst>
                  <a:ext uri="{FF2B5EF4-FFF2-40B4-BE49-F238E27FC236}">
                    <a16:creationId xmlns:a16="http://schemas.microsoft.com/office/drawing/2014/main" id="{427529B3-9092-4B6C-9DCE-A9AA41134E0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670" y="1052502"/>
                <a:ext cx="229"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Text Box 4">
              <a:extLst>
                <a:ext uri="{FF2B5EF4-FFF2-40B4-BE49-F238E27FC236}">
                  <a16:creationId xmlns:a16="http://schemas.microsoft.com/office/drawing/2014/main" id="{7A3E1575-5CA2-4E13-8C6D-B9976CAD03AE}"/>
                </a:ext>
              </a:extLst>
            </p:cNvPr>
            <p:cNvSpPr txBox="1">
              <a:spLocks noChangeArrowheads="1"/>
            </p:cNvSpPr>
            <p:nvPr/>
          </p:nvSpPr>
          <p:spPr bwMode="auto">
            <a:xfrm>
              <a:off x="1542979" y="191785"/>
              <a:ext cx="2412559" cy="5448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ts val="1080"/>
                </a:spcBef>
                <a:spcAft>
                  <a:spcPts val="800"/>
                </a:spcAft>
              </a:pPr>
              <a:r>
                <a:rPr kumimoji="1" lang="ru-RU" sz="1400" kern="1200">
                  <a:solidFill>
                    <a:srgbClr val="1D7373"/>
                  </a:solidFill>
                  <a:effectLst>
                    <a:outerShdw blurRad="38100" dist="38100" dir="2700000" algn="tl">
                      <a:srgbClr val="C0C0C0"/>
                    </a:outerShdw>
                  </a:effectLst>
                  <a:latin typeface="Comic Sans MS" panose="030F0702030302020204" pitchFamily="66" charset="0"/>
                  <a:ea typeface="Calibri" panose="020F0502020204030204" pitchFamily="34" charset="0"/>
                  <a:cs typeface="Times New Roman" panose="02020603050405020304" pitchFamily="18" charset="0"/>
                </a:rPr>
                <a:t>Сервер базы данных</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Стрелка вправо 1">
              <a:extLst>
                <a:ext uri="{FF2B5EF4-FFF2-40B4-BE49-F238E27FC236}">
                  <a16:creationId xmlns:a16="http://schemas.microsoft.com/office/drawing/2014/main" id="{45AEB853-FEDD-45E1-A1AD-DA05BD8848DD}"/>
                </a:ext>
              </a:extLst>
            </p:cNvPr>
            <p:cNvSpPr/>
            <p:nvPr/>
          </p:nvSpPr>
          <p:spPr bwMode="auto">
            <a:xfrm rot="21165827">
              <a:off x="3530551" y="1159487"/>
              <a:ext cx="1581283" cy="235803"/>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ru-RU"/>
            </a:p>
          </p:txBody>
        </p:sp>
        <p:sp>
          <p:nvSpPr>
            <p:cNvPr id="14" name="Стрелка вправо 39">
              <a:extLst>
                <a:ext uri="{FF2B5EF4-FFF2-40B4-BE49-F238E27FC236}">
                  <a16:creationId xmlns:a16="http://schemas.microsoft.com/office/drawing/2014/main" id="{FBA548CA-A5C9-46DF-86DF-1910BB4BBD11}"/>
                </a:ext>
              </a:extLst>
            </p:cNvPr>
            <p:cNvSpPr/>
            <p:nvPr/>
          </p:nvSpPr>
          <p:spPr bwMode="auto">
            <a:xfrm rot="1852982">
              <a:off x="3423320" y="2095918"/>
              <a:ext cx="1334960" cy="235803"/>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ru-RU"/>
            </a:p>
          </p:txBody>
        </p:sp>
        <p:sp>
          <p:nvSpPr>
            <p:cNvPr id="15" name="Стрелка вправо 40">
              <a:extLst>
                <a:ext uri="{FF2B5EF4-FFF2-40B4-BE49-F238E27FC236}">
                  <a16:creationId xmlns:a16="http://schemas.microsoft.com/office/drawing/2014/main" id="{962765E1-5A3C-4AE9-ADDC-6B83459D6164}"/>
                </a:ext>
              </a:extLst>
            </p:cNvPr>
            <p:cNvSpPr/>
            <p:nvPr/>
          </p:nvSpPr>
          <p:spPr bwMode="auto">
            <a:xfrm rot="18930837">
              <a:off x="3304186" y="622661"/>
              <a:ext cx="927357" cy="235803"/>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ru-RU"/>
            </a:p>
          </p:txBody>
        </p:sp>
        <p:sp>
          <p:nvSpPr>
            <p:cNvPr id="16" name="Стрелка вправо 42">
              <a:extLst>
                <a:ext uri="{FF2B5EF4-FFF2-40B4-BE49-F238E27FC236}">
                  <a16:creationId xmlns:a16="http://schemas.microsoft.com/office/drawing/2014/main" id="{625E7BDD-E3B1-40B3-B4B3-E8DFF98C0F9D}"/>
                </a:ext>
              </a:extLst>
            </p:cNvPr>
            <p:cNvSpPr/>
            <p:nvPr/>
          </p:nvSpPr>
          <p:spPr bwMode="auto">
            <a:xfrm rot="10989088">
              <a:off x="1052468" y="1441486"/>
              <a:ext cx="1144132" cy="235803"/>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ru-RU"/>
            </a:p>
          </p:txBody>
        </p:sp>
        <p:sp>
          <p:nvSpPr>
            <p:cNvPr id="17" name="Стрелка вправо 43">
              <a:extLst>
                <a:ext uri="{FF2B5EF4-FFF2-40B4-BE49-F238E27FC236}">
                  <a16:creationId xmlns:a16="http://schemas.microsoft.com/office/drawing/2014/main" id="{1E4A3801-22E4-4249-AF3F-63C1FC8E0C02}"/>
                </a:ext>
              </a:extLst>
            </p:cNvPr>
            <p:cNvSpPr/>
            <p:nvPr/>
          </p:nvSpPr>
          <p:spPr bwMode="auto">
            <a:xfrm rot="12166260">
              <a:off x="1003120" y="773087"/>
              <a:ext cx="1304118" cy="235803"/>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ru-RU"/>
            </a:p>
          </p:txBody>
        </p:sp>
        <p:sp>
          <p:nvSpPr>
            <p:cNvPr id="18" name="Стрелка вправо 44">
              <a:extLst>
                <a:ext uri="{FF2B5EF4-FFF2-40B4-BE49-F238E27FC236}">
                  <a16:creationId xmlns:a16="http://schemas.microsoft.com/office/drawing/2014/main" id="{970D10FD-ACB5-4C79-A622-DFD601623214}"/>
                </a:ext>
              </a:extLst>
            </p:cNvPr>
            <p:cNvSpPr/>
            <p:nvPr/>
          </p:nvSpPr>
          <p:spPr bwMode="auto">
            <a:xfrm rot="9544613">
              <a:off x="909706" y="2268457"/>
              <a:ext cx="1304118" cy="235803"/>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prstTxWarp prst="textNoShape">
                <a:avLst/>
              </a:prstTxWarp>
            </a:bodyPr>
            <a:lstStyle/>
            <a:p>
              <a:endParaRPr lang="ru-RU"/>
            </a:p>
          </p:txBody>
        </p:sp>
        <p:sp>
          <p:nvSpPr>
            <p:cNvPr id="19" name="Text Box 4">
              <a:extLst>
                <a:ext uri="{FF2B5EF4-FFF2-40B4-BE49-F238E27FC236}">
                  <a16:creationId xmlns:a16="http://schemas.microsoft.com/office/drawing/2014/main" id="{6754D56F-4074-45C3-AE0C-71AB85947CFC}"/>
                </a:ext>
              </a:extLst>
            </p:cNvPr>
            <p:cNvSpPr txBox="1">
              <a:spLocks noChangeArrowheads="1"/>
            </p:cNvSpPr>
            <p:nvPr/>
          </p:nvSpPr>
          <p:spPr bwMode="auto">
            <a:xfrm rot="1874853">
              <a:off x="3017574" y="1735285"/>
              <a:ext cx="2413171" cy="5448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ts val="1080"/>
                </a:spcBef>
                <a:spcAft>
                  <a:spcPts val="800"/>
                </a:spcAft>
              </a:pPr>
              <a:r>
                <a:rPr kumimoji="1" lang="ru-RU" sz="1400" kern="1200">
                  <a:solidFill>
                    <a:srgbClr val="97482F"/>
                  </a:solidFill>
                  <a:effectLst>
                    <a:outerShdw blurRad="38100" dist="38100" dir="2700000" algn="tl">
                      <a:srgbClr val="C0C0C0"/>
                    </a:outerShdw>
                  </a:effectLst>
                  <a:latin typeface="Comic Sans MS" panose="030F0702030302020204" pitchFamily="66" charset="0"/>
                  <a:ea typeface="Calibri" panose="020F0502020204030204" pitchFamily="34" charset="0"/>
                  <a:cs typeface="Times New Roman" panose="02020603050405020304" pitchFamily="18" charset="0"/>
                </a:rPr>
                <a:t>данные</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32" name="Group 14">
            <a:extLst>
              <a:ext uri="{FF2B5EF4-FFF2-40B4-BE49-F238E27FC236}">
                <a16:creationId xmlns:a16="http://schemas.microsoft.com/office/drawing/2014/main" id="{1975249A-920E-421C-ADC1-9AEB3842454C}"/>
              </a:ext>
            </a:extLst>
          </p:cNvPr>
          <p:cNvGrpSpPr/>
          <p:nvPr/>
        </p:nvGrpSpPr>
        <p:grpSpPr bwMode="auto">
          <a:xfrm>
            <a:off x="5445499" y="3022251"/>
            <a:ext cx="724724" cy="665984"/>
            <a:chOff x="0" y="0"/>
            <a:chExt cx="557" cy="467"/>
          </a:xfrm>
        </p:grpSpPr>
        <p:pic>
          <p:nvPicPr>
            <p:cNvPr id="33" name="Picture 15">
              <a:extLst>
                <a:ext uri="{FF2B5EF4-FFF2-40B4-BE49-F238E27FC236}">
                  <a16:creationId xmlns:a16="http://schemas.microsoft.com/office/drawing/2014/main" id="{0E0612B3-1F04-4F0E-8476-4928F4D502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 y="23"/>
              <a:ext cx="33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16">
              <a:extLst>
                <a:ext uri="{FF2B5EF4-FFF2-40B4-BE49-F238E27FC236}">
                  <a16:creationId xmlns:a16="http://schemas.microsoft.com/office/drawing/2014/main" id="{26A5955B-69AA-4221-804C-9D3FACE53D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229"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TextBox 3">
            <a:extLst>
              <a:ext uri="{FF2B5EF4-FFF2-40B4-BE49-F238E27FC236}">
                <a16:creationId xmlns:a16="http://schemas.microsoft.com/office/drawing/2014/main" id="{ECED1040-5681-466E-9EC5-C97690B19877}"/>
              </a:ext>
            </a:extLst>
          </p:cNvPr>
          <p:cNvSpPr txBox="1"/>
          <p:nvPr/>
        </p:nvSpPr>
        <p:spPr>
          <a:xfrm>
            <a:off x="457200" y="6021288"/>
            <a:ext cx="8218532" cy="646331"/>
          </a:xfrm>
          <a:prstGeom prst="rect">
            <a:avLst/>
          </a:prstGeom>
          <a:noFill/>
        </p:spPr>
        <p:txBody>
          <a:bodyPr wrap="none" rtlCol="0">
            <a:spAutoFit/>
          </a:bodyPr>
          <a:lstStyle/>
          <a:p>
            <a:r>
              <a:rPr lang="ru-RU" dirty="0"/>
              <a:t>Для взаимодействия с БД применяется язык Т-</a:t>
            </a:r>
            <a:r>
              <a:rPr lang="en-US" dirty="0"/>
              <a:t>SQL</a:t>
            </a:r>
            <a:r>
              <a:rPr lang="ru-RU" dirty="0"/>
              <a:t>. Структурированный язык для </a:t>
            </a:r>
          </a:p>
          <a:p>
            <a:r>
              <a:rPr lang="ru-RU" dirty="0"/>
              <a:t>описания, изменения и извлечения данных</a:t>
            </a:r>
            <a:r>
              <a:rPr lang="ru-RU"/>
              <a:t>, хранимых в БД.</a:t>
            </a: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2" name="Google Shape;122;p19"/>
          <p:cNvSpPr txBox="1">
            <a:spLocks noGrp="1"/>
          </p:cNvSpPr>
          <p:nvPr>
            <p:ph type="body" idx="1"/>
          </p:nvPr>
        </p:nvSpPr>
        <p:spPr>
          <a:xfrm>
            <a:off x="395535" y="476672"/>
            <a:ext cx="8229600" cy="2304256"/>
          </a:xfrm>
          <a:prstGeom prst="rect">
            <a:avLst/>
          </a:prstGeom>
          <a:noFill/>
          <a:ln>
            <a:noFill/>
          </a:ln>
        </p:spPr>
        <p:txBody>
          <a:bodyPr spcFirstLastPara="1" wrap="square" lIns="91425" tIns="45700" rIns="91425" bIns="45700" anchor="t" anchorCtr="0">
            <a:noAutofit/>
          </a:bodyPr>
          <a:lstStyle/>
          <a:p>
            <a:r>
              <a:rPr lang="ru-RU" sz="1600" dirty="0">
                <a:latin typeface="Times New Roman" panose="02020603050405020304" pitchFamily="18" charset="0"/>
                <a:cs typeface="Times New Roman" pitchFamily="18" charset="0"/>
              </a:rPr>
              <a:t>Создание  любой   БД  начинается   с   создания   файла  данных.  Рассмотрим  этот   процесс  в «Microsoft SQL Server»  на   примере   создания   простой  БД  по  учёту  успеваемости  студентов. </a:t>
            </a:r>
          </a:p>
          <a:p>
            <a:r>
              <a:rPr lang="ru-RU" sz="1600" dirty="0">
                <a:latin typeface="Times New Roman" panose="02020603050405020304" pitchFamily="18" charset="0"/>
                <a:cs typeface="Times New Roman" pitchFamily="18" charset="0"/>
              </a:rPr>
              <a:t>Для  начала   необходимо  запустить  среду  разработки  «SQL Server Management Studio».  Для  этого  в  меню « Пуск»  выбираем  пункт « Программы\</a:t>
            </a:r>
            <a:r>
              <a:rPr lang="en-US" sz="1600" dirty="0">
                <a:latin typeface="Times New Roman" panose="02020603050405020304" pitchFamily="18" charset="0"/>
                <a:cs typeface="Times New Roman" pitchFamily="18" charset="0"/>
              </a:rPr>
              <a:t>Microsoft SQL Server</a:t>
            </a:r>
            <a:r>
              <a:rPr lang="ru-RU" sz="1600" dirty="0">
                <a:latin typeface="Times New Roman" panose="02020603050405020304" pitchFamily="18" charset="0"/>
                <a:cs typeface="Times New Roman" pitchFamily="18" charset="0"/>
              </a:rPr>
              <a:t> \</a:t>
            </a:r>
            <a:r>
              <a:rPr lang="en-US" sz="1600" dirty="0">
                <a:latin typeface="Times New Roman" panose="02020603050405020304" pitchFamily="18" charset="0"/>
                <a:cs typeface="Times New Roman" pitchFamily="18" charset="0"/>
              </a:rPr>
              <a:t>SQL Server Management Studio</a:t>
            </a:r>
            <a:r>
              <a:rPr lang="ru-RU" sz="1600" dirty="0">
                <a:latin typeface="Times New Roman" panose="02020603050405020304" pitchFamily="18" charset="0"/>
                <a:cs typeface="Times New Roman" pitchFamily="18" charset="0"/>
              </a:rPr>
              <a:t>».</a:t>
            </a:r>
            <a:endParaRPr lang="en-US" sz="1600" dirty="0">
              <a:latin typeface="Times New Roman" panose="02020603050405020304" pitchFamily="18" charset="0"/>
              <a:cs typeface="Times New Roman" pitchFamily="18" charset="0"/>
            </a:endParaRPr>
          </a:p>
          <a:p>
            <a:r>
              <a:rPr lang="ru-RU" sz="1600" dirty="0">
                <a:latin typeface="Times New Roman" panose="02020603050405020304" pitchFamily="18" charset="0"/>
                <a:cs typeface="Times New Roman" panose="02020603050405020304" pitchFamily="18" charset="0"/>
              </a:rPr>
              <a:t>После  запуска  среды   разработки   появится   окно  подключения   к  серверу «Соединение с сервером» . </a:t>
            </a:r>
          </a:p>
          <a:p>
            <a:r>
              <a:rPr lang="ru-RU" sz="1600" dirty="0">
                <a:latin typeface="Times New Roman" panose="02020603050405020304" pitchFamily="18" charset="0"/>
                <a:cs typeface="Times New Roman" panose="02020603050405020304" pitchFamily="18" charset="0"/>
              </a:rPr>
              <a:t>В этом  окне  необходимо нажать кнопку «Соединить» .</a:t>
            </a:r>
          </a:p>
          <a:p>
            <a:endParaRPr lang="en-US" sz="1400" dirty="0"/>
          </a:p>
          <a:p>
            <a:endParaRPr lang="en-US" sz="1400" dirty="0"/>
          </a:p>
          <a:p>
            <a:pPr>
              <a:buNone/>
            </a:pPr>
            <a:endParaRPr sz="14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3" cstate="print"/>
          <a:srcRect/>
          <a:stretch>
            <a:fillRect/>
          </a:stretch>
        </p:blipFill>
        <p:spPr bwMode="auto">
          <a:xfrm>
            <a:off x="2486273" y="3149830"/>
            <a:ext cx="4048125" cy="3048000"/>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9552" y="476672"/>
            <a:ext cx="3960440" cy="923330"/>
          </a:xfrm>
          <a:prstGeom prst="rect">
            <a:avLst/>
          </a:prstGeom>
        </p:spPr>
        <p:txBody>
          <a:bodyPr wrap="square">
            <a:spAutoFit/>
          </a:bodyPr>
          <a:lstStyle/>
          <a:p>
            <a:r>
              <a:rPr lang="ru-RU" dirty="0">
                <a:latin typeface="Times New Roman" pitchFamily="18" charset="0"/>
                <a:cs typeface="Times New Roman" pitchFamily="18" charset="0"/>
              </a:rPr>
              <a:t>После  нажатия   кнопки «Соединить» появится   окно  среда  разработки  «SQL Server Management Studio»</a:t>
            </a:r>
          </a:p>
        </p:txBody>
      </p:sp>
      <p:pic>
        <p:nvPicPr>
          <p:cNvPr id="2050" name="Picture 2"/>
          <p:cNvPicPr>
            <a:picLocks noChangeAspect="1" noChangeArrowheads="1"/>
          </p:cNvPicPr>
          <p:nvPr/>
        </p:nvPicPr>
        <p:blipFill>
          <a:blip r:embed="rId2" cstate="print"/>
          <a:srcRect/>
          <a:stretch>
            <a:fillRect/>
          </a:stretch>
        </p:blipFill>
        <p:spPr bwMode="auto">
          <a:xfrm>
            <a:off x="323528" y="1412558"/>
            <a:ext cx="4176464" cy="3600400"/>
          </a:xfrm>
          <a:prstGeom prst="rect">
            <a:avLst/>
          </a:prstGeom>
          <a:noFill/>
          <a:ln w="9525">
            <a:noFill/>
            <a:miter lim="800000"/>
            <a:headEnd/>
            <a:tailEnd/>
          </a:ln>
        </p:spPr>
      </p:pic>
      <p:sp>
        <p:nvSpPr>
          <p:cNvPr id="2051" name="Rectangle 3"/>
          <p:cNvSpPr>
            <a:spLocks noChangeArrowheads="1"/>
          </p:cNvSpPr>
          <p:nvPr/>
        </p:nvSpPr>
        <p:spPr bwMode="auto">
          <a:xfrm>
            <a:off x="4895528" y="535900"/>
            <a:ext cx="4248472" cy="57861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1"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Данное окно имеет следующую структуру </a:t>
            </a:r>
            <a:r>
              <a:rPr kumimoji="0" lang="ru-RU" sz="1600" b="0"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 </a:t>
            </a:r>
            <a:endParaRPr kumimoji="0" lang="ru-RU" sz="1600" b="0" i="0" u="none" strike="noStrike" cap="none" normalizeH="0" baseline="0" dirty="0">
              <a:ln>
                <a:noFill/>
              </a:ln>
              <a:solidFill>
                <a:srgbClr val="C0000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   Оконное  меню</a:t>
            </a: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содержит  полный  набор  команд  для  управления  </a:t>
            </a:r>
            <a:endParaRPr kumimoji="0" lang="ru-RU" sz="16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сервером  и выполнения различных  операций. </a:t>
            </a:r>
            <a:endParaRPr kumimoji="0" lang="ru-RU" sz="16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2.   Панель  инструментов</a:t>
            </a: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содержит  кнопки  для  выполнения  наиболее   часто производимых  операций.  Внешний  вид   данной  панели   зависит  от  выполняемой  операции. </a:t>
            </a:r>
            <a:endParaRPr kumimoji="0" lang="ru-RU" sz="16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3.   Панель «Object Explorer»</a:t>
            </a: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обозреватель   объектов .  Обозреватель   объектов  –  это  панель   с   древовидной  структурой ,  отображающая  все  объекты  сервера,  а   также   позволяющая   производить  различные   операции,  как  с  самим   сервером ,  так  и  с   БД.  Обозреватель   объектов   является   основным инструментом для разработки  БД. </a:t>
            </a:r>
            <a:endParaRPr kumimoji="0" lang="ru-RU" sz="16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eaLnBrk="0" fontAlgn="base" hangingPunct="0">
              <a:spcBef>
                <a:spcPct val="0"/>
              </a:spcBef>
              <a:spcAft>
                <a:spcPct val="0"/>
              </a:spcAft>
            </a:pPr>
            <a:r>
              <a:rPr kumimoji="0" lang="ru-RU" sz="16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4.    Рабочая  область</a:t>
            </a: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lang="ru-RU" sz="1600" dirty="0">
                <a:latin typeface="Times New Roman" pitchFamily="18" charset="0"/>
                <a:cs typeface="Times New Roman" pitchFamily="18" charset="0"/>
              </a:rPr>
              <a:t>В  рабочей  области  производятся   все  действия   с   БД,  а также  отображается  её  содержимое.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sz="1800" b="0" i="0" u="none" strike="noStrike" cap="none" normalizeH="0" baseline="0" dirty="0">
              <a:ln>
                <a:noFill/>
              </a:ln>
              <a:solidFill>
                <a:schemeClr val="tx1"/>
              </a:solidFill>
              <a:effectLst/>
              <a:latin typeface="Arial" pitchFamily="34" charset="0"/>
              <a:cs typeface="Arial" pitchFamily="34" charset="0"/>
            </a:endParaRPr>
          </a:p>
        </p:txBody>
      </p:sp>
      <p:sp>
        <p:nvSpPr>
          <p:cNvPr id="2" name="Прямоугольник 1">
            <a:extLst>
              <a:ext uri="{FF2B5EF4-FFF2-40B4-BE49-F238E27FC236}">
                <a16:creationId xmlns:a16="http://schemas.microsoft.com/office/drawing/2014/main" id="{327112B8-BE52-4FFE-BC24-B5BDDDA3D0B6}"/>
              </a:ext>
            </a:extLst>
          </p:cNvPr>
          <p:cNvSpPr/>
          <p:nvPr/>
        </p:nvSpPr>
        <p:spPr>
          <a:xfrm>
            <a:off x="323528" y="5229200"/>
            <a:ext cx="4572000" cy="1206997"/>
          </a:xfrm>
          <a:prstGeom prst="rect">
            <a:avLst/>
          </a:prstGeom>
          <a:ln>
            <a:solidFill>
              <a:srgbClr val="C00000"/>
            </a:solidFill>
          </a:ln>
        </p:spPr>
        <p:txBody>
          <a:bodyPr>
            <a:spAutoFit/>
          </a:bodyPr>
          <a:lstStyle/>
          <a:p>
            <a:pPr>
              <a:lnSpc>
                <a:spcPct val="115000"/>
              </a:lnSpc>
              <a:spcAft>
                <a:spcPts val="0"/>
              </a:spcAft>
            </a:pPr>
            <a:r>
              <a:rPr lang="ru-RU" sz="1600" b="1" u="sng" dirty="0">
                <a:latin typeface="Times New Roman" panose="02020603050405020304" pitchFamily="18" charset="0"/>
                <a:ea typeface="Calibri" panose="020F0502020204030204" pitchFamily="34" charset="0"/>
                <a:cs typeface="Times New Roman" panose="02020603050405020304" pitchFamily="18" charset="0"/>
              </a:rPr>
              <a:t> Замечание :</a:t>
            </a:r>
            <a:r>
              <a:rPr lang="ru-RU" sz="1600" dirty="0">
                <a:latin typeface="Times New Roman" panose="02020603050405020304" pitchFamily="18" charset="0"/>
                <a:ea typeface="Calibri" panose="020F0502020204030204" pitchFamily="34" charset="0"/>
                <a:cs typeface="Times New Roman" panose="02020603050405020304" pitchFamily="18" charset="0"/>
              </a:rPr>
              <a:t>   </a:t>
            </a:r>
            <a:r>
              <a:rPr lang="ru-RU" sz="1600" i="1" dirty="0">
                <a:latin typeface="Times New Roman" panose="02020603050405020304" pitchFamily="18" charset="0"/>
                <a:ea typeface="Calibri" panose="020F0502020204030204" pitchFamily="34" charset="0"/>
                <a:cs typeface="Times New Roman" panose="02020603050405020304" pitchFamily="18" charset="0"/>
              </a:rPr>
              <a:t>В  обозревателе   объектов   сами  объекты   находятся  в  папках.  Чтобы   открыть папку необходимо щёлкнуть по знаку «+» слева от  изображения  папки. </a:t>
            </a:r>
            <a:endParaRPr lang="ru-RU" sz="16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683568" y="199674"/>
            <a:ext cx="7776864"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indent="263525" fontAlgn="base">
              <a:spcBef>
                <a:spcPct val="0"/>
              </a:spcBef>
              <a:spcAft>
                <a:spcPct val="0"/>
              </a:spcAft>
            </a:pPr>
            <a:r>
              <a:rPr kumimoji="0" lang="ru-RU" sz="16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itchFamily="18" charset="0"/>
              </a:rPr>
              <a:t>Теперь   перейдём  непосредственно  к  созданию  файла  данных.  Для  этого  в обозревателе   объектов   щёлкните  ПКМ  на   папке </a:t>
            </a:r>
            <a:r>
              <a:rPr kumimoji="0" lang="ru-RU" sz="1600" b="1"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itchFamily="18" charset="0"/>
              </a:rPr>
              <a:t>«Базы  данных» </a:t>
            </a:r>
            <a:r>
              <a:rPr kumimoji="0" lang="ru-RU" sz="16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itchFamily="18" charset="0"/>
              </a:rPr>
              <a:t>(и  в появившемся   меню  выберите   пункт «</a:t>
            </a:r>
            <a:r>
              <a:rPr kumimoji="0" lang="ru-RU" sz="1600" b="1"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itchFamily="18" charset="0"/>
              </a:rPr>
              <a:t>Создать  БД».  </a:t>
            </a:r>
            <a:r>
              <a:rPr kumimoji="0" lang="ru-RU" sz="1600" b="0"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itchFamily="18" charset="0"/>
              </a:rPr>
              <a:t>Появится  окно  настроек  параметров   файла  данных  новой   БД «Создание БД». В  левой  части  окна  настроек   имеется  список  «Выбор страницы».  Этот  список   позволяет  переключаться  между  группами настроек . </a:t>
            </a:r>
          </a:p>
          <a:p>
            <a:pPr lvl="0" indent="263525" fontAlgn="base">
              <a:spcBef>
                <a:spcPct val="0"/>
              </a:spcBef>
              <a:spcAft>
                <a:spcPct val="0"/>
              </a:spcAft>
            </a:pPr>
            <a:r>
              <a:rPr lang="ru-RU" sz="1600" dirty="0">
                <a:latin typeface="Times New Roman" panose="02020603050405020304" pitchFamily="18" charset="0"/>
                <a:cs typeface="Times New Roman" panose="02020603050405020304" pitchFamily="18" charset="0"/>
              </a:rPr>
              <a:t>Верхней  части  окна   расположено   два  параметра: «Имя   БД»  и «Владелец».  Задайте  параметр  «Имя БД»  равным </a:t>
            </a:r>
            <a:r>
              <a:rPr lang="ru-RU" sz="1600" b="1" u="sng" dirty="0">
                <a:latin typeface="Times New Roman" panose="02020603050405020304" pitchFamily="18" charset="0"/>
                <a:cs typeface="Times New Roman" panose="02020603050405020304" pitchFamily="18" charset="0"/>
              </a:rPr>
              <a:t>«</a:t>
            </a:r>
            <a:r>
              <a:rPr lang="en-US" sz="1600" b="1" u="sng" dirty="0">
                <a:latin typeface="Times New Roman" panose="02020603050405020304" pitchFamily="18" charset="0"/>
                <a:cs typeface="Times New Roman" panose="02020603050405020304" pitchFamily="18" charset="0"/>
              </a:rPr>
              <a:t>Student</a:t>
            </a:r>
            <a:r>
              <a:rPr lang="ru-RU" sz="1600" b="1" u="sng"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Параметр «Владелец» оставьте  без изменений. </a:t>
            </a:r>
            <a:endParaRPr kumimoji="0" lang="ru-RU"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4" name="Рисунок 3">
            <a:extLst>
              <a:ext uri="{FF2B5EF4-FFF2-40B4-BE49-F238E27FC236}">
                <a16:creationId xmlns:a16="http://schemas.microsoft.com/office/drawing/2014/main" id="{890AD1DD-A8FB-4967-9DC6-7598FEBCBE9B}"/>
              </a:ext>
            </a:extLst>
          </p:cNvPr>
          <p:cNvPicPr/>
          <p:nvPr/>
        </p:nvPicPr>
        <p:blipFill rotWithShape="1">
          <a:blip r:embed="rId2" cstate="print">
            <a:extLst>
              <a:ext uri="{28A0092B-C50C-407E-A947-70E740481C1C}">
                <a14:useLocalDpi xmlns:a14="http://schemas.microsoft.com/office/drawing/2010/main" val="0"/>
              </a:ext>
            </a:extLst>
          </a:blip>
          <a:srcRect l="16218" t="3763" r="16479" b="9437"/>
          <a:stretch/>
        </p:blipFill>
        <p:spPr bwMode="auto">
          <a:xfrm>
            <a:off x="683568" y="2563117"/>
            <a:ext cx="5301947" cy="4095209"/>
          </a:xfrm>
          <a:prstGeom prst="rect">
            <a:avLst/>
          </a:prstGeom>
          <a:noFill/>
          <a:ln>
            <a:noFill/>
          </a:ln>
          <a:extLst>
            <a:ext uri="{53640926-AAD7-44D8-BBD7-CCE9431645EC}">
              <a14:shadowObscured xmlns:a14="http://schemas.microsoft.com/office/drawing/2010/main"/>
            </a:ext>
          </a:extLst>
        </p:spPr>
      </p:pic>
      <p:sp>
        <p:nvSpPr>
          <p:cNvPr id="2" name="TextBox 1">
            <a:extLst>
              <a:ext uri="{FF2B5EF4-FFF2-40B4-BE49-F238E27FC236}">
                <a16:creationId xmlns:a16="http://schemas.microsoft.com/office/drawing/2014/main" id="{377EF970-4F87-4126-B9DD-FC6B5BDB0B3C}"/>
              </a:ext>
            </a:extLst>
          </p:cNvPr>
          <p:cNvSpPr txBox="1"/>
          <p:nvPr/>
        </p:nvSpPr>
        <p:spPr>
          <a:xfrm>
            <a:off x="6228184" y="2583701"/>
            <a:ext cx="3085075" cy="2062103"/>
          </a:xfrm>
          <a:prstGeom prst="rect">
            <a:avLst/>
          </a:prstGeom>
          <a:noFill/>
        </p:spPr>
        <p:txBody>
          <a:bodyPr wrap="none" rtlCol="0">
            <a:spAutoFit/>
          </a:bodyPr>
          <a:lstStyle/>
          <a:p>
            <a:r>
              <a:rPr lang="ru-RU" sz="1600" b="1" dirty="0">
                <a:latin typeface="Times New Roman" panose="02020603050405020304" pitchFamily="18" charset="0"/>
                <a:cs typeface="Times New Roman" panose="02020603050405020304" pitchFamily="18" charset="0"/>
              </a:rPr>
              <a:t>БД состоит из 2-х файлов:</a:t>
            </a:r>
          </a:p>
          <a:p>
            <a:endParaRPr lang="ru-RU" sz="1600" dirty="0">
              <a:latin typeface="Times New Roman" panose="02020603050405020304" pitchFamily="18" charset="0"/>
              <a:cs typeface="Times New Roman" panose="02020603050405020304" pitchFamily="18" charset="0"/>
            </a:endParaRPr>
          </a:p>
          <a:p>
            <a:pPr marL="285750" indent="-285750">
              <a:buFontTx/>
              <a:buChar char="-"/>
            </a:pPr>
            <a:r>
              <a:rPr lang="ru-RU" sz="1600" dirty="0">
                <a:latin typeface="Times New Roman" panose="02020603050405020304" pitchFamily="18" charset="0"/>
                <a:cs typeface="Times New Roman" panose="02020603050405020304" pitchFamily="18" charset="0"/>
              </a:rPr>
              <a:t>данные, которые будут в БД</a:t>
            </a:r>
          </a:p>
          <a:p>
            <a:pPr marL="285750" indent="-285750">
              <a:buFontTx/>
              <a:buChar char="-"/>
            </a:pPr>
            <a:r>
              <a:rPr lang="ru-RU" sz="1600" dirty="0">
                <a:latin typeface="Times New Roman" panose="02020603050405020304" pitchFamily="18" charset="0"/>
                <a:cs typeface="Times New Roman" panose="02020603050405020304" pitchFamily="18" charset="0"/>
              </a:rPr>
              <a:t>журнал транзакций ( рабочая </a:t>
            </a:r>
          </a:p>
          <a:p>
            <a:r>
              <a:rPr lang="ru-RU" sz="1600" dirty="0">
                <a:latin typeface="Times New Roman" panose="02020603050405020304" pitchFamily="18" charset="0"/>
                <a:cs typeface="Times New Roman" panose="02020603050405020304" pitchFamily="18" charset="0"/>
              </a:rPr>
              <a:t>область, в которую </a:t>
            </a:r>
            <a:r>
              <a:rPr lang="en-US" sz="1600" dirty="0">
                <a:latin typeface="Times New Roman" panose="02020603050405020304" pitchFamily="18" charset="0"/>
                <a:cs typeface="Times New Roman" panose="02020603050405020304" pitchFamily="18" charset="0"/>
              </a:rPr>
              <a:t>SQL Server</a:t>
            </a:r>
            <a:r>
              <a:rPr lang="ru-RU" sz="1600" dirty="0">
                <a:latin typeface="Times New Roman" panose="02020603050405020304" pitchFamily="18" charset="0"/>
                <a:cs typeface="Times New Roman" panose="02020603050405020304" pitchFamily="18" charset="0"/>
              </a:rPr>
              <a:t> </a:t>
            </a:r>
          </a:p>
          <a:p>
            <a:r>
              <a:rPr lang="ru-RU" sz="1600" dirty="0">
                <a:latin typeface="Times New Roman" panose="02020603050405020304" pitchFamily="18" charset="0"/>
                <a:cs typeface="Times New Roman" panose="02020603050405020304" pitchFamily="18" charset="0"/>
              </a:rPr>
              <a:t>Записывает информацию до и </a:t>
            </a:r>
          </a:p>
          <a:p>
            <a:r>
              <a:rPr lang="ru-RU" sz="1600" dirty="0">
                <a:latin typeface="Times New Roman" panose="02020603050405020304" pitchFamily="18" charset="0"/>
                <a:cs typeface="Times New Roman" panose="02020603050405020304" pitchFamily="18" charset="0"/>
              </a:rPr>
              <a:t>после выполнения каждой </a:t>
            </a:r>
          </a:p>
          <a:p>
            <a:r>
              <a:rPr lang="ru-RU" sz="1600" dirty="0">
                <a:latin typeface="Times New Roman" panose="02020603050405020304" pitchFamily="18" charset="0"/>
                <a:cs typeface="Times New Roman" panose="02020603050405020304" pitchFamily="18" charset="0"/>
              </a:rPr>
              <a:t>транзакции)</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339752" y="316977"/>
            <a:ext cx="4761303" cy="461665"/>
          </a:xfrm>
          <a:prstGeom prst="rect">
            <a:avLst/>
          </a:prstGeom>
        </p:spPr>
        <p:txBody>
          <a:bodyPr wrap="none">
            <a:spAutoFit/>
          </a:bodyPr>
          <a:lstStyle/>
          <a:p>
            <a:r>
              <a:rPr lang="ru-RU" sz="2400" b="1" dirty="0">
                <a:solidFill>
                  <a:srgbClr val="C00000"/>
                </a:solidFill>
                <a:latin typeface="Times New Roman" panose="02020603050405020304" pitchFamily="18" charset="0"/>
                <a:cs typeface="Times New Roman" panose="02020603050405020304" pitchFamily="18" charset="0"/>
              </a:rPr>
              <a:t>Создание  и  заполнение  таблиц </a:t>
            </a:r>
          </a:p>
        </p:txBody>
      </p:sp>
      <p:sp>
        <p:nvSpPr>
          <p:cNvPr id="22530" name="Rectangle 2"/>
          <p:cNvSpPr>
            <a:spLocks noChangeArrowheads="1"/>
          </p:cNvSpPr>
          <p:nvPr/>
        </p:nvSpPr>
        <p:spPr bwMode="auto">
          <a:xfrm>
            <a:off x="251520" y="764704"/>
            <a:ext cx="8496944"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kumimoji="0" lang="ru-RU"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На панели   обозревателя   объектов   в  папке «</a:t>
            </a:r>
            <a:r>
              <a:rPr kumimoji="0" lang="ru-RU"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Создание БД</a:t>
            </a:r>
            <a:r>
              <a:rPr kumimoji="0" lang="ru-RU"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появиться новая  БД «</a:t>
            </a:r>
            <a:r>
              <a:rPr lang="en-US" b="1" u="sng" dirty="0">
                <a:latin typeface="Times New Roman" panose="02020603050405020304" pitchFamily="18" charset="0"/>
                <a:cs typeface="Times New Roman" panose="02020603050405020304" pitchFamily="18" charset="0"/>
              </a:rPr>
              <a:t>Student</a:t>
            </a:r>
            <a:r>
              <a:rPr kumimoji="0" lang="ru-RU"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endParaRPr kumimoji="0" lang="ru-RU" b="0" i="0" u="none" strike="noStrike" cap="none" normalizeH="0" baseline="0" dirty="0">
              <a:ln>
                <a:noFill/>
              </a:ln>
              <a:solidFill>
                <a:schemeClr val="tx1"/>
              </a:solidFill>
              <a:effectLst/>
              <a:latin typeface="Arial" pitchFamily="34" charset="0"/>
              <a:cs typeface="Arial" pitchFamily="34" charset="0"/>
            </a:endParaRPr>
          </a:p>
        </p:txBody>
      </p:sp>
      <p:sp>
        <p:nvSpPr>
          <p:cNvPr id="22531" name="Rectangle 3"/>
          <p:cNvSpPr>
            <a:spLocks noChangeArrowheads="1"/>
          </p:cNvSpPr>
          <p:nvPr/>
        </p:nvSpPr>
        <p:spPr bwMode="auto">
          <a:xfrm>
            <a:off x="3302877" y="1614459"/>
            <a:ext cx="554360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1"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Замечание:</a:t>
            </a: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Для  переименования  БД  необходимо  в  обозревателе   объектов   щёлкнуть  по ней  ПКМ  и  в  появившемся   меню  выбрать   пункт «Переименовать». Для  удаления   в  это  же  меню выбираем  пункт «Удалить»,  для  обновления  – пункт «Обновить», а   для  изменения  свойств описанных  выше – пункт «Свойства».</a:t>
            </a:r>
            <a:endParaRPr kumimoji="0" lang="ru-RU" sz="1600" b="0" i="0" u="none" strike="noStrike" cap="none" normalizeH="0" baseline="0" dirty="0">
              <a:ln>
                <a:noFill/>
              </a:ln>
              <a:solidFill>
                <a:schemeClr val="tx1"/>
              </a:solidFill>
              <a:effectLst/>
              <a:latin typeface="Arial" pitchFamily="34" charset="0"/>
              <a:cs typeface="Arial" pitchFamily="34" charset="0"/>
            </a:endParaRPr>
          </a:p>
        </p:txBody>
      </p:sp>
      <p:sp>
        <p:nvSpPr>
          <p:cNvPr id="6" name="Прямоугольник 5"/>
          <p:cNvSpPr/>
          <p:nvPr/>
        </p:nvSpPr>
        <p:spPr>
          <a:xfrm>
            <a:off x="3301863" y="3417010"/>
            <a:ext cx="5328592" cy="830997"/>
          </a:xfrm>
          <a:prstGeom prst="rect">
            <a:avLst/>
          </a:prstGeom>
        </p:spPr>
        <p:txBody>
          <a:bodyPr wrap="square">
            <a:spAutoFit/>
          </a:bodyPr>
          <a:lstStyle/>
          <a:p>
            <a:r>
              <a:rPr lang="ru-RU" sz="1600" dirty="0">
                <a:latin typeface="Times New Roman" pitchFamily="18" charset="0"/>
                <a:cs typeface="Times New Roman" pitchFamily="18" charset="0"/>
              </a:rPr>
              <a:t>Перейдём  теперь   к  созданию  таблиц.  Все  таблицы   нашей   БД  находятся  в  подпапке  «</a:t>
            </a:r>
            <a:r>
              <a:rPr lang="ru-RU" sz="1600" b="1" dirty="0">
                <a:latin typeface="Times New Roman" pitchFamily="18" charset="0"/>
                <a:cs typeface="Times New Roman" pitchFamily="18" charset="0"/>
              </a:rPr>
              <a:t>Таблицы</a:t>
            </a:r>
            <a:r>
              <a:rPr lang="ru-RU" sz="1600" dirty="0">
                <a:latin typeface="Times New Roman" pitchFamily="18" charset="0"/>
                <a:cs typeface="Times New Roman" pitchFamily="18" charset="0"/>
              </a:rPr>
              <a:t>»  папки «</a:t>
            </a:r>
            <a:r>
              <a:rPr lang="en-US" sz="1600" b="1" u="sng" dirty="0">
                <a:latin typeface="Times New Roman" panose="02020603050405020304" pitchFamily="18" charset="0"/>
                <a:cs typeface="Times New Roman" panose="02020603050405020304" pitchFamily="18" charset="0"/>
              </a:rPr>
              <a:t>Student</a:t>
            </a:r>
            <a:r>
              <a:rPr lang="ru-RU" sz="1600" dirty="0">
                <a:latin typeface="Times New Roman" pitchFamily="18" charset="0"/>
                <a:cs typeface="Times New Roman" pitchFamily="18" charset="0"/>
              </a:rPr>
              <a:t>»  в окне  обозревателя  объектов </a:t>
            </a:r>
          </a:p>
        </p:txBody>
      </p:sp>
      <p:pic>
        <p:nvPicPr>
          <p:cNvPr id="9" name="Рисунок 8">
            <a:extLst>
              <a:ext uri="{FF2B5EF4-FFF2-40B4-BE49-F238E27FC236}">
                <a16:creationId xmlns:a16="http://schemas.microsoft.com/office/drawing/2014/main" id="{3EBA0354-41CC-47F5-AC5F-EA6D833F05A9}"/>
              </a:ext>
            </a:extLst>
          </p:cNvPr>
          <p:cNvPicPr/>
          <p:nvPr/>
        </p:nvPicPr>
        <p:blipFill rotWithShape="1">
          <a:blip r:embed="rId2" cstate="print">
            <a:extLst>
              <a:ext uri="{28A0092B-C50C-407E-A947-70E740481C1C}">
                <a14:useLocalDpi xmlns:a14="http://schemas.microsoft.com/office/drawing/2010/main" val="0"/>
              </a:ext>
            </a:extLst>
          </a:blip>
          <a:srcRect t="10372" r="69314" b="13654"/>
          <a:stretch/>
        </p:blipFill>
        <p:spPr bwMode="auto">
          <a:xfrm>
            <a:off x="322084" y="1594725"/>
            <a:ext cx="2880320" cy="4018510"/>
          </a:xfrm>
          <a:prstGeom prst="rect">
            <a:avLst/>
          </a:prstGeom>
          <a:noFill/>
          <a:ln>
            <a:noFill/>
          </a:ln>
        </p:spPr>
      </p:pic>
      <p:sp>
        <p:nvSpPr>
          <p:cNvPr id="5" name="Овал 4">
            <a:extLst>
              <a:ext uri="{FF2B5EF4-FFF2-40B4-BE49-F238E27FC236}">
                <a16:creationId xmlns:a16="http://schemas.microsoft.com/office/drawing/2014/main" id="{D5B3A447-971D-4923-BC81-36D6ABA8B56C}"/>
              </a:ext>
            </a:extLst>
          </p:cNvPr>
          <p:cNvSpPr/>
          <p:nvPr/>
        </p:nvSpPr>
        <p:spPr>
          <a:xfrm>
            <a:off x="683568" y="2708920"/>
            <a:ext cx="1944216" cy="216024"/>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91A743-94C4-4E13-A6D1-DF1B5EF53E7F}"/>
              </a:ext>
            </a:extLst>
          </p:cNvPr>
          <p:cNvSpPr txBox="1"/>
          <p:nvPr/>
        </p:nvSpPr>
        <p:spPr>
          <a:xfrm>
            <a:off x="539552" y="404664"/>
            <a:ext cx="8064896" cy="6370975"/>
          </a:xfrm>
          <a:prstGeom prst="rect">
            <a:avLst/>
          </a:prstGeom>
          <a:noFill/>
        </p:spPr>
        <p:txBody>
          <a:bodyPr wrap="square" rtlCol="0">
            <a:spAutoFit/>
          </a:bodyPr>
          <a:lstStyle/>
          <a:p>
            <a:r>
              <a:rPr lang="ru-RU" sz="1600" b="1" dirty="0">
                <a:solidFill>
                  <a:srgbClr val="C00000"/>
                </a:solidFill>
                <a:latin typeface="Times New Roman" panose="02020603050405020304" pitchFamily="18" charset="0"/>
                <a:cs typeface="Times New Roman" panose="02020603050405020304" pitchFamily="18" charset="0"/>
              </a:rPr>
              <a:t>В SQL </a:t>
            </a:r>
            <a:r>
              <a:rPr lang="ru-RU" sz="1600" b="1" dirty="0" err="1">
                <a:solidFill>
                  <a:srgbClr val="C00000"/>
                </a:solidFill>
                <a:latin typeface="Times New Roman" panose="02020603050405020304" pitchFamily="18" charset="0"/>
                <a:cs typeface="Times New Roman" panose="02020603050405020304" pitchFamily="18" charset="0"/>
              </a:rPr>
              <a:t>Server</a:t>
            </a:r>
            <a:r>
              <a:rPr lang="ru-RU" sz="1600" b="1" dirty="0">
                <a:solidFill>
                  <a:srgbClr val="C00000"/>
                </a:solidFill>
                <a:latin typeface="Times New Roman" panose="02020603050405020304" pitchFamily="18" charset="0"/>
                <a:cs typeface="Times New Roman" panose="02020603050405020304" pitchFamily="18" charset="0"/>
              </a:rPr>
              <a:t> используется следующие типы данных:</a:t>
            </a: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Битовые типы данных</a:t>
            </a:r>
            <a:r>
              <a:rPr lang="ru-RU" sz="1400" dirty="0">
                <a:latin typeface="Times New Roman" panose="02020603050405020304" pitchFamily="18" charset="0"/>
                <a:cs typeface="Times New Roman" panose="02020603050405020304" pitchFamily="18" charset="0"/>
              </a:rPr>
              <a:t>, которые содержат последовательности нулей и единиц: </a:t>
            </a:r>
            <a:r>
              <a:rPr lang="ru-RU" sz="1400" b="1" i="1" dirty="0" err="1">
                <a:latin typeface="Times New Roman" panose="02020603050405020304" pitchFamily="18" charset="0"/>
                <a:cs typeface="Times New Roman" panose="02020603050405020304" pitchFamily="18" charset="0"/>
              </a:rPr>
              <a:t>Binary</a:t>
            </a:r>
            <a:r>
              <a:rPr lang="ru-RU" sz="1400" b="1" i="1" dirty="0">
                <a:latin typeface="Times New Roman" panose="02020603050405020304" pitchFamily="18" charset="0"/>
                <a:cs typeface="Times New Roman" panose="02020603050405020304" pitchFamily="18" charset="0"/>
              </a:rPr>
              <a:t>(n) </a:t>
            </a:r>
            <a:r>
              <a:rPr lang="ru-RU" sz="1400" dirty="0">
                <a:latin typeface="Times New Roman" panose="02020603050405020304" pitchFamily="18" charset="0"/>
                <a:cs typeface="Times New Roman" panose="02020603050405020304" pitchFamily="18" charset="0"/>
              </a:rPr>
              <a:t>и </a:t>
            </a:r>
            <a:r>
              <a:rPr lang="ru-RU" sz="1400" b="1" i="1" dirty="0" err="1">
                <a:latin typeface="Times New Roman" panose="02020603050405020304" pitchFamily="18" charset="0"/>
                <a:cs typeface="Times New Roman" panose="02020603050405020304" pitchFamily="18" charset="0"/>
              </a:rPr>
              <a:t>Varbinary</a:t>
            </a:r>
            <a:r>
              <a:rPr lang="ru-RU" sz="1400" b="1" i="1" dirty="0">
                <a:latin typeface="Times New Roman" panose="02020603050405020304" pitchFamily="18" charset="0"/>
                <a:cs typeface="Times New Roman" panose="02020603050405020304" pitchFamily="18" charset="0"/>
              </a:rPr>
              <a:t>(n)</a:t>
            </a:r>
            <a:r>
              <a:rPr lang="ru-RU" sz="1400" dirty="0">
                <a:latin typeface="Times New Roman" panose="02020603050405020304" pitchFamily="18" charset="0"/>
                <a:cs typeface="Times New Roman" panose="02020603050405020304" pitchFamily="18" charset="0"/>
              </a:rPr>
              <a:t>, где n — длина.</a:t>
            </a:r>
          </a:p>
          <a:p>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Целочисленные типы данных </a:t>
            </a:r>
            <a:r>
              <a:rPr lang="ru-RU" sz="1400" dirty="0">
                <a:latin typeface="Times New Roman" panose="02020603050405020304" pitchFamily="18" charset="0"/>
                <a:cs typeface="Times New Roman" panose="02020603050405020304" pitchFamily="18" charset="0"/>
              </a:rPr>
              <a:t>— типы данных для хранения целых чисел (в скобках указан диапазон значений типа данных): </a:t>
            </a:r>
            <a:r>
              <a:rPr lang="ru-RU" sz="1400" b="1" i="1" dirty="0" err="1">
                <a:latin typeface="Times New Roman" panose="02020603050405020304" pitchFamily="18" charset="0"/>
                <a:cs typeface="Times New Roman" panose="02020603050405020304" pitchFamily="18" charset="0"/>
              </a:rPr>
              <a:t>Tinyint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(0 — 255); </a:t>
            </a:r>
            <a:r>
              <a:rPr lang="ru-RU" sz="1400" b="1" i="1" dirty="0" err="1">
                <a:latin typeface="Times New Roman" panose="02020603050405020304" pitchFamily="18" charset="0"/>
                <a:cs typeface="Times New Roman" panose="02020603050405020304" pitchFamily="18" charset="0"/>
              </a:rPr>
              <a:t>Smallint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(±32000); </a:t>
            </a:r>
            <a:r>
              <a:rPr lang="ru-RU" sz="1400" b="1" i="1" dirty="0" err="1">
                <a:latin typeface="Times New Roman" panose="02020603050405020304" pitchFamily="18" charset="0"/>
                <a:cs typeface="Times New Roman" panose="02020603050405020304" pitchFamily="18" charset="0"/>
              </a:rPr>
              <a:t>Int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(±2E+9); </a:t>
            </a:r>
            <a:r>
              <a:rPr lang="ru-RU" sz="1400" b="1" i="1" dirty="0" err="1">
                <a:latin typeface="Times New Roman" panose="02020603050405020304" pitchFamily="18" charset="0"/>
                <a:cs typeface="Times New Roman" panose="02020603050405020304" pitchFamily="18" charset="0"/>
              </a:rPr>
              <a:t>Bigint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(±263);</a:t>
            </a:r>
          </a:p>
          <a:p>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Типы данных для хранения дробных чисел: </a:t>
            </a:r>
            <a:r>
              <a:rPr lang="ru-RU" sz="1400" b="1" i="1" dirty="0" err="1">
                <a:latin typeface="Times New Roman" panose="02020603050405020304" pitchFamily="18" charset="0"/>
                <a:cs typeface="Times New Roman" panose="02020603050405020304" pitchFamily="18" charset="0"/>
              </a:rPr>
              <a:t>Real</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семь знаков после запятой; </a:t>
            </a:r>
            <a:r>
              <a:rPr lang="ru-RU" sz="1400" b="1" i="1" dirty="0" err="1">
                <a:latin typeface="Times New Roman" panose="02020603050405020304" pitchFamily="18" charset="0"/>
                <a:cs typeface="Times New Roman" panose="02020603050405020304" pitchFamily="18" charset="0"/>
              </a:rPr>
              <a:t>Float</a:t>
            </a:r>
            <a:r>
              <a:rPr lang="ru-RU" sz="1400" b="1" i="1" dirty="0">
                <a:latin typeface="Times New Roman" panose="02020603050405020304" pitchFamily="18" charset="0"/>
                <a:cs typeface="Times New Roman" panose="02020603050405020304" pitchFamily="18" charset="0"/>
              </a:rPr>
              <a:t>(m) </a:t>
            </a:r>
            <a:r>
              <a:rPr lang="ru-RU" sz="1400" dirty="0">
                <a:latin typeface="Times New Roman" panose="02020603050405020304" pitchFamily="18" charset="0"/>
                <a:cs typeface="Times New Roman" panose="02020603050405020304" pitchFamily="18" charset="0"/>
              </a:rPr>
              <a:t>может хранить числа из m знаков после запятой, максимальное m = 38; </a:t>
            </a:r>
            <a:r>
              <a:rPr lang="ru-RU" sz="1400" b="1" i="1" dirty="0" err="1">
                <a:latin typeface="Times New Roman" panose="02020603050405020304" pitchFamily="18" charset="0"/>
                <a:cs typeface="Times New Roman" panose="02020603050405020304" pitchFamily="18" charset="0"/>
              </a:rPr>
              <a:t>Decimal</a:t>
            </a:r>
            <a:r>
              <a:rPr lang="ru-RU" sz="1400" b="1" i="1" dirty="0">
                <a:latin typeface="Times New Roman" panose="02020603050405020304" pitchFamily="18" charset="0"/>
                <a:cs typeface="Times New Roman" panose="02020603050405020304" pitchFamily="18" charset="0"/>
              </a:rPr>
              <a:t>(m n) </a:t>
            </a:r>
            <a:r>
              <a:rPr lang="ru-RU" sz="1400" dirty="0">
                <a:latin typeface="Times New Roman" panose="02020603050405020304" pitchFamily="18" charset="0"/>
                <a:cs typeface="Times New Roman" panose="02020603050405020304" pitchFamily="18" charset="0"/>
              </a:rPr>
              <a:t>дробные числа с m знаков до запятой и n после;</a:t>
            </a:r>
          </a:p>
          <a:p>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Специальные типы данных: </a:t>
            </a:r>
            <a:r>
              <a:rPr lang="ru-RU" sz="1400" b="1" i="1" dirty="0" err="1">
                <a:latin typeface="Times New Roman" panose="02020603050405020304" pitchFamily="18" charset="0"/>
                <a:cs typeface="Times New Roman" panose="02020603050405020304" pitchFamily="18" charset="0"/>
              </a:rPr>
              <a:t>Bit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логический тип данных, является заменой логическому типу </a:t>
            </a:r>
            <a:r>
              <a:rPr lang="ru-RU" sz="1400" dirty="0" err="1">
                <a:latin typeface="Times New Roman" panose="02020603050405020304" pitchFamily="18" charset="0"/>
                <a:cs typeface="Times New Roman" panose="02020603050405020304" pitchFamily="18" charset="0"/>
              </a:rPr>
              <a:t>Boolean</a:t>
            </a:r>
            <a:r>
              <a:rPr lang="ru-RU" sz="1400" dirty="0">
                <a:latin typeface="Times New Roman" panose="02020603050405020304" pitchFamily="18" charset="0"/>
                <a:cs typeface="Times New Roman" panose="02020603050405020304" pitchFamily="18" charset="0"/>
              </a:rPr>
              <a:t> в </a:t>
            </a:r>
            <a:r>
              <a:rPr lang="ru-RU" sz="1400" dirty="0" err="1">
                <a:latin typeface="Times New Roman" panose="02020603050405020304" pitchFamily="18" charset="0"/>
                <a:cs typeface="Times New Roman" panose="02020603050405020304" pitchFamily="18" charset="0"/>
              </a:rPr>
              <a:t>Visual</a:t>
            </a:r>
            <a:r>
              <a:rPr lang="ru-RU" sz="1400" dirty="0">
                <a:latin typeface="Times New Roman" panose="02020603050405020304" pitchFamily="18" charset="0"/>
                <a:cs typeface="Times New Roman" panose="02020603050405020304" pitchFamily="18" charset="0"/>
              </a:rPr>
              <a:t> </a:t>
            </a:r>
            <a:r>
              <a:rPr lang="ru-RU" sz="1400" dirty="0" err="1">
                <a:latin typeface="Times New Roman" panose="02020603050405020304" pitchFamily="18" charset="0"/>
                <a:cs typeface="Times New Roman" panose="02020603050405020304" pitchFamily="18" charset="0"/>
              </a:rPr>
              <a:t>Basic</a:t>
            </a:r>
            <a:r>
              <a:rPr lang="ru-RU" sz="1400" dirty="0">
                <a:latin typeface="Times New Roman" panose="02020603050405020304" pitchFamily="18" charset="0"/>
                <a:cs typeface="Times New Roman" panose="02020603050405020304" pitchFamily="18" charset="0"/>
              </a:rPr>
              <a:t>; </a:t>
            </a:r>
            <a:r>
              <a:rPr lang="ru-RU" sz="1400" b="1" i="1" dirty="0" err="1">
                <a:latin typeface="Times New Roman" panose="02020603050405020304" pitchFamily="18" charset="0"/>
                <a:cs typeface="Times New Roman" panose="02020603050405020304" pitchFamily="18" charset="0"/>
              </a:rPr>
              <a:t>Text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тип для хранения больших объемов текста, одно поле может хранить до 2 Гб текста;</a:t>
            </a:r>
          </a:p>
          <a:p>
            <a:endParaRPr lang="ru-RU" sz="1400" b="1" i="1" dirty="0">
              <a:latin typeface="Times New Roman" panose="02020603050405020304" pitchFamily="18" charset="0"/>
              <a:cs typeface="Times New Roman" panose="02020603050405020304" pitchFamily="18" charset="0"/>
            </a:endParaRPr>
          </a:p>
          <a:p>
            <a:r>
              <a:rPr lang="ru-RU" sz="1400" b="1" i="1" dirty="0" err="1">
                <a:latin typeface="Times New Roman" panose="02020603050405020304" pitchFamily="18" charset="0"/>
                <a:cs typeface="Times New Roman" panose="02020603050405020304" pitchFamily="18" charset="0"/>
              </a:rPr>
              <a:t>Image</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тип данных для хранения до 2Гб рисунков, </a:t>
            </a:r>
            <a:r>
              <a:rPr lang="ru-RU" sz="1400" b="1" i="1" dirty="0" err="1">
                <a:latin typeface="Times New Roman" panose="02020603050405020304" pitchFamily="18" charset="0"/>
                <a:cs typeface="Times New Roman" panose="02020603050405020304" pitchFamily="18" charset="0"/>
              </a:rPr>
              <a:t>RowGUID</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уникальный идентификатор строки таблицы, </a:t>
            </a:r>
            <a:r>
              <a:rPr lang="ru-RU" sz="1400" b="1" i="1" dirty="0" err="1">
                <a:latin typeface="Times New Roman" panose="02020603050405020304" pitchFamily="18" charset="0"/>
                <a:cs typeface="Times New Roman" panose="02020603050405020304" pitchFamily="18" charset="0"/>
              </a:rPr>
              <a:t>SQL_Variant</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аналогичен типу</a:t>
            </a:r>
            <a:r>
              <a:rPr lang="en-US" sz="1400" dirty="0">
                <a:latin typeface="Times New Roman" panose="02020603050405020304" pitchFamily="18" charset="0"/>
                <a:cs typeface="Times New Roman" panose="02020603050405020304" pitchFamily="18" charset="0"/>
              </a:rPr>
              <a:t> Variant </a:t>
            </a:r>
            <a:r>
              <a:rPr lang="ru-RU" sz="1400" dirty="0">
                <a:latin typeface="Times New Roman" panose="02020603050405020304" pitchFamily="18" charset="0"/>
                <a:cs typeface="Times New Roman" panose="02020603050405020304" pitchFamily="18" charset="0"/>
              </a:rPr>
              <a:t>в</a:t>
            </a:r>
            <a:r>
              <a:rPr lang="en-US" sz="1400" dirty="0">
                <a:latin typeface="Times New Roman" panose="02020603050405020304" pitchFamily="18" charset="0"/>
                <a:cs typeface="Times New Roman" panose="02020603050405020304" pitchFamily="18" charset="0"/>
              </a:rPr>
              <a:t> Visual Basic;</a:t>
            </a:r>
            <a:endParaRPr lang="ru-RU" sz="1400" dirty="0">
              <a:latin typeface="Times New Roman" panose="02020603050405020304" pitchFamily="18" charset="0"/>
              <a:cs typeface="Times New Roman" panose="02020603050405020304" pitchFamily="18" charset="0"/>
            </a:endParaRPr>
          </a:p>
          <a:p>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Типы данных даты и времени: </a:t>
            </a:r>
            <a:r>
              <a:rPr lang="ru-RU" sz="1400" b="1" i="1" dirty="0" err="1">
                <a:latin typeface="Times New Roman" panose="02020603050405020304" pitchFamily="18" charset="0"/>
                <a:cs typeface="Times New Roman" panose="02020603050405020304" pitchFamily="18" charset="0"/>
              </a:rPr>
              <a:t>Datetime</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(от 1.01.1753 до 31.12.9999). </a:t>
            </a:r>
            <a:r>
              <a:rPr lang="ru-RU" sz="1400" b="1" i="1" dirty="0" err="1">
                <a:latin typeface="Times New Roman" panose="02020603050405020304" pitchFamily="18" charset="0"/>
                <a:cs typeface="Times New Roman" panose="02020603050405020304" pitchFamily="18" charset="0"/>
              </a:rPr>
              <a:t>SmallDatetime</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(от 1.01.1900 до 6.06.2079);</a:t>
            </a:r>
          </a:p>
          <a:p>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Денежные типы данных для хранения финансовой информации: </a:t>
            </a:r>
            <a:r>
              <a:rPr lang="ru-RU" sz="1400" b="1" i="1" dirty="0" err="1">
                <a:latin typeface="Times New Roman" panose="02020603050405020304" pitchFamily="18" charset="0"/>
                <a:cs typeface="Times New Roman" panose="02020603050405020304" pitchFamily="18" charset="0"/>
              </a:rPr>
              <a:t>Money</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(±1015 и 4 знака после нуля), </a:t>
            </a:r>
            <a:r>
              <a:rPr lang="ru-RU" sz="1400" b="1" i="1" dirty="0" err="1">
                <a:latin typeface="Times New Roman" panose="02020603050405020304" pitchFamily="18" charset="0"/>
                <a:cs typeface="Times New Roman" panose="02020603050405020304" pitchFamily="18" charset="0"/>
              </a:rPr>
              <a:t>Smallmoney</a:t>
            </a:r>
            <a:r>
              <a:rPr lang="ru-RU" sz="1400" b="1" i="1"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(±20000.0000);</a:t>
            </a:r>
          </a:p>
          <a:p>
            <a:endParaRPr lang="ru-RU" sz="1400" dirty="0">
              <a:latin typeface="Times New Roman" panose="02020603050405020304" pitchFamily="18" charset="0"/>
              <a:cs typeface="Times New Roman" panose="02020603050405020304" pitchFamily="18" charset="0"/>
            </a:endParaRPr>
          </a:p>
          <a:p>
            <a:r>
              <a:rPr lang="ru-RU" sz="1400" dirty="0">
                <a:latin typeface="Times New Roman" panose="02020603050405020304" pitchFamily="18" charset="0"/>
                <a:cs typeface="Times New Roman" panose="02020603050405020304" pitchFamily="18" charset="0"/>
              </a:rPr>
              <a:t>- </a:t>
            </a:r>
            <a:r>
              <a:rPr lang="ru-RU" sz="1400" b="1" dirty="0">
                <a:latin typeface="Times New Roman" panose="02020603050405020304" pitchFamily="18" charset="0"/>
                <a:cs typeface="Times New Roman" panose="02020603050405020304" pitchFamily="18" charset="0"/>
              </a:rPr>
              <a:t>Символьные типы: </a:t>
            </a:r>
            <a:r>
              <a:rPr lang="ru-RU" sz="1400" b="1" i="1" dirty="0" err="1">
                <a:latin typeface="Times New Roman" panose="02020603050405020304" pitchFamily="18" charset="0"/>
                <a:cs typeface="Times New Roman" panose="02020603050405020304" pitchFamily="18" charset="0"/>
              </a:rPr>
              <a:t>Char</a:t>
            </a:r>
            <a:r>
              <a:rPr lang="ru-RU" sz="1400" b="1" i="1" dirty="0">
                <a:latin typeface="Times New Roman" panose="02020603050405020304" pitchFamily="18" charset="0"/>
                <a:cs typeface="Times New Roman" panose="02020603050405020304" pitchFamily="18" charset="0"/>
              </a:rPr>
              <a:t>(n) </a:t>
            </a:r>
            <a:r>
              <a:rPr lang="ru-RU" sz="1400" dirty="0">
                <a:latin typeface="Times New Roman" panose="02020603050405020304" pitchFamily="18" charset="0"/>
                <a:cs typeface="Times New Roman" panose="02020603050405020304" pitchFamily="18" charset="0"/>
              </a:rPr>
              <a:t>— строка фиксированной длины n (строка дописывается до указанной длины пробелами, максимальная длина —2000 Байт); </a:t>
            </a:r>
            <a:r>
              <a:rPr lang="ru-RU" sz="1400" b="1" i="1" dirty="0" err="1">
                <a:latin typeface="Times New Roman" panose="02020603050405020304" pitchFamily="18" charset="0"/>
                <a:cs typeface="Times New Roman" panose="02020603050405020304" pitchFamily="18" charset="0"/>
              </a:rPr>
              <a:t>Varchar</a:t>
            </a:r>
            <a:r>
              <a:rPr lang="ru-RU" sz="1400" b="1" i="1" dirty="0">
                <a:latin typeface="Times New Roman" panose="02020603050405020304" pitchFamily="18" charset="0"/>
                <a:cs typeface="Times New Roman" panose="02020603050405020304" pitchFamily="18" charset="0"/>
              </a:rPr>
              <a:t>(n)</a:t>
            </a:r>
            <a:r>
              <a:rPr lang="ru-RU" sz="1400" dirty="0">
                <a:latin typeface="Times New Roman" panose="02020603050405020304" pitchFamily="18" charset="0"/>
                <a:cs typeface="Times New Roman" panose="02020603050405020304" pitchFamily="18" charset="0"/>
              </a:rPr>
              <a:t>, </a:t>
            </a:r>
            <a:r>
              <a:rPr lang="ru-RU" sz="1400" b="1" i="1" dirty="0" err="1">
                <a:latin typeface="Times New Roman" panose="02020603050405020304" pitchFamily="18" charset="0"/>
                <a:cs typeface="Times New Roman" panose="02020603050405020304" pitchFamily="18" charset="0"/>
              </a:rPr>
              <a:t>Nvarchar</a:t>
            </a:r>
            <a:r>
              <a:rPr lang="ru-RU" sz="1400" b="1" i="1" dirty="0">
                <a:latin typeface="Times New Roman" panose="02020603050405020304" pitchFamily="18" charset="0"/>
                <a:cs typeface="Times New Roman" panose="02020603050405020304" pitchFamily="18" charset="0"/>
              </a:rPr>
              <a:t>(n) </a:t>
            </a:r>
            <a:r>
              <a:rPr lang="ru-RU" sz="1400" dirty="0">
                <a:latin typeface="Times New Roman" panose="02020603050405020304" pitchFamily="18" charset="0"/>
                <a:cs typeface="Times New Roman" panose="02020603050405020304" pitchFamily="18" charset="0"/>
              </a:rPr>
              <a:t>— строка переменной длины n (хранятся только значащие символы, максимальная длина — 4000 байт, </a:t>
            </a:r>
            <a:r>
              <a:rPr lang="ru-RU" sz="1400" dirty="0" err="1">
                <a:latin typeface="Times New Roman" panose="02020603050405020304" pitchFamily="18" charset="0"/>
                <a:cs typeface="Times New Roman" panose="02020603050405020304" pitchFamily="18" charset="0"/>
              </a:rPr>
              <a:t>Varchar</a:t>
            </a:r>
            <a:r>
              <a:rPr lang="ru-RU" sz="1400" dirty="0">
                <a:latin typeface="Times New Roman" panose="02020603050405020304" pitchFamily="18" charset="0"/>
                <a:cs typeface="Times New Roman" panose="02020603050405020304" pitchFamily="18" charset="0"/>
              </a:rPr>
              <a:t> и </a:t>
            </a:r>
            <a:r>
              <a:rPr lang="ru-RU" sz="1400" dirty="0" err="1">
                <a:latin typeface="Times New Roman" panose="02020603050405020304" pitchFamily="18" charset="0"/>
                <a:cs typeface="Times New Roman" panose="02020603050405020304" pitchFamily="18" charset="0"/>
              </a:rPr>
              <a:t>Nvarchar</a:t>
            </a:r>
            <a:r>
              <a:rPr lang="ru-RU" sz="1400" dirty="0">
                <a:latin typeface="Times New Roman" panose="02020603050405020304" pitchFamily="18" charset="0"/>
                <a:cs typeface="Times New Roman" panose="02020603050405020304" pitchFamily="18" charset="0"/>
              </a:rPr>
              <a:t> используются в разных кодировках символов: </a:t>
            </a:r>
            <a:r>
              <a:rPr lang="ru-RU" sz="1400" dirty="0" err="1">
                <a:latin typeface="Times New Roman" panose="02020603050405020304" pitchFamily="18" charset="0"/>
                <a:cs typeface="Times New Roman" panose="02020603050405020304" pitchFamily="18" charset="0"/>
              </a:rPr>
              <a:t>Nvarchar</a:t>
            </a:r>
            <a:r>
              <a:rPr lang="ru-RU" sz="1400" dirty="0">
                <a:latin typeface="Times New Roman" panose="02020603050405020304" pitchFamily="18" charset="0"/>
                <a:cs typeface="Times New Roman" panose="02020603050405020304" pitchFamily="18" charset="0"/>
              </a:rPr>
              <a:t> используется, если в среде MS SQL </a:t>
            </a:r>
            <a:r>
              <a:rPr lang="ru-RU" sz="1400" dirty="0" err="1">
                <a:latin typeface="Times New Roman" panose="02020603050405020304" pitchFamily="18" charset="0"/>
                <a:cs typeface="Times New Roman" panose="02020603050405020304" pitchFamily="18" charset="0"/>
              </a:rPr>
              <a:t>Server</a:t>
            </a:r>
            <a:r>
              <a:rPr lang="ru-RU" sz="1400" dirty="0">
                <a:latin typeface="Times New Roman" panose="02020603050405020304" pitchFamily="18" charset="0"/>
                <a:cs typeface="Times New Roman" panose="02020603050405020304" pitchFamily="18" charset="0"/>
              </a:rPr>
              <a:t> используется кодировка символов UNICODE).</a:t>
            </a:r>
            <a:endParaRPr lang="ru-RU" dirty="0"/>
          </a:p>
        </p:txBody>
      </p:sp>
    </p:spTree>
    <p:extLst>
      <p:ext uri="{BB962C8B-B14F-4D97-AF65-F5344CB8AC3E}">
        <p14:creationId xmlns:p14="http://schemas.microsoft.com/office/powerpoint/2010/main" val="6211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EC505-DA43-4DB7-AFC1-F7F9FA901720}"/>
              </a:ext>
            </a:extLst>
          </p:cNvPr>
          <p:cNvSpPr txBox="1"/>
          <p:nvPr/>
        </p:nvSpPr>
        <p:spPr>
          <a:xfrm>
            <a:off x="251520" y="908721"/>
            <a:ext cx="7848872" cy="5632311"/>
          </a:xfrm>
          <a:prstGeom prst="rect">
            <a:avLst/>
          </a:prstGeom>
          <a:noFill/>
        </p:spPr>
        <p:txBody>
          <a:bodyPr wrap="square" rtlCol="0">
            <a:spAutoFit/>
          </a:bodyPr>
          <a:lstStyle/>
          <a:p>
            <a:r>
              <a:rPr lang="ru-RU" b="1" dirty="0">
                <a:latin typeface="Times New Roman" panose="02020603050405020304" pitchFamily="18" charset="0"/>
                <a:cs typeface="Times New Roman" panose="02020603050405020304" pitchFamily="18" charset="0"/>
              </a:rPr>
              <a:t>Числовые типы данных</a:t>
            </a:r>
          </a:p>
          <a:p>
            <a:endParaRPr lang="ru-RU" b="1" dirty="0">
              <a:latin typeface="Times New Roman" panose="02020603050405020304" pitchFamily="18" charset="0"/>
              <a:cs typeface="Times New Roman" panose="02020603050405020304" pitchFamily="18" charset="0"/>
            </a:endParaRPr>
          </a:p>
          <a:p>
            <a:endParaRPr lang="ru-RU" b="1"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BIT</a:t>
            </a:r>
            <a:r>
              <a:rPr lang="ru-RU" dirty="0">
                <a:latin typeface="Times New Roman" panose="02020603050405020304" pitchFamily="18" charset="0"/>
                <a:cs typeface="Times New Roman" panose="02020603050405020304" pitchFamily="18" charset="0"/>
              </a:rPr>
              <a:t>: хранит значение 0 или 1. Фактически является аналогом </a:t>
            </a:r>
            <a:r>
              <a:rPr lang="ru-RU" dirty="0" err="1">
                <a:latin typeface="Times New Roman" panose="02020603050405020304" pitchFamily="18" charset="0"/>
                <a:cs typeface="Times New Roman" panose="02020603050405020304" pitchFamily="18" charset="0"/>
              </a:rPr>
              <a:t>булевого</a:t>
            </a:r>
            <a:r>
              <a:rPr lang="ru-RU" dirty="0">
                <a:latin typeface="Times New Roman" panose="02020603050405020304" pitchFamily="18" charset="0"/>
                <a:cs typeface="Times New Roman" panose="02020603050405020304" pitchFamily="18" charset="0"/>
              </a:rPr>
              <a:t> типа в языках программирования. Занимает 1 байт.</a:t>
            </a:r>
          </a:p>
          <a:p>
            <a:endParaRPr lang="ru-RU"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TINYINT</a:t>
            </a:r>
            <a:r>
              <a:rPr lang="ru-RU" dirty="0">
                <a:latin typeface="Times New Roman" panose="02020603050405020304" pitchFamily="18" charset="0"/>
                <a:cs typeface="Times New Roman" panose="02020603050405020304" pitchFamily="18" charset="0"/>
              </a:rPr>
              <a:t>: хранит числа от 0 до 255. Занимает 1 байт. Хорошо подходит для хранения небольших чисел.</a:t>
            </a:r>
          </a:p>
          <a:p>
            <a:endParaRPr lang="ru-RU"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SMALLINT</a:t>
            </a:r>
            <a:r>
              <a:rPr lang="ru-RU" dirty="0">
                <a:latin typeface="Times New Roman" panose="02020603050405020304" pitchFamily="18" charset="0"/>
                <a:cs typeface="Times New Roman" panose="02020603050405020304" pitchFamily="18" charset="0"/>
              </a:rPr>
              <a:t>: хранит числа от –32 768 до 32 767. Занимает 2 байта</a:t>
            </a:r>
          </a:p>
          <a:p>
            <a:endParaRPr lang="ru-RU"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INT</a:t>
            </a:r>
            <a:r>
              <a:rPr lang="ru-RU" dirty="0">
                <a:latin typeface="Times New Roman" panose="02020603050405020304" pitchFamily="18" charset="0"/>
                <a:cs typeface="Times New Roman" panose="02020603050405020304" pitchFamily="18" charset="0"/>
              </a:rPr>
              <a:t>: хранит числа от –2 147 483 648 до 2 147 483 647. Занимает 4 байта. Наиболее используемый тип для хранения чисел.</a:t>
            </a:r>
          </a:p>
          <a:p>
            <a:endParaRPr lang="ru-RU"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BIGINT</a:t>
            </a:r>
            <a:r>
              <a:rPr lang="ru-RU" dirty="0">
                <a:latin typeface="Times New Roman" panose="02020603050405020304" pitchFamily="18" charset="0"/>
                <a:cs typeface="Times New Roman" panose="02020603050405020304" pitchFamily="18" charset="0"/>
              </a:rPr>
              <a:t>: хранит очень большие числа от -9 223 372 036 854 775 808 до 9 223 372 036 854 775 807, которые занимают в памяти 8 байт.</a:t>
            </a:r>
          </a:p>
          <a:p>
            <a:endParaRPr lang="ru-RU" dirty="0">
              <a:latin typeface="Times New Roman" panose="02020603050405020304" pitchFamily="18" charset="0"/>
              <a:cs typeface="Times New Roman" panose="02020603050405020304" pitchFamily="18" charset="0"/>
            </a:endParaRPr>
          </a:p>
          <a:p>
            <a:r>
              <a:rPr lang="ru-RU" b="1" dirty="0">
                <a:latin typeface="Times New Roman" panose="02020603050405020304" pitchFamily="18" charset="0"/>
                <a:cs typeface="Times New Roman" panose="02020603050405020304" pitchFamily="18" charset="0"/>
              </a:rPr>
              <a:t>DECIMAL</a:t>
            </a:r>
            <a:r>
              <a:rPr lang="ru-RU" dirty="0">
                <a:latin typeface="Times New Roman" panose="02020603050405020304" pitchFamily="18" charset="0"/>
                <a:cs typeface="Times New Roman" panose="02020603050405020304" pitchFamily="18" charset="0"/>
              </a:rPr>
              <a:t>: хранит числа c фиксированной точностью. Занимает от 5 до 17 байт в зависимости от количества чисел после запятой.</a:t>
            </a:r>
          </a:p>
          <a:p>
            <a:endParaRPr lang="ru-RU" dirty="0"/>
          </a:p>
        </p:txBody>
      </p:sp>
    </p:spTree>
    <p:extLst>
      <p:ext uri="{BB962C8B-B14F-4D97-AF65-F5344CB8AC3E}">
        <p14:creationId xmlns:p14="http://schemas.microsoft.com/office/powerpoint/2010/main" val="249537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B3A0C2FD-2620-4D74-96B0-615E304E8751}"/>
              </a:ext>
            </a:extLst>
          </p:cNvPr>
          <p:cNvSpPr>
            <a:spLocks noChangeArrowheads="1"/>
          </p:cNvSpPr>
          <p:nvPr/>
        </p:nvSpPr>
        <p:spPr bwMode="auto">
          <a:xfrm>
            <a:off x="269776" y="544954"/>
            <a:ext cx="8604448" cy="6278642"/>
          </a:xfrm>
          <a:prstGeom prst="rect">
            <a:avLst/>
          </a:prstGeom>
          <a:solidFill>
            <a:srgbClr val="F7F7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Строковые типы данных</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6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CHAR</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хранит строку длиной от 1 до 8 000 символов. На каждый символ выделяет по 1 байту. Не подходит для многих языков, так как хранит символы не в кодировке </a:t>
            </a:r>
            <a:r>
              <a:rPr kumimoji="0" lang="ru-RU" altLang="ru-RU"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Unicode</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Количество символов, которое может хранить столбец, передается в скобках. Например, для столбца с типом CHAR(10) будет выделено 10 байт. И если мы сохраним в столбце строку менее 10 символов, то она будет дополнена пробелами.</a:t>
            </a: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VARCHAR</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хранит строку. На каждый символ выделяется 1 байт. Можно указать конкретную длину для столбца - от 1 до 8 000 символов, например, VARCHAR(10). Если строка должна иметь больше 8000 символов, то задается размер MAX, а на хранение строки может выделяться до 2 Гб: VARCHAR(MAX).</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Не подходит для многих языков, так как хранит символы не в кодировке </a:t>
            </a:r>
            <a:r>
              <a:rPr kumimoji="0" lang="ru-RU" altLang="ru-RU"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Unicode</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В отличие от типа CHAR если в столбец с типом VARCHAR(10) будет сохранена строка в 5 символов, то в столбце будет сохранено именно пять символов.</a:t>
            </a: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NCHAR</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хранит строку в кодировке </a:t>
            </a:r>
            <a:r>
              <a:rPr kumimoji="0" lang="ru-RU" altLang="ru-RU"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Unicode</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длиной от 1 до 4 000 символов. На каждый символ выделяется 2 байта. Например, NCHAR(15)</a:t>
            </a:r>
          </a:p>
          <a:p>
            <a:pPr marL="342900" marR="0" lvl="0" indent="-342900" algn="l" defTabSz="914400" rtl="0" eaLnBrk="0" fontAlgn="base" latinLnBrk="0" hangingPunct="0">
              <a:lnSpc>
                <a:spcPct val="100000"/>
              </a:lnSpc>
              <a:spcBef>
                <a:spcPct val="20000"/>
              </a:spcBef>
              <a:spcAft>
                <a:spcPct val="0"/>
              </a:spcAft>
              <a:buClrTx/>
              <a:buSzTx/>
              <a:buFontTx/>
              <a:buChar char="•"/>
              <a:tabLst/>
            </a:pPr>
            <a:endPar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tabLst/>
            </a:pPr>
            <a:r>
              <a:rPr kumimoji="0" lang="ru-RU" altLang="ru-RU"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NVARCHAR</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хранит строку в кодировке </a:t>
            </a:r>
            <a:r>
              <a:rPr kumimoji="0" lang="ru-RU" altLang="ru-RU" sz="1600" b="0"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Unicode</a:t>
            </a:r>
            <a:r>
              <a:rPr kumimoji="0" lang="ru-RU" altLang="ru-RU"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На каждый символ выделяется 2 байта. Можно задать конкретный размер от 1 до 4 000 символов: . Если строка должна иметь больше 4000 символов, то задается размер MAX, а на хранение строки может выделяться до 2 Гб.</a:t>
            </a:r>
          </a:p>
          <a:p>
            <a:pPr marL="342900" marR="0" lvl="0" indent="-34290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6235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683568" y="548680"/>
            <a:ext cx="7920880" cy="923330"/>
          </a:xfrm>
          <a:prstGeom prst="rect">
            <a:avLst/>
          </a:prstGeom>
        </p:spPr>
        <p:txBody>
          <a:bodyPr wrap="square">
            <a:spAutoFit/>
          </a:bodyPr>
          <a:lstStyle/>
          <a:p>
            <a:r>
              <a:rPr lang="ru-RU" dirty="0">
                <a:latin typeface="Times New Roman" pitchFamily="18" charset="0"/>
                <a:cs typeface="Times New Roman" pitchFamily="18" charset="0"/>
              </a:rPr>
              <a:t>Создадим  таблицу  </a:t>
            </a:r>
            <a:r>
              <a:rPr lang="ru-RU" b="1" dirty="0">
                <a:latin typeface="Times New Roman" pitchFamily="18" charset="0"/>
                <a:cs typeface="Times New Roman" pitchFamily="18" charset="0"/>
              </a:rPr>
              <a:t>«студенты»</a:t>
            </a:r>
            <a:r>
              <a:rPr lang="ru-RU" dirty="0">
                <a:latin typeface="Times New Roman" pitchFamily="18" charset="0"/>
                <a:cs typeface="Times New Roman" pitchFamily="18" charset="0"/>
              </a:rPr>
              <a:t>. Для  этого  щёлкните  ПКМ  по  папке «</a:t>
            </a:r>
            <a:r>
              <a:rPr lang="ru-RU" b="1" dirty="0">
                <a:latin typeface="Times New Roman" pitchFamily="18" charset="0"/>
                <a:cs typeface="Times New Roman" pitchFamily="18" charset="0"/>
              </a:rPr>
              <a:t>Таблицы</a:t>
            </a:r>
            <a:r>
              <a:rPr lang="ru-RU" dirty="0">
                <a:latin typeface="Times New Roman" pitchFamily="18" charset="0"/>
                <a:cs typeface="Times New Roman" pitchFamily="18" charset="0"/>
              </a:rPr>
              <a:t>» и  в  появившемся   меню  выберите  пункт «</a:t>
            </a:r>
            <a:r>
              <a:rPr lang="ru-RU" b="1" dirty="0">
                <a:latin typeface="Times New Roman" pitchFamily="18" charset="0"/>
                <a:cs typeface="Times New Roman" pitchFamily="18" charset="0"/>
              </a:rPr>
              <a:t>Создать таблицу</a:t>
            </a:r>
            <a:r>
              <a:rPr lang="ru-RU" dirty="0">
                <a:latin typeface="Times New Roman" pitchFamily="18" charset="0"/>
                <a:cs typeface="Times New Roman" pitchFamily="18" charset="0"/>
              </a:rPr>
              <a:t>».  Появиться  окно  создания   новой  таблицы </a:t>
            </a:r>
          </a:p>
        </p:txBody>
      </p:sp>
      <p:pic>
        <p:nvPicPr>
          <p:cNvPr id="4" name="Рисунок 3">
            <a:extLst>
              <a:ext uri="{FF2B5EF4-FFF2-40B4-BE49-F238E27FC236}">
                <a16:creationId xmlns:a16="http://schemas.microsoft.com/office/drawing/2014/main" id="{1595E45F-80F8-43E3-A777-9A1E1C49212F}"/>
              </a:ext>
            </a:extLst>
          </p:cNvPr>
          <p:cNvPicPr/>
          <p:nvPr/>
        </p:nvPicPr>
        <p:blipFill rotWithShape="1">
          <a:blip r:embed="rId2" cstate="print">
            <a:extLst>
              <a:ext uri="{28A0092B-C50C-407E-A947-70E740481C1C}">
                <a14:useLocalDpi xmlns:a14="http://schemas.microsoft.com/office/drawing/2010/main" val="0"/>
              </a:ext>
            </a:extLst>
          </a:blip>
          <a:srcRect t="14538" b="9136"/>
          <a:stretch/>
        </p:blipFill>
        <p:spPr bwMode="auto">
          <a:xfrm>
            <a:off x="1043608" y="1542483"/>
            <a:ext cx="6264696" cy="3312368"/>
          </a:xfrm>
          <a:prstGeom prst="rect">
            <a:avLst/>
          </a:prstGeom>
          <a:noFill/>
          <a:ln>
            <a:noFill/>
          </a:ln>
        </p:spPr>
      </p:pic>
      <p:sp>
        <p:nvSpPr>
          <p:cNvPr id="5" name="Овал 4">
            <a:extLst>
              <a:ext uri="{FF2B5EF4-FFF2-40B4-BE49-F238E27FC236}">
                <a16:creationId xmlns:a16="http://schemas.microsoft.com/office/drawing/2014/main" id="{A3A9472A-BB4B-4BAD-B4FB-617D03D0062F}"/>
              </a:ext>
            </a:extLst>
          </p:cNvPr>
          <p:cNvSpPr/>
          <p:nvPr/>
        </p:nvSpPr>
        <p:spPr>
          <a:xfrm>
            <a:off x="1043608" y="2492896"/>
            <a:ext cx="1944216" cy="178714"/>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endParaRPr lang="ru-R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683568" y="476672"/>
            <a:ext cx="7920880" cy="830997"/>
          </a:xfrm>
          <a:prstGeom prst="rect">
            <a:avLst/>
          </a:prstGeom>
        </p:spPr>
        <p:txBody>
          <a:bodyPr wrap="square">
            <a:spAutoFit/>
          </a:bodyPr>
          <a:lstStyle/>
          <a:p>
            <a:r>
              <a:rPr lang="ru-RU" sz="1600" dirty="0">
                <a:latin typeface="Times New Roman" pitchFamily="18" charset="0"/>
                <a:cs typeface="Times New Roman" pitchFamily="18" charset="0"/>
              </a:rPr>
              <a:t>Перейдём  к  созданию  полей  и  настройке  их  свойств.  В  таблице  определения  полей задайте  значения   столбцов  «Имя столбца», «Тип данных» и «Разрешить значения NULL»,  как  показано   на  рисунке ниже </a:t>
            </a:r>
          </a:p>
        </p:txBody>
      </p:sp>
      <p:sp>
        <p:nvSpPr>
          <p:cNvPr id="24579" name="Rectangle 3"/>
          <p:cNvSpPr>
            <a:spLocks noChangeArrowheads="1"/>
          </p:cNvSpPr>
          <p:nvPr/>
        </p:nvSpPr>
        <p:spPr bwMode="auto">
          <a:xfrm>
            <a:off x="3275856" y="1340768"/>
            <a:ext cx="5490358" cy="449121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ru-RU" sz="1200" b="1" dirty="0">
                <a:latin typeface="Times New Roman" pitchFamily="18" charset="0"/>
                <a:ea typeface="Calibri" pitchFamily="34" charset="0"/>
                <a:cs typeface="Times New Roman" pitchFamily="18" charset="0"/>
              </a:rPr>
              <a:t>Т</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аблица « студенты»  имеет шесть  полей</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lvl="0" eaLnBrk="0" fontAlgn="base" hangingPunct="0">
              <a:spcBef>
                <a:spcPct val="0"/>
              </a:spcBef>
              <a:spcAft>
                <a:spcPct val="0"/>
              </a:spcAf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числовое  поле  для связи с  таблицей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оценки</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1"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a:t>
            </a:r>
            <a:r>
              <a:rPr kumimoji="0" lang="en-US" sz="1200" b="1" i="1"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b</a:t>
            </a:r>
            <a:r>
              <a:rPr lang="ru-RU" sz="1200" b="1" i="1" dirty="0" err="1">
                <a:latin typeface="Times New Roman" panose="02020603050405020304" pitchFamily="18" charset="0"/>
                <a:cs typeface="Times New Roman" panose="02020603050405020304" pitchFamily="18" charset="0"/>
              </a:rPr>
              <a:t>igint</a:t>
            </a:r>
            <a:r>
              <a:rPr lang="ru-RU" sz="1200" b="1" i="1" dirty="0">
                <a:latin typeface="Times New Roman" panose="02020603050405020304" pitchFamily="18" charset="0"/>
                <a:cs typeface="Times New Roman" panose="02020603050405020304" pitchFamily="18" charset="0"/>
              </a:rPr>
              <a:t>»</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lvl="0" eaLnBrk="0" fontAlgn="base" hangingPunct="0">
              <a:spcBef>
                <a:spcPct val="0"/>
              </a:spcBef>
              <a:spcAft>
                <a:spcPct val="0"/>
              </a:spcAf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фио, группа, адрес</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текстовое  поле,  предназначенное  для хранения  строк,  имеющих длину  не  более 50  символов «</a:t>
            </a:r>
            <a:r>
              <a:rPr lang="ru-RU" sz="1200" b="1" i="1" dirty="0" err="1">
                <a:latin typeface="Times New Roman" panose="02020603050405020304" pitchFamily="18" charset="0"/>
                <a:cs typeface="Times New Roman" panose="02020603050405020304" pitchFamily="18" charset="0"/>
              </a:rPr>
              <a:t>Varchar</a:t>
            </a:r>
            <a:r>
              <a:rPr lang="ru-RU" sz="1200" b="1" i="1" dirty="0">
                <a:latin typeface="Times New Roman" panose="02020603050405020304" pitchFamily="18" charset="0"/>
                <a:cs typeface="Times New Roman" panose="02020603050405020304" pitchFamily="18" charset="0"/>
              </a:rPr>
              <a:t>(n)»</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lang="ru-RU" sz="1200" dirty="0">
                <a:latin typeface="Times New Roman" pitchFamily="18" charset="0"/>
                <a:ea typeface="Calibri" pitchFamily="34" charset="0"/>
                <a:cs typeface="Times New Roman" pitchFamily="18" charset="0"/>
              </a:rPr>
              <a:t> </a:t>
            </a:r>
          </a:p>
          <a:p>
            <a:pPr lvl="0" eaLnBrk="0" fontAlgn="base" hangingPunct="0">
              <a:spcBef>
                <a:spcPct val="0"/>
              </a:spcBef>
              <a:spcAft>
                <a:spcPct val="0"/>
              </a:spcAft>
            </a:pPr>
            <a:r>
              <a:rPr lang="ru-RU" sz="1200" dirty="0">
                <a:latin typeface="Times New Roman" pitchFamily="18" charset="0"/>
                <a:ea typeface="Calibri" pitchFamily="34" charset="0"/>
                <a:cs typeface="Times New Roman" pitchFamily="18" charset="0"/>
              </a:rPr>
              <a:t>•   </a:t>
            </a:r>
            <a:r>
              <a:rPr lang="ru-RU" sz="1200" b="1" dirty="0">
                <a:latin typeface="Times New Roman" pitchFamily="18" charset="0"/>
                <a:ea typeface="Calibri" pitchFamily="34" charset="0"/>
                <a:cs typeface="Times New Roman" pitchFamily="18" charset="0"/>
              </a:rPr>
              <a:t>дата рождения </a:t>
            </a:r>
            <a:r>
              <a:rPr lang="ru-RU" sz="1200" dirty="0">
                <a:latin typeface="Times New Roman" pitchFamily="18" charset="0"/>
                <a:ea typeface="Calibri" pitchFamily="34" charset="0"/>
                <a:cs typeface="Times New Roman" pitchFamily="18" charset="0"/>
              </a:rPr>
              <a:t>- </a:t>
            </a:r>
            <a:r>
              <a:rPr lang="ru-RU" sz="1200" dirty="0">
                <a:latin typeface="Times New Roman" panose="02020603050405020304" pitchFamily="18" charset="0"/>
                <a:cs typeface="Times New Roman" panose="02020603050405020304" pitchFamily="18" charset="0"/>
              </a:rPr>
              <a:t>предназначены  для  хранения  дат.  Поэтому  они  имеют  тип  данных </a:t>
            </a:r>
            <a:r>
              <a:rPr lang="ru-RU" sz="1200" b="1" dirty="0">
                <a:latin typeface="Times New Roman" panose="02020603050405020304" pitchFamily="18" charset="0"/>
                <a:cs typeface="Times New Roman" panose="02020603050405020304" pitchFamily="18" charset="0"/>
              </a:rPr>
              <a:t>«</a:t>
            </a:r>
            <a:r>
              <a:rPr lang="ru-RU" sz="1200" b="1" i="1" dirty="0" err="1">
                <a:latin typeface="Times New Roman" panose="02020603050405020304" pitchFamily="18" charset="0"/>
                <a:cs typeface="Times New Roman" panose="02020603050405020304" pitchFamily="18" charset="0"/>
              </a:rPr>
              <a:t>date</a:t>
            </a:r>
            <a:r>
              <a:rPr lang="en-US" sz="1200" b="1" i="1" dirty="0">
                <a:latin typeface="Times New Roman" panose="02020603050405020304" pitchFamily="18" charset="0"/>
                <a:cs typeface="Times New Roman" panose="02020603050405020304" pitchFamily="18" charset="0"/>
              </a:rPr>
              <a:t>time</a:t>
            </a:r>
            <a:r>
              <a:rPr lang="ru-RU" sz="1200" b="1" dirty="0">
                <a:latin typeface="Times New Roman" panose="02020603050405020304" pitchFamily="18" charset="0"/>
                <a:cs typeface="Times New Roman" panose="02020603050405020304" pitchFamily="18" charset="0"/>
              </a:rPr>
              <a:t>»</a:t>
            </a:r>
            <a:endParaRPr kumimoji="0" lang="ru-RU" sz="1200" b="1" i="0" u="none" strike="noStrike" cap="none" normalizeH="0" baseline="0" dirty="0">
              <a:ln>
                <a:noFill/>
              </a:ln>
              <a:solidFill>
                <a:schemeClr val="tx1"/>
              </a:solidFill>
              <a:effectLst/>
              <a:latin typeface="Times New Roman" panose="02020603050405020304" pitchFamily="18" charset="0"/>
              <a:cs typeface="Times New Roman" pitchFamily="18" charset="0"/>
            </a:endParaRPr>
          </a:p>
          <a:p>
            <a:pPr lvl="0" eaLnBrk="0" fontAlgn="base" hangingPunct="0">
              <a:spcBef>
                <a:spcPct val="0"/>
              </a:spcBef>
              <a:spcAft>
                <a:spcPct val="0"/>
              </a:spcAf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lang="ru-RU" sz="1200" b="1" dirty="0">
                <a:latin typeface="Times New Roman" pitchFamily="18" charset="0"/>
                <a:ea typeface="Calibri" pitchFamily="34" charset="0"/>
                <a:cs typeface="Times New Roman" pitchFamily="18" charset="0"/>
              </a:rPr>
              <a:t>стипендия</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0"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д</a:t>
            </a:r>
            <a:r>
              <a:rPr lang="ru-RU" sz="1200" b="1" dirty="0">
                <a:latin typeface="Times New Roman" panose="02020603050405020304" pitchFamily="18" charset="0"/>
                <a:cs typeface="Times New Roman" panose="02020603050405020304" pitchFamily="18" charset="0"/>
              </a:rPr>
              <a:t>енежный тип данных «</a:t>
            </a:r>
            <a:r>
              <a:rPr lang="en-US" sz="1200" b="1" i="1" dirty="0">
                <a:latin typeface="Times New Roman" panose="02020603050405020304" pitchFamily="18" charset="0"/>
                <a:cs typeface="Times New Roman" panose="02020603050405020304" pitchFamily="18" charset="0"/>
              </a:rPr>
              <a:t>m</a:t>
            </a:r>
            <a:r>
              <a:rPr lang="ru-RU" sz="1200" b="1" i="1" dirty="0" err="1">
                <a:latin typeface="Times New Roman" panose="02020603050405020304" pitchFamily="18" charset="0"/>
                <a:cs typeface="Times New Roman" panose="02020603050405020304" pitchFamily="18" charset="0"/>
              </a:rPr>
              <a:t>oney</a:t>
            </a:r>
            <a:r>
              <a:rPr lang="ru-RU" sz="1200" b="1" i="1" dirty="0">
                <a:latin typeface="Times New Roman" panose="02020603050405020304" pitchFamily="18" charset="0"/>
                <a:cs typeface="Times New Roman" panose="02020603050405020304" pitchFamily="18" charset="0"/>
              </a:rPr>
              <a:t>»</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Замечание:</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Так  как,  поле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будет  являться   первичным   полем   связи  в  запросе,  связывающем   таблицы  « </a:t>
            </a:r>
            <a:r>
              <a:rPr lang="ru-RU" sz="1200" b="1" dirty="0">
                <a:latin typeface="Times New Roman" pitchFamily="18" charset="0"/>
                <a:ea typeface="Calibri" pitchFamily="34" charset="0"/>
                <a:cs typeface="Times New Roman" pitchFamily="18" charset="0"/>
              </a:rPr>
              <a:t>с</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туденты</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и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оценки</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То  мы  должны  сделать его  числовым  счётчиком.  То  есть   данное   поле   должно  автоматически  заполняться числовыми  значениями.  Более того,  оно  должно быть ключевым.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Сделаем  поле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счётчиком .  Для  этого  выделите  поле ,  просто  щёлкнув  по  нему  мышкой  в   таблице  определения  полей.  В  таблице  свойств  поля  отобразятся  свойства   поля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Разверните   группу   свойств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Спецификация идентификатора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Свойство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Идентификатор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установите   в  значение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Да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Задайте  свойства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Начальное значение идентификатора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и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Шаг приращения идентификатора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равными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Эти  настройки  показывают,  что  значение   поля  «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у   первой  записи  в таблице будет равным 1, у  второй  – 2, у  третьей 3 и </a:t>
            </a:r>
            <a:r>
              <a:rPr kumimoji="0" lang="ru-RU" sz="12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т.д</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Теперь   сделаем  поле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ключевым  полем.  Выделите  поле,  а затем  на   панели   инструментов   нажмите   кнопку  с   изображением  ключа.  В  таблице определения  полей,  рядом   с   полем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появиться  изображение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ключа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говорящее  о том,  что поле  ключевое.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5" name="Рисунок 4">
            <a:extLst>
              <a:ext uri="{FF2B5EF4-FFF2-40B4-BE49-F238E27FC236}">
                <a16:creationId xmlns:a16="http://schemas.microsoft.com/office/drawing/2014/main" id="{2DE83EC8-7339-45A0-B298-6CF82B364AD8}"/>
              </a:ext>
            </a:extLst>
          </p:cNvPr>
          <p:cNvPicPr/>
          <p:nvPr/>
        </p:nvPicPr>
        <p:blipFill rotWithShape="1">
          <a:blip r:embed="rId2" cstate="print">
            <a:extLst>
              <a:ext uri="{28A0092B-C50C-407E-A947-70E740481C1C}">
                <a14:useLocalDpi xmlns:a14="http://schemas.microsoft.com/office/drawing/2010/main" val="0"/>
              </a:ext>
            </a:extLst>
          </a:blip>
          <a:srcRect l="29885" t="14538" r="22989" b="9136"/>
          <a:stretch/>
        </p:blipFill>
        <p:spPr bwMode="auto">
          <a:xfrm>
            <a:off x="179512" y="1484784"/>
            <a:ext cx="2952328" cy="331236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9552" y="332656"/>
            <a:ext cx="8136904" cy="523220"/>
          </a:xfrm>
          <a:prstGeom prst="rect">
            <a:avLst/>
          </a:prstGeom>
        </p:spPr>
        <p:txBody>
          <a:bodyPr wrap="square">
            <a:spAutoFit/>
          </a:bodyPr>
          <a:lstStyle/>
          <a:p>
            <a:r>
              <a:rPr lang="ru-RU" sz="1400" dirty="0">
                <a:latin typeface="Times New Roman" pitchFamily="18" charset="0"/>
                <a:cs typeface="Times New Roman" pitchFamily="18" charset="0"/>
              </a:rPr>
              <a:t>Закройте   окно  создания   новой   таблицы,  нажав   кнопку  закрытия     в  верхнем   правом  углу  окна,  над  таблицей   определения  полей.  Появиться  окно  с   запросом   о  сохранении   таблицы </a:t>
            </a:r>
          </a:p>
        </p:txBody>
      </p:sp>
      <p:pic>
        <p:nvPicPr>
          <p:cNvPr id="25602" name="Picture 2"/>
          <p:cNvPicPr>
            <a:picLocks noChangeAspect="1" noChangeArrowheads="1"/>
          </p:cNvPicPr>
          <p:nvPr/>
        </p:nvPicPr>
        <p:blipFill>
          <a:blip r:embed="rId2" cstate="print"/>
          <a:srcRect/>
          <a:stretch>
            <a:fillRect/>
          </a:stretch>
        </p:blipFill>
        <p:spPr bwMode="auto">
          <a:xfrm>
            <a:off x="0" y="1124744"/>
            <a:ext cx="4352925" cy="3105150"/>
          </a:xfrm>
          <a:prstGeom prst="rect">
            <a:avLst/>
          </a:prstGeom>
          <a:noFill/>
          <a:ln w="9525">
            <a:noFill/>
            <a:miter lim="800000"/>
            <a:headEnd/>
            <a:tailEnd/>
          </a:ln>
        </p:spPr>
      </p:pic>
      <p:sp>
        <p:nvSpPr>
          <p:cNvPr id="4" name="Прямоугольник 3"/>
          <p:cNvSpPr/>
          <p:nvPr/>
        </p:nvSpPr>
        <p:spPr>
          <a:xfrm>
            <a:off x="4355976" y="1124744"/>
            <a:ext cx="4572000" cy="738664"/>
          </a:xfrm>
          <a:prstGeom prst="rect">
            <a:avLst/>
          </a:prstGeom>
        </p:spPr>
        <p:txBody>
          <a:bodyPr>
            <a:spAutoFit/>
          </a:bodyPr>
          <a:lstStyle/>
          <a:p>
            <a:r>
              <a:rPr lang="ru-RU" sz="1400" dirty="0">
                <a:latin typeface="Times New Roman" pitchFamily="18" charset="0"/>
                <a:cs typeface="Times New Roman" pitchFamily="18" charset="0"/>
              </a:rPr>
              <a:t>В  этом   окне   необходимо  нажать  «Да».  Появиться  окно «Выбор имени»,  предназначенное для определения имени  новой  таблицы, сохранить как «</a:t>
            </a:r>
            <a:r>
              <a:rPr lang="ru-RU" sz="1400" b="1" dirty="0">
                <a:latin typeface="Times New Roman" pitchFamily="18" charset="0"/>
                <a:cs typeface="Times New Roman" pitchFamily="18" charset="0"/>
              </a:rPr>
              <a:t>студенты</a:t>
            </a:r>
            <a:r>
              <a:rPr lang="ru-RU" sz="1400" dirty="0">
                <a:latin typeface="Times New Roman" pitchFamily="18" charset="0"/>
                <a:cs typeface="Times New Roman"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AA4E8AF6-D964-4B39-AACA-CA0CB9AFD378}"/>
              </a:ext>
            </a:extLst>
          </p:cNvPr>
          <p:cNvSpPr/>
          <p:nvPr/>
        </p:nvSpPr>
        <p:spPr>
          <a:xfrm>
            <a:off x="683568" y="548680"/>
            <a:ext cx="7920880" cy="923330"/>
          </a:xfrm>
          <a:prstGeom prst="rect">
            <a:avLst/>
          </a:prstGeom>
        </p:spPr>
        <p:txBody>
          <a:bodyPr wrap="square">
            <a:spAutoFit/>
          </a:bodyPr>
          <a:lstStyle/>
          <a:p>
            <a:r>
              <a:rPr lang="ru-RU" dirty="0">
                <a:latin typeface="Times New Roman" pitchFamily="18" charset="0"/>
                <a:cs typeface="Times New Roman" pitchFamily="18" charset="0"/>
              </a:rPr>
              <a:t>Создадим  таблицу  </a:t>
            </a:r>
            <a:r>
              <a:rPr lang="ru-RU" b="1" dirty="0">
                <a:latin typeface="Times New Roman" pitchFamily="18" charset="0"/>
                <a:cs typeface="Times New Roman" pitchFamily="18" charset="0"/>
              </a:rPr>
              <a:t>«оценки»</a:t>
            </a:r>
            <a:r>
              <a:rPr lang="ru-RU" dirty="0">
                <a:latin typeface="Times New Roman" pitchFamily="18" charset="0"/>
                <a:cs typeface="Times New Roman" pitchFamily="18" charset="0"/>
              </a:rPr>
              <a:t>. Для  этого  щёлкните  ПКМ  по  папке «Таблицы» и  в  появившемся   меню  выберите  пункт «Создать таблицу».  Появиться  окно  создания   новой  таблицы </a:t>
            </a:r>
          </a:p>
        </p:txBody>
      </p:sp>
      <p:pic>
        <p:nvPicPr>
          <p:cNvPr id="3" name="Рисунок 2"/>
          <p:cNvPicPr/>
          <p:nvPr/>
        </p:nvPicPr>
        <p:blipFill>
          <a:blip r:embed="rId2" cstate="print"/>
          <a:srcRect l="30021" t="11837" b="8202"/>
          <a:stretch>
            <a:fillRect/>
          </a:stretch>
        </p:blipFill>
        <p:spPr bwMode="auto">
          <a:xfrm>
            <a:off x="179512" y="1772816"/>
            <a:ext cx="3692674" cy="3168352"/>
          </a:xfrm>
          <a:prstGeom prst="rect">
            <a:avLst/>
          </a:prstGeom>
          <a:noFill/>
          <a:ln w="9525">
            <a:noFill/>
            <a:miter lim="800000"/>
            <a:headEnd/>
            <a:tailEnd/>
          </a:ln>
        </p:spPr>
      </p:pic>
      <p:sp>
        <p:nvSpPr>
          <p:cNvPr id="4" name="Rectangle 3"/>
          <p:cNvSpPr>
            <a:spLocks noChangeArrowheads="1"/>
          </p:cNvSpPr>
          <p:nvPr/>
        </p:nvSpPr>
        <p:spPr bwMode="auto">
          <a:xfrm>
            <a:off x="3995936" y="1741458"/>
            <a:ext cx="4698270" cy="470898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ru-RU" sz="1200" b="1" dirty="0">
                <a:latin typeface="Times New Roman" pitchFamily="18" charset="0"/>
                <a:ea typeface="Calibri" pitchFamily="34" charset="0"/>
                <a:cs typeface="Times New Roman" pitchFamily="18" charset="0"/>
              </a:rPr>
              <a:t>Т</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аблица « студенты»  имеет </a:t>
            </a:r>
            <a:r>
              <a:rPr lang="ru-RU" sz="1200" b="1" dirty="0">
                <a:latin typeface="Times New Roman" pitchFamily="18" charset="0"/>
                <a:ea typeface="Calibri" pitchFamily="34" charset="0"/>
                <a:cs typeface="Times New Roman" pitchFamily="18" charset="0"/>
              </a:rPr>
              <a:t>четыре</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поля</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lvl="0" eaLnBrk="0" fontAlgn="base" hangingPunct="0">
              <a:spcBef>
                <a:spcPct val="0"/>
              </a:spcBef>
              <a:spcAft>
                <a:spcPct val="0"/>
              </a:spcAf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числовое  поле  для связи с  таблицей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«студенты» </a:t>
            </a:r>
            <a:r>
              <a:rPr kumimoji="0" lang="ru-RU" sz="1200" b="1" i="1"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a:t>
            </a:r>
            <a:r>
              <a:rPr kumimoji="0" lang="en-US" sz="1200" b="1" i="1" u="none" strike="noStrike" cap="none" normalizeH="0" baseline="0" dirty="0">
                <a:ln>
                  <a:noFill/>
                </a:ln>
                <a:solidFill>
                  <a:schemeClr val="tx1"/>
                </a:solidFill>
                <a:effectLst/>
                <a:latin typeface="Times New Roman" panose="02020603050405020304" pitchFamily="18" charset="0"/>
                <a:ea typeface="Calibri" pitchFamily="34" charset="0"/>
                <a:cs typeface="Times New Roman" panose="02020603050405020304" pitchFamily="18" charset="0"/>
              </a:rPr>
              <a:t>b</a:t>
            </a:r>
            <a:r>
              <a:rPr lang="ru-RU" sz="1200" b="1" i="1" dirty="0" err="1">
                <a:latin typeface="Times New Roman" panose="02020603050405020304" pitchFamily="18" charset="0"/>
                <a:cs typeface="Times New Roman" panose="02020603050405020304" pitchFamily="18" charset="0"/>
              </a:rPr>
              <a:t>igint</a:t>
            </a:r>
            <a:r>
              <a:rPr lang="ru-RU" sz="1200" b="1" i="1" dirty="0">
                <a:latin typeface="Times New Roman" panose="02020603050405020304" pitchFamily="18" charset="0"/>
                <a:cs typeface="Times New Roman" panose="02020603050405020304" pitchFamily="18" charset="0"/>
              </a:rPr>
              <a:t>»</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lvl="0" eaLnBrk="0" fontAlgn="base" hangingPunct="0">
              <a:spcBef>
                <a:spcPct val="0"/>
              </a:spcBef>
              <a:spcAft>
                <a:spcPct val="0"/>
              </a:spcAf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математика, физика, биология</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lang="ru-RU" sz="1200" dirty="0">
                <a:latin typeface="Times New Roman" panose="02020603050405020304" pitchFamily="18" charset="0"/>
                <a:cs typeface="Times New Roman" panose="02020603050405020304" pitchFamily="18" charset="0"/>
              </a:rPr>
              <a:t>целочисленные типы данных — типы данных «</a:t>
            </a:r>
            <a:r>
              <a:rPr lang="ru-RU" sz="1200" b="1" i="1" dirty="0" err="1">
                <a:latin typeface="Times New Roman" panose="02020603050405020304" pitchFamily="18" charset="0"/>
                <a:cs typeface="Times New Roman" panose="02020603050405020304" pitchFamily="18" charset="0"/>
              </a:rPr>
              <a:t>Int</a:t>
            </a:r>
            <a:r>
              <a:rPr lang="ru-RU" sz="1200" b="1" i="1" dirty="0">
                <a:latin typeface="Times New Roman" panose="02020603050405020304" pitchFamily="18" charset="0"/>
                <a:cs typeface="Times New Roman" panose="02020603050405020304" pitchFamily="18" charset="0"/>
              </a:rPr>
              <a:t>»  </a:t>
            </a:r>
            <a:r>
              <a:rPr lang="ru-RU" sz="1200" dirty="0">
                <a:latin typeface="Times New Roman" panose="02020603050405020304" pitchFamily="18" charset="0"/>
                <a:cs typeface="Times New Roman" panose="02020603050405020304" pitchFamily="18" charset="0"/>
              </a:rPr>
              <a:t>для хранения целых чисел </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lang="ru-RU" sz="1200" dirty="0">
                <a:latin typeface="Times New Roman" pitchFamily="18" charset="0"/>
                <a:ea typeface="Calibri" pitchFamily="34" charset="0"/>
                <a:cs typeface="Times New Roman" pitchFamily="18" charset="0"/>
              </a:rPr>
              <a:t> </a:t>
            </a:r>
          </a:p>
          <a:p>
            <a:pPr lvl="0" eaLnBrk="0" fontAlgn="base" hangingPunct="0">
              <a:spcBef>
                <a:spcPct val="0"/>
              </a:spcBef>
              <a:spcAft>
                <a:spcPct val="0"/>
              </a:spcAft>
            </a:pPr>
            <a:endParaRPr kumimoji="0" lang="ru-RU" sz="1200" b="1" i="1" u="none"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lvl="0" eaLnBrk="0" fontAlgn="base" hangingPunct="0">
              <a:spcBef>
                <a:spcPct val="0"/>
              </a:spcBef>
              <a:spcAft>
                <a:spcPct val="0"/>
              </a:spcAft>
            </a:pPr>
            <a:r>
              <a:rPr kumimoji="0" lang="ru-RU" sz="1200" b="1" i="1"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Замечание:</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Так  как,  поле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будет  являться   первичным   полем   связи  в  запросе,  связывающем   таблицы  « </a:t>
            </a:r>
            <a:r>
              <a:rPr lang="ru-RU" sz="1200" b="1" dirty="0">
                <a:latin typeface="Times New Roman" pitchFamily="18" charset="0"/>
                <a:ea typeface="Calibri" pitchFamily="34" charset="0"/>
                <a:cs typeface="Times New Roman" pitchFamily="18" charset="0"/>
              </a:rPr>
              <a:t>с</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туденты</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и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оценки</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То  мы  должны  сделать его  числовым  счётчиком.  То  есть   данное   поле   должно  автоматически  заполняться числовыми  значениями.  Более того,  оно  должно быть ключевым.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Сделаем  поле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счётчиком .  Для  этого  выделите  поле ,  просто  щёлкнув  по  нему  мышкой  в   таблице  определения  полей.  В  таблице  свойств  поля  отобразятся  свойства   поля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Разверните   группу   свойств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Спецификация идентификатора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Свойство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Идентификатор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установите   в  значение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Да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Задайте  свойства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Начальное значение идентификатора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и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Шаг приращения идентификатора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равными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Эти  настройки  показывают,  что  значение   поля  « Код   специальности»  у   первой  записи  в таблице будет равным 1, у  второй  – 2, у  третьей 3 и </a:t>
            </a:r>
            <a:r>
              <a:rPr kumimoji="0" lang="ru-RU" sz="12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т.д</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Теперь   сделаем  поле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ключевым  полем.  Выделите  поле,  а затем  на   панели   инструментов   нажмите   кнопку  с   изображением  ключа.  В  таблице определения  полей,  рядом   с   полем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«номер</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появиться  изображение  </a:t>
            </a:r>
            <a:r>
              <a:rPr kumimoji="0" lang="ru-RU" sz="12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ключа</a:t>
            </a:r>
            <a:r>
              <a:rPr kumimoji="0" lang="ru-RU" sz="12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говорящее  о том,  что поле  ключевое. </a:t>
            </a:r>
            <a:endParaRPr kumimoji="0" lang="ru-RU" sz="1200" b="0" i="0" u="none" strike="noStrike" cap="none" normalizeH="0" baseline="0" dirty="0">
              <a:ln>
                <a:noFill/>
              </a:ln>
              <a:solidFill>
                <a:schemeClr val="tx1"/>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1835119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EDB13151-99DB-4C2F-A6F4-5033994CE3CF}"/>
              </a:ext>
            </a:extLst>
          </p:cNvPr>
          <p:cNvSpPr/>
          <p:nvPr/>
        </p:nvSpPr>
        <p:spPr>
          <a:xfrm>
            <a:off x="0" y="764704"/>
            <a:ext cx="8856984" cy="1330108"/>
          </a:xfrm>
          <a:prstGeom prst="rect">
            <a:avLst/>
          </a:prstGeom>
        </p:spPr>
        <p:txBody>
          <a:bodyPr wrap="square">
            <a:spAutoFit/>
          </a:bodyPr>
          <a:lstStyle/>
          <a:p>
            <a:pPr algn="ctr">
              <a:lnSpc>
                <a:spcPct val="115000"/>
              </a:lnSpc>
              <a:spcAft>
                <a:spcPts val="1000"/>
              </a:spcAft>
              <a:tabLst>
                <a:tab pos="450215" algn="l"/>
              </a:tabLst>
            </a:pPr>
            <a:r>
              <a:rPr lang="ru-RU" sz="1400" b="1" dirty="0">
                <a:latin typeface="Times New Roman" panose="02020603050405020304" pitchFamily="18" charset="0"/>
                <a:ea typeface="Calibri" panose="020F0502020204030204" pitchFamily="34" charset="0"/>
                <a:cs typeface="Times New Roman" panose="02020603050405020304" pitchFamily="18" charset="0"/>
              </a:rPr>
              <a:t>Теперь  рассмотрим операцию заполнения  таблиц  начальными данными.  </a:t>
            </a:r>
          </a:p>
          <a:p>
            <a:r>
              <a:rPr lang="ru-RU" sz="1400" dirty="0">
                <a:latin typeface="Times New Roman" panose="02020603050405020304" pitchFamily="18" charset="0"/>
                <a:ea typeface="Calibri" panose="020F0502020204030204" pitchFamily="34" charset="0"/>
                <a:cs typeface="Times New Roman" panose="02020603050405020304" pitchFamily="18" charset="0"/>
              </a:rPr>
              <a:t>  Для  начала   заполним  таблицу  «студенты». Для  заполнения   этой   таблицы   в  обозревателе   объектов   щёлкните  правой   кнопкой   мыши  по  таблице </a:t>
            </a:r>
            <a:r>
              <a:rPr lang="ru-RU" sz="1400" b="1" dirty="0">
                <a:latin typeface="Times New Roman" panose="02020603050405020304" pitchFamily="18" charset="0"/>
                <a:ea typeface="Calibri" panose="020F0502020204030204" pitchFamily="34" charset="0"/>
                <a:cs typeface="Times New Roman" panose="02020603050405020304" pitchFamily="18" charset="0"/>
              </a:rPr>
              <a:t>«студенты</a:t>
            </a:r>
            <a:r>
              <a:rPr lang="ru-RU" sz="1400" dirty="0">
                <a:latin typeface="Times New Roman" panose="02020603050405020304" pitchFamily="18" charset="0"/>
                <a:ea typeface="Calibri" panose="020F0502020204030204" pitchFamily="34" charset="0"/>
                <a:cs typeface="Times New Roman" panose="02020603050405020304" pitchFamily="18" charset="0"/>
              </a:rPr>
              <a:t>»  и  в  появившемся   меню  выберите  пункт «</a:t>
            </a:r>
            <a:r>
              <a:rPr lang="ru-RU" sz="1400" b="1" dirty="0">
                <a:latin typeface="Times New Roman" panose="02020603050405020304" pitchFamily="18" charset="0"/>
                <a:ea typeface="Calibri" panose="020F0502020204030204" pitchFamily="34" charset="0"/>
                <a:cs typeface="Times New Roman" panose="02020603050405020304" pitchFamily="18" charset="0"/>
              </a:rPr>
              <a:t>Изменить первые 200 строк</a:t>
            </a:r>
            <a:r>
              <a:rPr lang="ru-RU" sz="1400" dirty="0">
                <a:latin typeface="Times New Roman" panose="02020603050405020304" pitchFamily="18" charset="0"/>
                <a:ea typeface="Calibri" panose="020F0502020204030204" pitchFamily="34" charset="0"/>
                <a:cs typeface="Times New Roman" panose="02020603050405020304" pitchFamily="18" charset="0"/>
              </a:rPr>
              <a:t>».  В  рабочей  области «</a:t>
            </a:r>
            <a:r>
              <a:rPr lang="ru-RU" sz="1400" dirty="0" err="1">
                <a:latin typeface="Times New Roman" panose="02020603050405020304" pitchFamily="18" charset="0"/>
                <a:ea typeface="Calibri" panose="020F0502020204030204" pitchFamily="34" charset="0"/>
                <a:cs typeface="Times New Roman" panose="02020603050405020304" pitchFamily="18" charset="0"/>
              </a:rPr>
              <a:t>Microsoft</a:t>
            </a:r>
            <a:r>
              <a:rPr lang="ru-RU" sz="1400" dirty="0">
                <a:latin typeface="Times New Roman" panose="02020603050405020304" pitchFamily="18" charset="0"/>
                <a:ea typeface="Calibri" panose="020F0502020204030204" pitchFamily="34" charset="0"/>
                <a:cs typeface="Times New Roman" panose="02020603050405020304" pitchFamily="18" charset="0"/>
              </a:rPr>
              <a:t> SQL </a:t>
            </a:r>
            <a:r>
              <a:rPr lang="ru-RU" sz="1400" dirty="0" err="1">
                <a:latin typeface="Times New Roman" panose="02020603050405020304" pitchFamily="18" charset="0"/>
                <a:ea typeface="Calibri" panose="020F0502020204030204" pitchFamily="34" charset="0"/>
                <a:cs typeface="Times New Roman" panose="02020603050405020304" pitchFamily="18" charset="0"/>
              </a:rPr>
              <a:t>Server</a:t>
            </a:r>
            <a:r>
              <a:rPr lang="ru-RU" sz="1400" dirty="0">
                <a:latin typeface="Times New Roman" panose="02020603050405020304" pitchFamily="18" charset="0"/>
                <a:ea typeface="Calibri" panose="020F0502020204030204" pitchFamily="34" charset="0"/>
                <a:cs typeface="Times New Roman" panose="02020603050405020304" pitchFamily="18" charset="0"/>
              </a:rPr>
              <a:t> </a:t>
            </a:r>
            <a:r>
              <a:rPr lang="ru-RU" sz="1400" dirty="0" err="1">
                <a:latin typeface="Times New Roman" panose="02020603050405020304" pitchFamily="18" charset="0"/>
                <a:ea typeface="Calibri" panose="020F0502020204030204" pitchFamily="34" charset="0"/>
                <a:cs typeface="Times New Roman" panose="02020603050405020304" pitchFamily="18" charset="0"/>
              </a:rPr>
              <a:t>Management</a:t>
            </a:r>
            <a:r>
              <a:rPr lang="ru-RU" sz="1400" dirty="0">
                <a:latin typeface="Times New Roman" panose="02020603050405020304" pitchFamily="18" charset="0"/>
                <a:ea typeface="Calibri" panose="020F0502020204030204" pitchFamily="34" charset="0"/>
                <a:cs typeface="Times New Roman" panose="02020603050405020304" pitchFamily="18" charset="0"/>
              </a:rPr>
              <a:t> </a:t>
            </a:r>
            <a:r>
              <a:rPr lang="ru-RU" sz="1400" dirty="0" err="1">
                <a:latin typeface="Times New Roman" panose="02020603050405020304" pitchFamily="18" charset="0"/>
                <a:ea typeface="Calibri" panose="020F0502020204030204" pitchFamily="34" charset="0"/>
                <a:cs typeface="Times New Roman" panose="02020603050405020304" pitchFamily="18" charset="0"/>
              </a:rPr>
              <a:t>Studio</a:t>
            </a:r>
            <a:r>
              <a:rPr lang="ru-RU" sz="1400" dirty="0">
                <a:latin typeface="Times New Roman" panose="02020603050405020304" pitchFamily="18" charset="0"/>
                <a:ea typeface="Calibri" panose="020F0502020204030204" pitchFamily="34" charset="0"/>
                <a:cs typeface="Times New Roman" panose="02020603050405020304" pitchFamily="18" charset="0"/>
              </a:rPr>
              <a:t>»  проявится  окно  заполнения   таблиц.  Заполните  таблицу  «студенты», как  показано   на  рисунке </a:t>
            </a:r>
            <a:endParaRPr lang="ru-RU" sz="1400" dirty="0">
              <a:latin typeface="Times New Roman" panose="02020603050405020304" pitchFamily="18" charset="0"/>
              <a:cs typeface="Times New Roman" panose="02020603050405020304" pitchFamily="18" charset="0"/>
            </a:endParaRPr>
          </a:p>
        </p:txBody>
      </p:sp>
      <p:pic>
        <p:nvPicPr>
          <p:cNvPr id="3" name="Рисунок 2">
            <a:extLst>
              <a:ext uri="{FF2B5EF4-FFF2-40B4-BE49-F238E27FC236}">
                <a16:creationId xmlns:a16="http://schemas.microsoft.com/office/drawing/2014/main" id="{88E8C77A-5A42-43F9-82D9-7A21B835077D}"/>
              </a:ext>
            </a:extLst>
          </p:cNvPr>
          <p:cNvPicPr/>
          <p:nvPr/>
        </p:nvPicPr>
        <p:blipFill rotWithShape="1">
          <a:blip r:embed="rId2" cstate="print">
            <a:extLst>
              <a:ext uri="{28A0092B-C50C-407E-A947-70E740481C1C}">
                <a14:useLocalDpi xmlns:a14="http://schemas.microsoft.com/office/drawing/2010/main" val="0"/>
              </a:ext>
            </a:extLst>
          </a:blip>
          <a:srcRect l="28853" t="11837" b="8203"/>
          <a:stretch/>
        </p:blipFill>
        <p:spPr bwMode="auto">
          <a:xfrm>
            <a:off x="107504" y="2204864"/>
            <a:ext cx="3713644" cy="3168352"/>
          </a:xfrm>
          <a:prstGeom prst="rect">
            <a:avLst/>
          </a:prstGeom>
          <a:noFill/>
          <a:ln>
            <a:noFill/>
          </a:ln>
        </p:spPr>
      </p:pic>
      <p:sp>
        <p:nvSpPr>
          <p:cNvPr id="4" name="Прямоугольник 3">
            <a:extLst>
              <a:ext uri="{FF2B5EF4-FFF2-40B4-BE49-F238E27FC236}">
                <a16:creationId xmlns:a16="http://schemas.microsoft.com/office/drawing/2014/main" id="{BB10823C-7BE6-4B69-B827-80C3754BB910}"/>
              </a:ext>
            </a:extLst>
          </p:cNvPr>
          <p:cNvSpPr/>
          <p:nvPr/>
        </p:nvSpPr>
        <p:spPr>
          <a:xfrm>
            <a:off x="5436096" y="2255382"/>
            <a:ext cx="3713644" cy="2558842"/>
          </a:xfrm>
          <a:prstGeom prst="rect">
            <a:avLst/>
          </a:prstGeom>
        </p:spPr>
        <p:txBody>
          <a:bodyPr wrap="square">
            <a:spAutoFit/>
          </a:bodyPr>
          <a:lstStyle/>
          <a:p>
            <a:pPr>
              <a:lnSpc>
                <a:spcPct val="115000"/>
              </a:lnSpc>
              <a:spcAft>
                <a:spcPts val="1000"/>
              </a:spcAft>
              <a:tabLst>
                <a:tab pos="450215" algn="l"/>
              </a:tabLst>
            </a:pPr>
            <a:r>
              <a:rPr lang="ru-RU" sz="1400" b="1" i="1" dirty="0">
                <a:latin typeface="Times New Roman" panose="02020603050405020304" pitchFamily="18" charset="0"/>
                <a:ea typeface="Calibri" panose="020F0502020204030204" pitchFamily="34" charset="0"/>
                <a:cs typeface="Times New Roman" panose="02020603050405020304" pitchFamily="18" charset="0"/>
              </a:rPr>
              <a:t>Замечание:</a:t>
            </a:r>
            <a:r>
              <a:rPr lang="ru-RU" sz="1400" dirty="0">
                <a:latin typeface="Times New Roman" panose="02020603050405020304" pitchFamily="18" charset="0"/>
                <a:ea typeface="Calibri" panose="020F0502020204030204" pitchFamily="34" charset="0"/>
                <a:cs typeface="Times New Roman" panose="02020603050405020304" pitchFamily="18" charset="0"/>
              </a:rPr>
              <a:t>   Так  как  поле  «</a:t>
            </a:r>
            <a:r>
              <a:rPr lang="ru-RU" sz="1400" b="1" dirty="0">
                <a:latin typeface="Times New Roman" panose="02020603050405020304" pitchFamily="18" charset="0"/>
                <a:ea typeface="Calibri" panose="020F0502020204030204" pitchFamily="34" charset="0"/>
                <a:cs typeface="Times New Roman" panose="02020603050405020304" pitchFamily="18" charset="0"/>
              </a:rPr>
              <a:t>номер</a:t>
            </a:r>
            <a:r>
              <a:rPr lang="ru-RU" sz="1400" dirty="0">
                <a:latin typeface="Times New Roman" panose="02020603050405020304" pitchFamily="18" charset="0"/>
                <a:ea typeface="Calibri" panose="020F0502020204030204" pitchFamily="34" charset="0"/>
                <a:cs typeface="Times New Roman" panose="02020603050405020304" pitchFamily="18" charset="0"/>
              </a:rPr>
              <a:t>»  является   первичным   полем   связи  и ключевым  числовым  счётчиком,  то   оно   заполняется  автоматически (заполнять  его  не  нужно). </a:t>
            </a:r>
          </a:p>
          <a:p>
            <a:pPr>
              <a:lnSpc>
                <a:spcPct val="115000"/>
              </a:lnSpc>
              <a:spcAft>
                <a:spcPts val="1000"/>
              </a:spcAft>
              <a:tabLst>
                <a:tab pos="450215" algn="l"/>
              </a:tabLst>
            </a:pPr>
            <a:r>
              <a:rPr lang="ru-RU" sz="1400" dirty="0">
                <a:latin typeface="Times New Roman" panose="02020603050405020304" pitchFamily="18" charset="0"/>
                <a:ea typeface="Calibri" panose="020F0502020204030204" pitchFamily="34" charset="0"/>
                <a:cs typeface="Times New Roman" panose="02020603050405020304" pitchFamily="18" charset="0"/>
              </a:rPr>
              <a:t> 	</a:t>
            </a:r>
          </a:p>
          <a:p>
            <a:pPr>
              <a:lnSpc>
                <a:spcPct val="115000"/>
              </a:lnSpc>
              <a:spcAft>
                <a:spcPts val="1000"/>
              </a:spcAft>
              <a:tabLst>
                <a:tab pos="450215" algn="l"/>
              </a:tabLst>
            </a:pPr>
            <a:r>
              <a:rPr lang="ru-RU" sz="1400" dirty="0">
                <a:latin typeface="Times New Roman" panose="02020603050405020304" pitchFamily="18" charset="0"/>
                <a:ea typeface="Calibri" panose="020F0502020204030204" pitchFamily="34" charset="0"/>
                <a:cs typeface="Times New Roman" panose="02020603050405020304" pitchFamily="18" charset="0"/>
              </a:rPr>
              <a:t>Закройте   окно  заполнения   таблицы  «</a:t>
            </a:r>
            <a:r>
              <a:rPr lang="ru-RU" sz="1400" b="1" dirty="0">
                <a:latin typeface="Times New Roman" panose="02020603050405020304" pitchFamily="18" charset="0"/>
                <a:ea typeface="Calibri" panose="020F0502020204030204" pitchFamily="34" charset="0"/>
                <a:cs typeface="Times New Roman" panose="02020603050405020304" pitchFamily="18" charset="0"/>
              </a:rPr>
              <a:t>студенты</a:t>
            </a:r>
            <a:r>
              <a:rPr lang="ru-RU" sz="1400" dirty="0">
                <a:latin typeface="Times New Roman" panose="02020603050405020304" pitchFamily="18" charset="0"/>
                <a:ea typeface="Calibri" panose="020F0502020204030204" pitchFamily="34" charset="0"/>
                <a:cs typeface="Times New Roman" panose="02020603050405020304" pitchFamily="18" charset="0"/>
              </a:rPr>
              <a:t>»  щелкнув  по  кнопке   закрытия  окна    в верхнем  правом углу,  над таблицей. </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5882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087745EE-2CD0-49CC-9953-7ABE9F56421D}"/>
              </a:ext>
            </a:extLst>
          </p:cNvPr>
          <p:cNvSpPr/>
          <p:nvPr/>
        </p:nvSpPr>
        <p:spPr>
          <a:xfrm>
            <a:off x="251520" y="764704"/>
            <a:ext cx="8640960" cy="1093120"/>
          </a:xfrm>
          <a:prstGeom prst="rect">
            <a:avLst/>
          </a:prstGeom>
        </p:spPr>
        <p:txBody>
          <a:bodyPr wrap="square">
            <a:spAutoFit/>
          </a:bodyPr>
          <a:lstStyle/>
          <a:p>
            <a:pPr>
              <a:lnSpc>
                <a:spcPct val="115000"/>
              </a:lnSpc>
              <a:spcAft>
                <a:spcPts val="1000"/>
              </a:spcAft>
              <a:tabLst>
                <a:tab pos="450215" algn="l"/>
              </a:tabLst>
            </a:pPr>
            <a:r>
              <a:rPr lang="ru-RU" dirty="0">
                <a:latin typeface="Times New Roman" panose="02020603050405020304" pitchFamily="18" charset="0"/>
                <a:ea typeface="Calibri" panose="020F0502020204030204" pitchFamily="34" charset="0"/>
                <a:cs typeface="Times New Roman" panose="02020603050405020304" pitchFamily="18" charset="0"/>
              </a:rPr>
              <a:t>После  заполнения   таблицы  «</a:t>
            </a:r>
            <a:r>
              <a:rPr lang="ru-RU" b="1" dirty="0">
                <a:latin typeface="Times New Roman" panose="02020603050405020304" pitchFamily="18" charset="0"/>
                <a:ea typeface="Calibri" panose="020F0502020204030204" pitchFamily="34" charset="0"/>
                <a:cs typeface="Times New Roman" panose="02020603050405020304" pitchFamily="18" charset="0"/>
              </a:rPr>
              <a:t>студенты</a:t>
            </a:r>
            <a:r>
              <a:rPr lang="ru-RU" dirty="0">
                <a:latin typeface="Times New Roman" panose="02020603050405020304" pitchFamily="18" charset="0"/>
                <a:ea typeface="Calibri" panose="020F0502020204030204" pitchFamily="34" charset="0"/>
                <a:cs typeface="Times New Roman" panose="02020603050405020304" pitchFamily="18" charset="0"/>
              </a:rPr>
              <a:t>»  заполним  таблицу  «</a:t>
            </a:r>
            <a:r>
              <a:rPr lang="ru-RU" b="1" dirty="0">
                <a:latin typeface="Times New Roman" panose="02020603050405020304" pitchFamily="18" charset="0"/>
                <a:ea typeface="Calibri" panose="020F0502020204030204" pitchFamily="34" charset="0"/>
                <a:cs typeface="Times New Roman" panose="02020603050405020304" pitchFamily="18" charset="0"/>
              </a:rPr>
              <a:t>оценки</a:t>
            </a:r>
            <a:r>
              <a:rPr lang="ru-RU" dirty="0">
                <a:latin typeface="Times New Roman" panose="02020603050405020304" pitchFamily="18" charset="0"/>
                <a:ea typeface="Calibri" panose="020F0502020204030204" pitchFamily="34" charset="0"/>
                <a:cs typeface="Times New Roman" panose="02020603050405020304" pitchFamily="18" charset="0"/>
              </a:rPr>
              <a:t>». </a:t>
            </a:r>
            <a:endParaRPr lang="ru-RU" sz="1400" dirty="0">
              <a:latin typeface="Calibri" panose="020F0502020204030204" pitchFamily="34" charset="0"/>
              <a:ea typeface="Calibri" panose="020F0502020204030204" pitchFamily="34" charset="0"/>
              <a:cs typeface="Times New Roman" panose="02020603050405020304" pitchFamily="18" charset="0"/>
            </a:endParaRPr>
          </a:p>
          <a:p>
            <a:r>
              <a:rPr lang="ru-RU" dirty="0">
                <a:latin typeface="Times New Roman" panose="02020603050405020304" pitchFamily="18" charset="0"/>
                <a:ea typeface="Calibri" panose="020F0502020204030204" pitchFamily="34" charset="0"/>
              </a:rPr>
              <a:t>Откройте её  для заполнения  как описано выше,  и заполните,  как показано  на  рисунке</a:t>
            </a:r>
            <a:endParaRPr lang="ru-RU" dirty="0"/>
          </a:p>
        </p:txBody>
      </p:sp>
      <p:pic>
        <p:nvPicPr>
          <p:cNvPr id="3" name="Рисунок 2">
            <a:extLst>
              <a:ext uri="{FF2B5EF4-FFF2-40B4-BE49-F238E27FC236}">
                <a16:creationId xmlns:a16="http://schemas.microsoft.com/office/drawing/2014/main" id="{C5CD4346-144E-492A-8557-446EBD7919A3}"/>
              </a:ext>
            </a:extLst>
          </p:cNvPr>
          <p:cNvPicPr/>
          <p:nvPr/>
        </p:nvPicPr>
        <p:blipFill rotWithShape="1">
          <a:blip r:embed="rId2" cstate="print">
            <a:extLst>
              <a:ext uri="{28A0092B-C50C-407E-A947-70E740481C1C}">
                <a14:useLocalDpi xmlns:a14="http://schemas.microsoft.com/office/drawing/2010/main" val="0"/>
              </a:ext>
            </a:extLst>
          </a:blip>
          <a:srcRect l="29306" t="13654" r="1" b="8202"/>
          <a:stretch/>
        </p:blipFill>
        <p:spPr bwMode="auto">
          <a:xfrm>
            <a:off x="755576" y="2204864"/>
            <a:ext cx="3689970" cy="3096344"/>
          </a:xfrm>
          <a:prstGeom prst="rect">
            <a:avLst/>
          </a:prstGeom>
          <a:noFill/>
          <a:ln>
            <a:noFill/>
          </a:ln>
        </p:spPr>
      </p:pic>
    </p:spTree>
    <p:extLst>
      <p:ext uri="{BB962C8B-B14F-4D97-AF65-F5344CB8AC3E}">
        <p14:creationId xmlns:p14="http://schemas.microsoft.com/office/powerpoint/2010/main" val="1167902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555776" y="692696"/>
            <a:ext cx="3686587" cy="369332"/>
          </a:xfrm>
          <a:prstGeom prst="rect">
            <a:avLst/>
          </a:prstGeom>
        </p:spPr>
        <p:txBody>
          <a:bodyPr wrap="none">
            <a:spAutoFit/>
          </a:bodyPr>
          <a:lstStyle/>
          <a:p>
            <a:r>
              <a:rPr lang="ru-RU" b="1" dirty="0">
                <a:solidFill>
                  <a:srgbClr val="C00000"/>
                </a:solidFill>
                <a:latin typeface="Times New Roman" pitchFamily="18" charset="0"/>
                <a:cs typeface="Times New Roman" pitchFamily="18" charset="0"/>
              </a:rPr>
              <a:t>Создание  запросов   и  фильтров </a:t>
            </a:r>
          </a:p>
        </p:txBody>
      </p:sp>
      <p:sp>
        <p:nvSpPr>
          <p:cNvPr id="3" name="Прямоугольник 2"/>
          <p:cNvSpPr/>
          <p:nvPr/>
        </p:nvSpPr>
        <p:spPr>
          <a:xfrm>
            <a:off x="539552" y="1268760"/>
            <a:ext cx="7992888" cy="584775"/>
          </a:xfrm>
          <a:prstGeom prst="rect">
            <a:avLst/>
          </a:prstGeom>
        </p:spPr>
        <p:txBody>
          <a:bodyPr wrap="square">
            <a:spAutoFit/>
          </a:bodyPr>
          <a:lstStyle/>
          <a:p>
            <a:r>
              <a:rPr lang="ru-RU" sz="1600" dirty="0">
                <a:latin typeface="Times New Roman" pitchFamily="18" charset="0"/>
                <a:cs typeface="Times New Roman" pitchFamily="18" charset="0"/>
              </a:rPr>
              <a:t>Перейдём к созданию статических запросов.  В обозревателе  объектов  «</a:t>
            </a:r>
            <a:r>
              <a:rPr lang="ru-RU" sz="1600" dirty="0" err="1">
                <a:latin typeface="Times New Roman" pitchFamily="18" charset="0"/>
                <a:cs typeface="Times New Roman" pitchFamily="18" charset="0"/>
              </a:rPr>
              <a:t>Microsoft</a:t>
            </a:r>
            <a:r>
              <a:rPr lang="ru-RU" sz="1600" dirty="0">
                <a:latin typeface="Times New Roman" pitchFamily="18" charset="0"/>
                <a:cs typeface="Times New Roman" pitchFamily="18" charset="0"/>
              </a:rPr>
              <a:t> SQL </a:t>
            </a:r>
            <a:r>
              <a:rPr lang="ru-RU" sz="1600" dirty="0" err="1">
                <a:latin typeface="Times New Roman" pitchFamily="18" charset="0"/>
                <a:cs typeface="Times New Roman" pitchFamily="18" charset="0"/>
              </a:rPr>
              <a:t>Server</a:t>
            </a:r>
            <a:r>
              <a:rPr lang="ru-RU" sz="1600" dirty="0">
                <a:latin typeface="Times New Roman" pitchFamily="18" charset="0"/>
                <a:cs typeface="Times New Roman" pitchFamily="18" charset="0"/>
              </a:rPr>
              <a:t>»  все запросы  БД находятся в папке «Представления»</a:t>
            </a:r>
          </a:p>
        </p:txBody>
      </p:sp>
      <p:pic>
        <p:nvPicPr>
          <p:cNvPr id="4" name="Рисунок 3"/>
          <p:cNvPicPr/>
          <p:nvPr/>
        </p:nvPicPr>
        <p:blipFill rotWithShape="1">
          <a:blip r:embed="rId2" cstate="print"/>
          <a:srcRect t="11837" r="69792" b="8202"/>
          <a:stretch/>
        </p:blipFill>
        <p:spPr bwMode="auto">
          <a:xfrm>
            <a:off x="827584" y="1916832"/>
            <a:ext cx="2088232" cy="4464496"/>
          </a:xfrm>
          <a:prstGeom prst="rect">
            <a:avLst/>
          </a:prstGeom>
          <a:noFill/>
          <a:ln w="9525">
            <a:noFill/>
            <a:miter lim="800000"/>
            <a:headEnd/>
            <a:tailEnd/>
          </a:ln>
        </p:spPr>
      </p:pic>
      <p:sp>
        <p:nvSpPr>
          <p:cNvPr id="5" name="Овал 4">
            <a:extLst>
              <a:ext uri="{FF2B5EF4-FFF2-40B4-BE49-F238E27FC236}">
                <a16:creationId xmlns:a16="http://schemas.microsoft.com/office/drawing/2014/main" id="{A3A9472A-BB4B-4BAD-B4FB-617D03D0062F}"/>
              </a:ext>
            </a:extLst>
          </p:cNvPr>
          <p:cNvSpPr/>
          <p:nvPr/>
        </p:nvSpPr>
        <p:spPr>
          <a:xfrm>
            <a:off x="899592" y="4221088"/>
            <a:ext cx="1944216" cy="178714"/>
          </a:xfrm>
          <a:prstGeom prst="ellipse">
            <a:avLst/>
          </a:prstGeom>
          <a:no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endParaRPr lang="ru-RU"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9552" y="332656"/>
            <a:ext cx="7992888" cy="1600438"/>
          </a:xfrm>
          <a:prstGeom prst="rect">
            <a:avLst/>
          </a:prstGeom>
        </p:spPr>
        <p:txBody>
          <a:bodyPr wrap="square">
            <a:spAutoFit/>
          </a:bodyPr>
          <a:lstStyle/>
          <a:p>
            <a:r>
              <a:rPr lang="ru-RU" sz="1600" dirty="0">
                <a:latin typeface="Times New Roman" pitchFamily="18" charset="0"/>
                <a:cs typeface="Times New Roman" pitchFamily="18" charset="0"/>
              </a:rPr>
              <a:t>Создадим  запрос  «</a:t>
            </a:r>
            <a:r>
              <a:rPr lang="ru-RU" sz="1600" b="1" dirty="0">
                <a:latin typeface="Times New Roman" pitchFamily="18" charset="0"/>
                <a:cs typeface="Times New Roman" pitchFamily="18" charset="0"/>
              </a:rPr>
              <a:t>Запрос   </a:t>
            </a:r>
            <a:r>
              <a:rPr lang="ru-RU" sz="1600" b="1" dirty="0" err="1">
                <a:latin typeface="Times New Roman" pitchFamily="18" charset="0"/>
                <a:cs typeface="Times New Roman" pitchFamily="18" charset="0"/>
              </a:rPr>
              <a:t>студенты+</a:t>
            </a:r>
            <a:r>
              <a:rPr lang="ru-RU" sz="1600" b="1" dirty="0">
                <a:latin typeface="Times New Roman" pitchFamily="18" charset="0"/>
                <a:cs typeface="Times New Roman" pitchFamily="18" charset="0"/>
              </a:rPr>
              <a:t> оценки</a:t>
            </a:r>
            <a:r>
              <a:rPr lang="ru-RU" sz="1600" dirty="0">
                <a:latin typeface="Times New Roman" pitchFamily="18" charset="0"/>
                <a:cs typeface="Times New Roman" pitchFamily="18" charset="0"/>
              </a:rPr>
              <a:t>»,  связывающий   таблицы  «</a:t>
            </a:r>
            <a:r>
              <a:rPr lang="ru-RU" sz="1600" b="1" dirty="0">
                <a:latin typeface="Times New Roman" pitchFamily="18" charset="0"/>
                <a:cs typeface="Times New Roman" pitchFamily="18" charset="0"/>
              </a:rPr>
              <a:t>студенты</a:t>
            </a:r>
            <a:r>
              <a:rPr lang="ru-RU" sz="1600" dirty="0">
                <a:latin typeface="Times New Roman" pitchFamily="18" charset="0"/>
                <a:cs typeface="Times New Roman" pitchFamily="18" charset="0"/>
              </a:rPr>
              <a:t>»  и «</a:t>
            </a:r>
            <a:r>
              <a:rPr lang="ru-RU" sz="1600" b="1" dirty="0">
                <a:latin typeface="Times New Roman" pitchFamily="18" charset="0"/>
                <a:cs typeface="Times New Roman" pitchFamily="18" charset="0"/>
              </a:rPr>
              <a:t>оценки</a:t>
            </a:r>
            <a:r>
              <a:rPr lang="ru-RU" sz="1600" dirty="0">
                <a:latin typeface="Times New Roman" pitchFamily="18" charset="0"/>
                <a:cs typeface="Times New Roman" pitchFamily="18" charset="0"/>
              </a:rPr>
              <a:t>»  по  полю  связи «</a:t>
            </a:r>
            <a:r>
              <a:rPr lang="ru-RU" sz="1600" b="1" dirty="0">
                <a:latin typeface="Times New Roman" pitchFamily="18" charset="0"/>
                <a:cs typeface="Times New Roman" pitchFamily="18" charset="0"/>
              </a:rPr>
              <a:t>номе</a:t>
            </a:r>
            <a:r>
              <a:rPr lang="ru-RU" sz="1600" dirty="0">
                <a:latin typeface="Times New Roman" pitchFamily="18" charset="0"/>
                <a:cs typeface="Times New Roman" pitchFamily="18" charset="0"/>
              </a:rPr>
              <a:t>р». Для  создания  нового   запроса  необходимо  в  обозревателе   объектов   в  БД «</a:t>
            </a:r>
            <a:r>
              <a:rPr lang="en-US" sz="1600" b="1" u="sng" dirty="0">
                <a:latin typeface="Times New Roman" panose="02020603050405020304" pitchFamily="18" charset="0"/>
                <a:cs typeface="Times New Roman" panose="02020603050405020304" pitchFamily="18" charset="0"/>
              </a:rPr>
              <a:t>Student</a:t>
            </a:r>
            <a:r>
              <a:rPr lang="ru-RU" sz="1600" dirty="0">
                <a:latin typeface="Times New Roman" pitchFamily="18" charset="0"/>
                <a:cs typeface="Times New Roman" pitchFamily="18" charset="0"/>
              </a:rPr>
              <a:t>» щёлкнуть  ПКМ  по папке «</a:t>
            </a:r>
            <a:r>
              <a:rPr lang="ru-RU" sz="1600" b="1" dirty="0">
                <a:latin typeface="Times New Roman" pitchFamily="18" charset="0"/>
                <a:cs typeface="Times New Roman" pitchFamily="18" charset="0"/>
              </a:rPr>
              <a:t>Представления</a:t>
            </a:r>
            <a:r>
              <a:rPr lang="ru-RU" sz="1600" dirty="0">
                <a:latin typeface="Times New Roman" pitchFamily="18" charset="0"/>
                <a:cs typeface="Times New Roman" pitchFamily="18" charset="0"/>
              </a:rPr>
              <a:t>»,  затем  в  появившемся   меню  выбрать   пункт «</a:t>
            </a:r>
            <a:r>
              <a:rPr lang="ru-RU" sz="1600" b="1" dirty="0">
                <a:latin typeface="Times New Roman" pitchFamily="18" charset="0"/>
                <a:cs typeface="Times New Roman" pitchFamily="18" charset="0"/>
              </a:rPr>
              <a:t>Создать представление</a:t>
            </a:r>
            <a:r>
              <a:rPr lang="ru-RU" sz="1600" dirty="0">
                <a:latin typeface="Times New Roman" pitchFamily="18" charset="0"/>
                <a:cs typeface="Times New Roman" pitchFamily="18" charset="0"/>
              </a:rPr>
              <a:t>».  Появиться  окно «</a:t>
            </a:r>
            <a:r>
              <a:rPr lang="ru-RU" sz="1600" b="1" dirty="0">
                <a:latin typeface="Times New Roman" pitchFamily="18" charset="0"/>
                <a:cs typeface="Times New Roman" pitchFamily="18" charset="0"/>
              </a:rPr>
              <a:t>Добавление таблицы</a:t>
            </a:r>
            <a:r>
              <a:rPr lang="ru-RU" sz="1600" dirty="0">
                <a:latin typeface="Times New Roman" pitchFamily="18" charset="0"/>
                <a:cs typeface="Times New Roman" pitchFamily="18" charset="0"/>
              </a:rPr>
              <a:t>»,  предназначенное  для  выбора  таблиц   и  запросов, участвующих  в новом  запрос</a:t>
            </a:r>
            <a:r>
              <a:rPr lang="ru-RU" dirty="0"/>
              <a:t>е </a:t>
            </a:r>
          </a:p>
        </p:txBody>
      </p:sp>
      <p:pic>
        <p:nvPicPr>
          <p:cNvPr id="1026" name="Picture 2"/>
          <p:cNvPicPr>
            <a:picLocks noChangeAspect="1" noChangeArrowheads="1"/>
          </p:cNvPicPr>
          <p:nvPr/>
        </p:nvPicPr>
        <p:blipFill>
          <a:blip r:embed="rId2" cstate="print"/>
          <a:srcRect/>
          <a:stretch>
            <a:fillRect/>
          </a:stretch>
        </p:blipFill>
        <p:spPr bwMode="auto">
          <a:xfrm>
            <a:off x="251520" y="2348880"/>
            <a:ext cx="4752528" cy="3727694"/>
          </a:xfrm>
          <a:prstGeom prst="rect">
            <a:avLst/>
          </a:prstGeom>
          <a:noFill/>
          <a:ln w="9525">
            <a:noFill/>
            <a:miter lim="800000"/>
            <a:headEnd/>
            <a:tailEnd/>
          </a:ln>
        </p:spPr>
      </p:pic>
      <p:sp>
        <p:nvSpPr>
          <p:cNvPr id="4" name="Прямоугольник 3"/>
          <p:cNvSpPr/>
          <p:nvPr/>
        </p:nvSpPr>
        <p:spPr>
          <a:xfrm>
            <a:off x="467544" y="3212976"/>
            <a:ext cx="1008112" cy="3600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27" name="Rectangle 3"/>
          <p:cNvSpPr>
            <a:spLocks noChangeArrowheads="1"/>
          </p:cNvSpPr>
          <p:nvPr/>
        </p:nvSpPr>
        <p:spPr bwMode="auto">
          <a:xfrm>
            <a:off x="5004048" y="2405499"/>
            <a:ext cx="3960440" cy="280076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Добавим   в  новый   запрос   таблицы  «студенты»  и «оценки». Для  этого  в   окне  «Добавление таблицы»  выделите  таблицу  «оценки»  и  нажмите   кнопку «Добавить». </a:t>
            </a:r>
          </a:p>
          <a:p>
            <a:pPr marL="0" marR="0" lvl="0" indent="0" algn="l" defTabSz="914400" rtl="0" eaLnBrk="0" fontAlgn="base" latinLnBrk="0" hangingPunct="0">
              <a:lnSpc>
                <a:spcPct val="100000"/>
              </a:lnSpc>
              <a:spcBef>
                <a:spcPct val="0"/>
              </a:spcBef>
              <a:spcAft>
                <a:spcPct val="0"/>
              </a:spcAft>
              <a:buClrTx/>
              <a:buSzTx/>
              <a:buFontTx/>
              <a:buNone/>
              <a:tabLst/>
            </a:pPr>
            <a:r>
              <a:rPr kumimoji="0" lang="ru-RU" sz="16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Аналогично  добавьте   таблицу  «студенты». После  добавления   таблиц   участвующих  в  запросе  закройте   окно «Добавление таблицы» нажав   кнопку «Закрыть».  Появится  окно конструктора  запросов </a:t>
            </a:r>
            <a:endParaRPr kumimoji="0" lang="ru-RU" sz="16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076056" y="1052736"/>
            <a:ext cx="3635896" cy="369332"/>
          </a:xfrm>
          <a:prstGeom prst="rect">
            <a:avLst/>
          </a:prstGeom>
        </p:spPr>
        <p:txBody>
          <a:bodyPr wrap="square">
            <a:spAutoFit/>
          </a:bodyPr>
          <a:lstStyle/>
          <a:p>
            <a:r>
              <a:rPr lang="ru-RU" b="1" dirty="0">
                <a:latin typeface="Times New Roman" pitchFamily="18" charset="0"/>
                <a:ea typeface="Calibri" pitchFamily="34" charset="0"/>
                <a:cs typeface="Times New Roman" pitchFamily="18" charset="0"/>
              </a:rPr>
              <a:t>Окно конструктора  запросов. </a:t>
            </a:r>
            <a:endParaRPr lang="ru-RU" b="1" dirty="0"/>
          </a:p>
        </p:txBody>
      </p:sp>
      <p:pic>
        <p:nvPicPr>
          <p:cNvPr id="3" name="Рисунок 2"/>
          <p:cNvPicPr/>
          <p:nvPr/>
        </p:nvPicPr>
        <p:blipFill>
          <a:blip r:embed="rId2" cstate="print"/>
          <a:srcRect b="9136"/>
          <a:stretch>
            <a:fillRect/>
          </a:stretch>
        </p:blipFill>
        <p:spPr bwMode="auto">
          <a:xfrm>
            <a:off x="179512" y="188640"/>
            <a:ext cx="4392488" cy="3168352"/>
          </a:xfrm>
          <a:prstGeom prst="rect">
            <a:avLst/>
          </a:prstGeom>
          <a:noFill/>
          <a:ln w="9525">
            <a:noFill/>
            <a:miter lim="800000"/>
            <a:headEnd/>
            <a:tailEnd/>
          </a:ln>
        </p:spPr>
      </p:pic>
      <p:sp>
        <p:nvSpPr>
          <p:cNvPr id="4" name="TextBox 3"/>
          <p:cNvSpPr txBox="1"/>
          <p:nvPr/>
        </p:nvSpPr>
        <p:spPr>
          <a:xfrm>
            <a:off x="3851920" y="980728"/>
            <a:ext cx="301686" cy="369332"/>
          </a:xfrm>
          <a:prstGeom prst="rect">
            <a:avLst/>
          </a:prstGeom>
          <a:noFill/>
        </p:spPr>
        <p:txBody>
          <a:bodyPr wrap="none" rtlCol="0">
            <a:spAutoFit/>
          </a:bodyPr>
          <a:lstStyle/>
          <a:p>
            <a:r>
              <a:rPr lang="ru-RU" dirty="0">
                <a:solidFill>
                  <a:srgbClr val="C00000"/>
                </a:solidFill>
              </a:rPr>
              <a:t>1</a:t>
            </a:r>
          </a:p>
        </p:txBody>
      </p:sp>
      <p:sp>
        <p:nvSpPr>
          <p:cNvPr id="5" name="TextBox 4"/>
          <p:cNvSpPr txBox="1"/>
          <p:nvPr/>
        </p:nvSpPr>
        <p:spPr>
          <a:xfrm>
            <a:off x="3851920" y="1916832"/>
            <a:ext cx="301686" cy="369332"/>
          </a:xfrm>
          <a:prstGeom prst="rect">
            <a:avLst/>
          </a:prstGeom>
          <a:noFill/>
        </p:spPr>
        <p:txBody>
          <a:bodyPr wrap="none" rtlCol="0">
            <a:spAutoFit/>
          </a:bodyPr>
          <a:lstStyle/>
          <a:p>
            <a:r>
              <a:rPr lang="ru-RU" dirty="0">
                <a:solidFill>
                  <a:srgbClr val="C00000"/>
                </a:solidFill>
              </a:rPr>
              <a:t>2</a:t>
            </a:r>
          </a:p>
        </p:txBody>
      </p:sp>
      <p:sp>
        <p:nvSpPr>
          <p:cNvPr id="6" name="TextBox 5"/>
          <p:cNvSpPr txBox="1"/>
          <p:nvPr/>
        </p:nvSpPr>
        <p:spPr>
          <a:xfrm>
            <a:off x="4139952" y="2492896"/>
            <a:ext cx="301686" cy="369332"/>
          </a:xfrm>
          <a:prstGeom prst="rect">
            <a:avLst/>
          </a:prstGeom>
          <a:noFill/>
        </p:spPr>
        <p:txBody>
          <a:bodyPr wrap="none" rtlCol="0">
            <a:spAutoFit/>
          </a:bodyPr>
          <a:lstStyle/>
          <a:p>
            <a:r>
              <a:rPr lang="ru-RU" dirty="0">
                <a:solidFill>
                  <a:srgbClr val="C00000"/>
                </a:solidFill>
              </a:rPr>
              <a:t>3</a:t>
            </a:r>
          </a:p>
        </p:txBody>
      </p:sp>
      <p:sp>
        <p:nvSpPr>
          <p:cNvPr id="7" name="TextBox 6"/>
          <p:cNvSpPr txBox="1"/>
          <p:nvPr/>
        </p:nvSpPr>
        <p:spPr>
          <a:xfrm>
            <a:off x="3779912" y="2924944"/>
            <a:ext cx="301686" cy="369332"/>
          </a:xfrm>
          <a:prstGeom prst="rect">
            <a:avLst/>
          </a:prstGeom>
          <a:noFill/>
        </p:spPr>
        <p:txBody>
          <a:bodyPr wrap="none" rtlCol="0">
            <a:spAutoFit/>
          </a:bodyPr>
          <a:lstStyle/>
          <a:p>
            <a:r>
              <a:rPr lang="ru-RU" dirty="0">
                <a:solidFill>
                  <a:srgbClr val="C00000"/>
                </a:solidFill>
              </a:rPr>
              <a:t>4</a:t>
            </a:r>
          </a:p>
        </p:txBody>
      </p:sp>
      <p:sp>
        <p:nvSpPr>
          <p:cNvPr id="26" name="TextBox 25"/>
          <p:cNvSpPr txBox="1"/>
          <p:nvPr/>
        </p:nvSpPr>
        <p:spPr>
          <a:xfrm>
            <a:off x="0" y="3564791"/>
            <a:ext cx="8964488" cy="2800767"/>
          </a:xfrm>
          <a:prstGeom prst="rect">
            <a:avLst/>
          </a:prstGeom>
          <a:noFill/>
        </p:spPr>
        <p:txBody>
          <a:bodyPr wrap="square" rtlCol="0">
            <a:spAutoFit/>
          </a:bodyPr>
          <a:lstStyle/>
          <a:p>
            <a:pPr algn="ctr"/>
            <a:r>
              <a:rPr lang="ru-RU" b="1" dirty="0">
                <a:solidFill>
                  <a:srgbClr val="C00000"/>
                </a:solidFill>
                <a:latin typeface="Times New Roman" pitchFamily="18" charset="0"/>
                <a:cs typeface="Times New Roman" pitchFamily="18" charset="0"/>
              </a:rPr>
              <a:t>Окно конструктора  запросов  состоит из  следующих  панелей: </a:t>
            </a:r>
          </a:p>
          <a:p>
            <a:r>
              <a:rPr lang="ru-RU" sz="1400" dirty="0">
                <a:solidFill>
                  <a:srgbClr val="C00000"/>
                </a:solidFill>
                <a:latin typeface="Times New Roman" pitchFamily="18" charset="0"/>
                <a:cs typeface="Times New Roman" pitchFamily="18" charset="0"/>
              </a:rPr>
              <a:t>1</a:t>
            </a:r>
            <a:r>
              <a:rPr lang="ru-RU" sz="1400" b="1" dirty="0">
                <a:solidFill>
                  <a:srgbClr val="C00000"/>
                </a:solidFill>
                <a:latin typeface="Times New Roman" pitchFamily="18" charset="0"/>
                <a:cs typeface="Times New Roman" pitchFamily="18" charset="0"/>
              </a:rPr>
              <a:t>.   Схема   данных </a:t>
            </a:r>
            <a:r>
              <a:rPr lang="ru-RU" sz="1400" dirty="0">
                <a:latin typeface="Times New Roman" pitchFamily="18" charset="0"/>
                <a:cs typeface="Times New Roman" pitchFamily="18" charset="0"/>
              </a:rPr>
              <a:t>– отображает   поля   таблиц   и  запросов,  участвующих   в  запросе, позволяет  выбирать  отображаемые  поля,  позволяет  устанавливать  связи между   участниками  запроса  по  специальным   полям   связи.  </a:t>
            </a:r>
          </a:p>
          <a:p>
            <a:r>
              <a:rPr lang="ru-RU" sz="1400" b="1" dirty="0">
                <a:solidFill>
                  <a:srgbClr val="C00000"/>
                </a:solidFill>
                <a:latin typeface="Times New Roman" pitchFamily="18" charset="0"/>
                <a:cs typeface="Times New Roman" pitchFamily="18" charset="0"/>
              </a:rPr>
              <a:t>2.   Таблица  отображаемых  полей </a:t>
            </a:r>
            <a:r>
              <a:rPr lang="ru-RU" sz="1400" dirty="0">
                <a:latin typeface="Times New Roman" pitchFamily="18" charset="0"/>
                <a:cs typeface="Times New Roman" pitchFamily="18" charset="0"/>
              </a:rPr>
              <a:t>–  показывает   отображаемые  поля  (столбец «Столбец»), позволяет  задавать   им  псевдонимы (столбец «Псевдоним»),  позволяет устанавливать  тип   сортировки   записей  по  одному  или   нескольким  полям  (столбец «Тип сортировки»), позволяет  задавать   порядок  сортировки  (столбец «Порядок сортировки»),  позволяет  задавать   условия  отбора   записей  в  фильтрах (столбцы  «</a:t>
            </a:r>
            <a:r>
              <a:rPr lang="ru-RU" sz="1400" dirty="0" err="1">
                <a:latin typeface="Times New Roman" pitchFamily="18" charset="0"/>
                <a:cs typeface="Times New Roman" pitchFamily="18" charset="0"/>
              </a:rPr>
              <a:t>Filter</a:t>
            </a:r>
            <a:r>
              <a:rPr lang="ru-RU" sz="1400" dirty="0">
                <a:latin typeface="Times New Roman" pitchFamily="18" charset="0"/>
                <a:cs typeface="Times New Roman" pitchFamily="18" charset="0"/>
              </a:rPr>
              <a:t>» и «</a:t>
            </a:r>
            <a:r>
              <a:rPr lang="ru-RU" sz="1400" dirty="0" err="1">
                <a:latin typeface="Times New Roman" pitchFamily="18" charset="0"/>
                <a:cs typeface="Times New Roman" pitchFamily="18" charset="0"/>
              </a:rPr>
              <a:t>Or</a:t>
            </a:r>
            <a:r>
              <a:rPr lang="ru-RU" sz="1400" dirty="0">
                <a:latin typeface="Times New Roman" pitchFamily="18" charset="0"/>
                <a:cs typeface="Times New Roman" pitchFamily="18" charset="0"/>
              </a:rPr>
              <a:t>…»). Также   эта  таблица  позволяет  менять   порядок  отображения  полей  в  запросе.  </a:t>
            </a:r>
          </a:p>
          <a:p>
            <a:r>
              <a:rPr lang="ru-RU" sz="1400" b="1" dirty="0">
                <a:solidFill>
                  <a:srgbClr val="C00000"/>
                </a:solidFill>
                <a:latin typeface="Times New Roman" pitchFamily="18" charset="0"/>
                <a:cs typeface="Times New Roman" pitchFamily="18" charset="0"/>
              </a:rPr>
              <a:t>3.   Код  SQL </a:t>
            </a:r>
            <a:r>
              <a:rPr lang="ru-RU" sz="1400" dirty="0">
                <a:latin typeface="Times New Roman" pitchFamily="18" charset="0"/>
                <a:cs typeface="Times New Roman" pitchFamily="18" charset="0"/>
              </a:rPr>
              <a:t>– код   создаваемого   запроса  на   языке T-SQL.  </a:t>
            </a:r>
          </a:p>
          <a:p>
            <a:r>
              <a:rPr lang="ru-RU" sz="1400" b="1" dirty="0">
                <a:solidFill>
                  <a:srgbClr val="C00000"/>
                </a:solidFill>
                <a:latin typeface="Times New Roman" pitchFamily="18" charset="0"/>
                <a:cs typeface="Times New Roman" pitchFamily="18" charset="0"/>
              </a:rPr>
              <a:t>4.   Результат </a:t>
            </a:r>
            <a:r>
              <a:rPr lang="ru-RU" sz="1400" dirty="0">
                <a:latin typeface="Times New Roman" pitchFamily="18" charset="0"/>
                <a:cs typeface="Times New Roman" pitchFamily="18" charset="0"/>
              </a:rPr>
              <a:t>– показывает   результат  запроса  после  его  выполнения.  </a:t>
            </a:r>
            <a:endParaRPr lang="ru-RU" sz="1400" dirty="0"/>
          </a:p>
          <a:p>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srcRect b="9136"/>
          <a:stretch>
            <a:fillRect/>
          </a:stretch>
        </p:blipFill>
        <p:spPr bwMode="auto">
          <a:xfrm>
            <a:off x="539552" y="332656"/>
            <a:ext cx="4392488" cy="3168352"/>
          </a:xfrm>
          <a:prstGeom prst="rect">
            <a:avLst/>
          </a:prstGeom>
          <a:noFill/>
          <a:ln w="9525">
            <a:noFill/>
            <a:miter lim="800000"/>
            <a:headEnd/>
            <a:tailEnd/>
          </a:ln>
        </p:spPr>
      </p:pic>
      <p:sp>
        <p:nvSpPr>
          <p:cNvPr id="3" name="TextBox 2"/>
          <p:cNvSpPr txBox="1"/>
          <p:nvPr/>
        </p:nvSpPr>
        <p:spPr>
          <a:xfrm>
            <a:off x="323528" y="3933056"/>
            <a:ext cx="8460432" cy="2462213"/>
          </a:xfrm>
          <a:prstGeom prst="rect">
            <a:avLst/>
          </a:prstGeom>
          <a:noFill/>
        </p:spPr>
        <p:txBody>
          <a:bodyPr wrap="square" rtlCol="0">
            <a:spAutoFit/>
          </a:bodyPr>
          <a:lstStyle/>
          <a:p>
            <a:r>
              <a:rPr lang="ru-RU" sz="1400" b="1" i="1" dirty="0">
                <a:solidFill>
                  <a:srgbClr val="C00000"/>
                </a:solidFill>
                <a:latin typeface="Times New Roman" pitchFamily="18" charset="0"/>
                <a:cs typeface="Times New Roman" pitchFamily="18" charset="0"/>
              </a:rPr>
              <a:t>Замечание:</a:t>
            </a:r>
            <a:r>
              <a:rPr lang="ru-RU" sz="1400" b="1" dirty="0">
                <a:solidFill>
                  <a:srgbClr val="C00000"/>
                </a:solidFill>
                <a:latin typeface="Times New Roman" pitchFamily="18" charset="0"/>
                <a:cs typeface="Times New Roman" pitchFamily="18" charset="0"/>
              </a:rPr>
              <a:t>   </a:t>
            </a:r>
            <a:r>
              <a:rPr lang="ru-RU" sz="1400" dirty="0">
                <a:latin typeface="Times New Roman" pitchFamily="18" charset="0"/>
                <a:cs typeface="Times New Roman" pitchFamily="18" charset="0"/>
              </a:rPr>
              <a:t>Если  необходимо  удалить  таблицу   или   запрос   из   схемы   данных,  то   для  этого нужно  щёлкнуть ПКМ и в появившемся  меню выбрать   пункт «Удалить». </a:t>
            </a:r>
          </a:p>
          <a:p>
            <a:r>
              <a:rPr lang="ru-RU" sz="1400" dirty="0">
                <a:latin typeface="Times New Roman" pitchFamily="18" charset="0"/>
                <a:cs typeface="Times New Roman" pitchFamily="18" charset="0"/>
              </a:rPr>
              <a:t> Теперь   перейдём  к  связыванию  таблиц  «</a:t>
            </a:r>
            <a:r>
              <a:rPr lang="ru-RU" sz="1400" b="1" dirty="0">
                <a:latin typeface="Times New Roman" pitchFamily="18" charset="0"/>
                <a:cs typeface="Times New Roman" pitchFamily="18" charset="0"/>
              </a:rPr>
              <a:t>студенты</a:t>
            </a:r>
            <a:r>
              <a:rPr lang="ru-RU" sz="1400" dirty="0">
                <a:latin typeface="Times New Roman" pitchFamily="18" charset="0"/>
                <a:cs typeface="Times New Roman" pitchFamily="18" charset="0"/>
              </a:rPr>
              <a:t>»  и «</a:t>
            </a:r>
            <a:r>
              <a:rPr lang="ru-RU" sz="1400" b="1" dirty="0">
                <a:latin typeface="Times New Roman" pitchFamily="18" charset="0"/>
                <a:cs typeface="Times New Roman" pitchFamily="18" charset="0"/>
              </a:rPr>
              <a:t>оценки</a:t>
            </a:r>
            <a:r>
              <a:rPr lang="ru-RU" sz="1400" dirty="0">
                <a:latin typeface="Times New Roman" pitchFamily="18" charset="0"/>
                <a:cs typeface="Times New Roman" pitchFamily="18" charset="0"/>
              </a:rPr>
              <a:t>»  по  полям  связи «</a:t>
            </a:r>
            <a:r>
              <a:rPr lang="ru-RU" sz="1400" b="1" dirty="0">
                <a:latin typeface="Times New Roman" pitchFamily="18" charset="0"/>
                <a:cs typeface="Times New Roman" pitchFamily="18" charset="0"/>
              </a:rPr>
              <a:t>номер</a:t>
            </a:r>
            <a:r>
              <a:rPr lang="ru-RU" sz="1400" dirty="0">
                <a:latin typeface="Times New Roman" pitchFamily="18" charset="0"/>
                <a:cs typeface="Times New Roman" pitchFamily="18" charset="0"/>
              </a:rPr>
              <a:t>». Чтобы   создать  связь  необходимо  в  схеме   данных  перетащить мышью  поле  «</a:t>
            </a:r>
            <a:r>
              <a:rPr lang="ru-RU" sz="1400" b="1" dirty="0">
                <a:latin typeface="Times New Roman" pitchFamily="18" charset="0"/>
                <a:cs typeface="Times New Roman" pitchFamily="18" charset="0"/>
              </a:rPr>
              <a:t>номер</a:t>
            </a:r>
            <a:r>
              <a:rPr lang="ru-RU" sz="1400" dirty="0">
                <a:latin typeface="Times New Roman" pitchFamily="18" charset="0"/>
                <a:cs typeface="Times New Roman" pitchFamily="18" charset="0"/>
              </a:rPr>
              <a:t>»  таблицы  «</a:t>
            </a:r>
            <a:r>
              <a:rPr lang="ru-RU" sz="1400" b="1" dirty="0">
                <a:latin typeface="Times New Roman" pitchFamily="18" charset="0"/>
                <a:cs typeface="Times New Roman" pitchFamily="18" charset="0"/>
              </a:rPr>
              <a:t>оценки</a:t>
            </a:r>
            <a:r>
              <a:rPr lang="ru-RU" sz="1400" dirty="0">
                <a:latin typeface="Times New Roman" pitchFamily="18" charset="0"/>
                <a:cs typeface="Times New Roman" pitchFamily="18" charset="0"/>
              </a:rPr>
              <a:t>»  на   такое  же  поле   таблицы   «</a:t>
            </a:r>
            <a:r>
              <a:rPr lang="ru-RU" sz="1400" b="1" dirty="0">
                <a:latin typeface="Times New Roman" pitchFamily="18" charset="0"/>
                <a:cs typeface="Times New Roman" pitchFamily="18" charset="0"/>
              </a:rPr>
              <a:t>студенты</a:t>
            </a:r>
            <a:r>
              <a:rPr lang="ru-RU" sz="1400" dirty="0">
                <a:latin typeface="Times New Roman" pitchFamily="18" charset="0"/>
                <a:cs typeface="Times New Roman" pitchFamily="18" charset="0"/>
              </a:rPr>
              <a:t>». Связь  отобразиться   в  виде линии   соединяющей   эти  два  поля   связи.  </a:t>
            </a:r>
          </a:p>
          <a:p>
            <a:r>
              <a:rPr lang="ru-RU" sz="1400" dirty="0">
                <a:latin typeface="Times New Roman" pitchFamily="18" charset="0"/>
                <a:cs typeface="Times New Roman" pitchFamily="18" charset="0"/>
              </a:rPr>
              <a:t> </a:t>
            </a:r>
            <a:r>
              <a:rPr lang="ru-RU" sz="1400" b="1" i="1" dirty="0">
                <a:solidFill>
                  <a:srgbClr val="C00000"/>
                </a:solidFill>
                <a:latin typeface="Times New Roman" pitchFamily="18" charset="0"/>
                <a:cs typeface="Times New Roman" pitchFamily="18" charset="0"/>
              </a:rPr>
              <a:t>Замечание:</a:t>
            </a:r>
            <a:r>
              <a:rPr lang="ru-RU" sz="1400" dirty="0">
                <a:latin typeface="Times New Roman" pitchFamily="18" charset="0"/>
                <a:cs typeface="Times New Roman" pitchFamily="18" charset="0"/>
              </a:rPr>
              <a:t>   Если  необходимо  удалить  связь,  то   для  этого  необходимо  щёлкнуть  по  ней ПКМ и в появившемся  меню выбрать  пункт «Удалить».  </a:t>
            </a:r>
          </a:p>
          <a:p>
            <a:r>
              <a:rPr lang="ru-RU" sz="1400" b="1" i="1" dirty="0">
                <a:solidFill>
                  <a:srgbClr val="C00000"/>
                </a:solidFill>
                <a:latin typeface="Times New Roman" pitchFamily="18" charset="0"/>
                <a:cs typeface="Times New Roman" pitchFamily="18" charset="0"/>
              </a:rPr>
              <a:t>Замечание:</a:t>
            </a:r>
            <a:r>
              <a:rPr lang="ru-RU" sz="1400" b="1" dirty="0">
                <a:solidFill>
                  <a:srgbClr val="C00000"/>
                </a:solidFill>
                <a:latin typeface="Times New Roman" pitchFamily="18" charset="0"/>
                <a:cs typeface="Times New Roman" pitchFamily="18" charset="0"/>
              </a:rPr>
              <a:t>   </a:t>
            </a:r>
            <a:r>
              <a:rPr lang="ru-RU" sz="1400" dirty="0">
                <a:latin typeface="Times New Roman" pitchFamily="18" charset="0"/>
                <a:cs typeface="Times New Roman" pitchFamily="18" charset="0"/>
              </a:rPr>
              <a:t>После  связывания   таблиц  (а   также   при   любых   изменениях  в  запросе)  в области кода  T-SQL  будет отображаться  T-SQL  код  редактируемого  запроса.  </a:t>
            </a:r>
          </a:p>
          <a:p>
            <a:endParaRPr lang="ru-RU" sz="14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cstate="print"/>
          <a:srcRect l="28657" t="12721" b="9136"/>
          <a:stretch>
            <a:fillRect/>
          </a:stretch>
        </p:blipFill>
        <p:spPr bwMode="auto">
          <a:xfrm>
            <a:off x="179512" y="332656"/>
            <a:ext cx="3764682" cy="3096344"/>
          </a:xfrm>
          <a:prstGeom prst="rect">
            <a:avLst/>
          </a:prstGeom>
          <a:noFill/>
          <a:ln w="9525">
            <a:noFill/>
            <a:miter lim="800000"/>
            <a:headEnd/>
            <a:tailEnd/>
          </a:ln>
        </p:spPr>
      </p:pic>
      <p:sp>
        <p:nvSpPr>
          <p:cNvPr id="10" name="TextBox 9"/>
          <p:cNvSpPr txBox="1"/>
          <p:nvPr/>
        </p:nvSpPr>
        <p:spPr>
          <a:xfrm>
            <a:off x="323528" y="3284984"/>
            <a:ext cx="8490658" cy="3323987"/>
          </a:xfrm>
          <a:prstGeom prst="rect">
            <a:avLst/>
          </a:prstGeom>
          <a:noFill/>
        </p:spPr>
        <p:txBody>
          <a:bodyPr wrap="square" rtlCol="0">
            <a:spAutoFit/>
          </a:bodyPr>
          <a:lstStyle/>
          <a:p>
            <a:r>
              <a:rPr lang="ru-RU" sz="1400" b="1" i="1" dirty="0">
                <a:solidFill>
                  <a:srgbClr val="C00000"/>
                </a:solidFill>
                <a:latin typeface="Times New Roman" pitchFamily="18" charset="0"/>
                <a:cs typeface="Times New Roman" pitchFamily="18" charset="0"/>
              </a:rPr>
              <a:t>Замечание:</a:t>
            </a:r>
            <a:r>
              <a:rPr lang="ru-RU" sz="1400" dirty="0">
                <a:solidFill>
                  <a:srgbClr val="C00000"/>
                </a:solidFill>
                <a:latin typeface="Times New Roman" pitchFamily="18" charset="0"/>
                <a:cs typeface="Times New Roman" pitchFamily="18" charset="0"/>
              </a:rPr>
              <a:t> </a:t>
            </a:r>
            <a:r>
              <a:rPr lang="ru-RU" sz="1400" dirty="0">
                <a:latin typeface="Times New Roman" pitchFamily="18" charset="0"/>
                <a:cs typeface="Times New Roman" pitchFamily="18" charset="0"/>
              </a:rPr>
              <a:t>  Если  необходимо  отобразить   все  поля   таблицы,  то   необходимо  установить  галочку  слева  от   пункта  «*  Все  поля»,  принадлежащего  соответствующей  таблице на  схеме  данных. </a:t>
            </a:r>
          </a:p>
          <a:p>
            <a:r>
              <a:rPr lang="ru-RU" sz="1400" dirty="0">
                <a:latin typeface="Times New Roman" pitchFamily="18" charset="0"/>
                <a:cs typeface="Times New Roman" pitchFamily="18" charset="0"/>
              </a:rPr>
              <a:t> Определите  отображаемые  поля   нашего  запроса,  как  это  показано   на   рисунке (Отображаются все поля  кроме  полей с  кодами,  то  есть  полей связи). </a:t>
            </a:r>
          </a:p>
          <a:p>
            <a:r>
              <a:rPr lang="ru-RU" sz="1400" dirty="0">
                <a:latin typeface="Times New Roman" pitchFamily="18" charset="0"/>
                <a:cs typeface="Times New Roman" pitchFamily="18" charset="0"/>
              </a:rPr>
              <a:t>На  этом   настройку  нового   запроса  можно   считать  законченной.  Перед  сохранением  запроса  проверим  его  работоспособность,  выполнив  его.   Для  запуска  запроса  на   панели  инструментов   нажмите   кнопку .  Либо  щёлкните  ПКМ  в  любом   месте  окна  конструктора   запросов   и  в  появившемся   меню  выберите  пункт «</a:t>
            </a:r>
            <a:r>
              <a:rPr lang="ru-RU" sz="1400" b="1" dirty="0">
                <a:latin typeface="Times New Roman" pitchFamily="18" charset="0"/>
                <a:cs typeface="Times New Roman" pitchFamily="18" charset="0"/>
              </a:rPr>
              <a:t>Выполнить код SQL</a:t>
            </a:r>
            <a:r>
              <a:rPr lang="ru-RU" sz="1400" dirty="0">
                <a:latin typeface="Times New Roman" pitchFamily="18" charset="0"/>
                <a:cs typeface="Times New Roman" pitchFamily="18" charset="0"/>
              </a:rPr>
              <a:t>».  Результат  выполнения  запроса  появиться  в  виде   таблицы   в  области  результата. </a:t>
            </a:r>
          </a:p>
          <a:p>
            <a:r>
              <a:rPr lang="ru-RU" sz="1400" dirty="0">
                <a:latin typeface="Times New Roman" pitchFamily="18" charset="0"/>
                <a:cs typeface="Times New Roman" pitchFamily="18" charset="0"/>
              </a:rPr>
              <a:t> </a:t>
            </a:r>
            <a:r>
              <a:rPr lang="ru-RU" sz="1400" b="1" i="1" dirty="0">
                <a:solidFill>
                  <a:srgbClr val="C00000"/>
                </a:solidFill>
                <a:latin typeface="Times New Roman" pitchFamily="18" charset="0"/>
                <a:cs typeface="Times New Roman" pitchFamily="18" charset="0"/>
              </a:rPr>
              <a:t>Замечание:</a:t>
            </a:r>
            <a:r>
              <a:rPr lang="ru-RU" sz="1400" b="1" dirty="0">
                <a:solidFill>
                  <a:srgbClr val="C00000"/>
                </a:solidFill>
                <a:latin typeface="Times New Roman" pitchFamily="18" charset="0"/>
                <a:cs typeface="Times New Roman" pitchFamily="18" charset="0"/>
              </a:rPr>
              <a:t>   </a:t>
            </a:r>
            <a:r>
              <a:rPr lang="ru-RU" sz="1400" dirty="0">
                <a:latin typeface="Times New Roman" pitchFamily="18" charset="0"/>
                <a:cs typeface="Times New Roman" pitchFamily="18" charset="0"/>
              </a:rPr>
              <a:t>Если  после  выполнения  запроса  результат  не   появился,  а  появилось сообщение   об  ошибке,  то   в  этом   случае   проверьте,  правильно  ли  создана  связь.  </a:t>
            </a:r>
          </a:p>
          <a:p>
            <a:r>
              <a:rPr lang="ru-RU" sz="1400" dirty="0">
                <a:latin typeface="Times New Roman" pitchFamily="18" charset="0"/>
                <a:cs typeface="Times New Roman" pitchFamily="18" charset="0"/>
              </a:rPr>
              <a:t> Если  запрос   выполняется  правильно,  то   необходимо  сохранить.  Для  сохранения  запроса  закройте   окно  конструктора   запросов,  щёлкнув  мышью  по  кнопке   закрытия , расположенной   в  верхнем   правом  углу   окна   конструктора  (над  схемой  данных). </a:t>
            </a:r>
          </a:p>
          <a:p>
            <a:r>
              <a:rPr lang="ru-RU" sz="1400" dirty="0">
                <a:latin typeface="Times New Roman" pitchFamily="18" charset="0"/>
                <a:cs typeface="Times New Roman" pitchFamily="18" charset="0"/>
              </a:rPr>
              <a:t>Появиться  окно с  вопросом о сохранении  запроса, сохранить как «</a:t>
            </a:r>
            <a:r>
              <a:rPr lang="ru-RU" sz="1400" b="1" dirty="0" err="1">
                <a:latin typeface="Times New Roman" pitchFamily="18" charset="0"/>
                <a:cs typeface="Times New Roman" pitchFamily="18" charset="0"/>
              </a:rPr>
              <a:t>запрос-сведения</a:t>
            </a:r>
            <a:r>
              <a:rPr lang="ru-RU" sz="1400" b="1" dirty="0">
                <a:latin typeface="Times New Roman" pitchFamily="18" charset="0"/>
                <a:cs typeface="Times New Roman" pitchFamily="18" charset="0"/>
              </a:rPr>
              <a:t> об учащихся</a:t>
            </a:r>
            <a:r>
              <a:rPr lang="ru-RU" sz="1400" dirty="0">
                <a:latin typeface="Times New Roman" pitchFamily="18" charset="0"/>
                <a:cs typeface="Times New Roman" pitchFamily="18" charset="0"/>
              </a:rPr>
              <a:t>»</a:t>
            </a:r>
          </a:p>
        </p:txBody>
      </p:sp>
      <p:sp>
        <p:nvSpPr>
          <p:cNvPr id="11" name="TextBox 10"/>
          <p:cNvSpPr txBox="1"/>
          <p:nvPr/>
        </p:nvSpPr>
        <p:spPr>
          <a:xfrm>
            <a:off x="4283969" y="692696"/>
            <a:ext cx="4608511" cy="2523768"/>
          </a:xfrm>
          <a:prstGeom prst="rect">
            <a:avLst/>
          </a:prstGeom>
          <a:noFill/>
        </p:spPr>
        <p:txBody>
          <a:bodyPr wrap="square" rtlCol="0">
            <a:spAutoFit/>
          </a:bodyPr>
          <a:lstStyle/>
          <a:p>
            <a:r>
              <a:rPr lang="ru-RU" sz="1400" dirty="0">
                <a:latin typeface="Times New Roman" pitchFamily="18" charset="0"/>
                <a:cs typeface="Times New Roman" pitchFamily="18" charset="0"/>
              </a:rPr>
              <a:t>Теперь   определим   поля,  отображаемые  при   выполнении  запроса.  Отображаемые поля   обозначаются   галочкой  (слева  от   имени   поля)  на   схеме   данных,  а   также  отображаются  в  таблице  отображаемых  полей.  </a:t>
            </a:r>
          </a:p>
          <a:p>
            <a:endParaRPr lang="ru-RU" sz="1400" b="1" i="1" dirty="0">
              <a:solidFill>
                <a:srgbClr val="C00000"/>
              </a:solidFill>
              <a:latin typeface="Times New Roman" pitchFamily="18" charset="0"/>
              <a:cs typeface="Times New Roman" pitchFamily="18" charset="0"/>
            </a:endParaRPr>
          </a:p>
          <a:p>
            <a:r>
              <a:rPr lang="ru-RU" sz="1400" b="1" i="1" dirty="0">
                <a:solidFill>
                  <a:srgbClr val="C00000"/>
                </a:solidFill>
                <a:latin typeface="Times New Roman" pitchFamily="18" charset="0"/>
                <a:cs typeface="Times New Roman" pitchFamily="18" charset="0"/>
              </a:rPr>
              <a:t>Замечание: </a:t>
            </a:r>
            <a:r>
              <a:rPr lang="ru-RU" sz="1400" dirty="0">
                <a:latin typeface="Times New Roman" pitchFamily="18" charset="0"/>
                <a:cs typeface="Times New Roman" pitchFamily="18" charset="0"/>
              </a:rPr>
              <a:t>Если  необходимо  сделать  поле   невидимым   при   выполнении  запроса,  то  нужно   убрать   галочку,  расположенную   слева  от   имени   поля   на   схеме   данных.  Для  этого просто  щёлкните мышью по галочке. </a:t>
            </a:r>
          </a:p>
          <a:p>
            <a:endParaRPr lang="ru-RU"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7544" y="620688"/>
            <a:ext cx="7992888" cy="584775"/>
          </a:xfrm>
          <a:prstGeom prst="rect">
            <a:avLst/>
          </a:prstGeom>
          <a:noFill/>
        </p:spPr>
        <p:txBody>
          <a:bodyPr wrap="square" rtlCol="0">
            <a:spAutoFit/>
          </a:bodyPr>
          <a:lstStyle/>
          <a:p>
            <a:pPr algn="ctr"/>
            <a:r>
              <a:rPr lang="ru-RU" sz="1600" dirty="0">
                <a:latin typeface="Times New Roman" pitchFamily="18" charset="0"/>
                <a:cs typeface="Times New Roman" pitchFamily="18" charset="0"/>
              </a:rPr>
              <a:t>Выполнить запрос «оценки по математики», с использованием фильтра.  </a:t>
            </a:r>
          </a:p>
          <a:p>
            <a:pPr algn="ctr"/>
            <a:r>
              <a:rPr lang="ru-RU" sz="1600" dirty="0">
                <a:latin typeface="Times New Roman" pitchFamily="18" charset="0"/>
                <a:cs typeface="Times New Roman" pitchFamily="18" charset="0"/>
              </a:rPr>
              <a:t>Вывести на экран учащихся (</a:t>
            </a:r>
            <a:r>
              <a:rPr lang="ru-RU" sz="1600" b="1" dirty="0">
                <a:solidFill>
                  <a:srgbClr val="C00000"/>
                </a:solidFill>
                <a:latin typeface="Times New Roman" pitchFamily="18" charset="0"/>
                <a:cs typeface="Times New Roman" pitchFamily="18" charset="0"/>
              </a:rPr>
              <a:t>фио</a:t>
            </a:r>
            <a:r>
              <a:rPr lang="ru-RU" sz="1600" dirty="0">
                <a:latin typeface="Times New Roman" pitchFamily="18" charset="0"/>
                <a:cs typeface="Times New Roman" pitchFamily="18" charset="0"/>
              </a:rPr>
              <a:t>), оценки по математики которых ( </a:t>
            </a:r>
            <a:r>
              <a:rPr lang="en-US" sz="1600" b="1" dirty="0">
                <a:solidFill>
                  <a:srgbClr val="C00000"/>
                </a:solidFill>
                <a:latin typeface="Times New Roman" pitchFamily="18" charset="0"/>
                <a:cs typeface="Times New Roman" pitchFamily="18" charset="0"/>
              </a:rPr>
              <a:t>&gt;3</a:t>
            </a:r>
            <a:r>
              <a:rPr lang="ru-RU" sz="1600" dirty="0">
                <a:latin typeface="Times New Roman" pitchFamily="18" charset="0"/>
                <a:cs typeface="Times New Roman" pitchFamily="18" charset="0"/>
              </a:rPr>
              <a:t>)</a:t>
            </a:r>
          </a:p>
        </p:txBody>
      </p:sp>
      <p:pic>
        <p:nvPicPr>
          <p:cNvPr id="5" name="Рисунок 4"/>
          <p:cNvPicPr/>
          <p:nvPr/>
        </p:nvPicPr>
        <p:blipFill>
          <a:blip r:embed="rId2" cstate="print"/>
          <a:srcRect b="8202"/>
          <a:stretch>
            <a:fillRect/>
          </a:stretch>
        </p:blipFill>
        <p:spPr bwMode="auto">
          <a:xfrm>
            <a:off x="1933575" y="1447800"/>
            <a:ext cx="5276850" cy="3637384"/>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AF10611-295B-431B-9C9A-22D261B4D059}"/>
              </a:ext>
            </a:extLst>
          </p:cNvPr>
          <p:cNvSpPr>
            <a:spLocks noGrp="1"/>
          </p:cNvSpPr>
          <p:nvPr>
            <p:ph type="title"/>
          </p:nvPr>
        </p:nvSpPr>
        <p:spPr>
          <a:xfrm>
            <a:off x="323528" y="274638"/>
            <a:ext cx="8424936" cy="778098"/>
          </a:xfrm>
        </p:spPr>
        <p:txBody>
          <a:bodyPr>
            <a:noAutofit/>
          </a:bodyPr>
          <a:lstStyle/>
          <a:p>
            <a:r>
              <a:rPr lang="ru-RU" sz="2000" b="1" dirty="0">
                <a:solidFill>
                  <a:srgbClr val="FF0000"/>
                </a:solidFill>
                <a:latin typeface="Times New Roman" pitchFamily="18" charset="0"/>
                <a:cs typeface="Times New Roman" pitchFamily="18" charset="0"/>
              </a:rPr>
              <a:t>Выполнить запрос на </a:t>
            </a:r>
            <a:r>
              <a:rPr lang="en-US" sz="2000" b="1" dirty="0">
                <a:solidFill>
                  <a:srgbClr val="FF0000"/>
                </a:solidFill>
                <a:latin typeface="Times New Roman" pitchFamily="18" charset="0"/>
                <a:cs typeface="Times New Roman" pitchFamily="18" charset="0"/>
              </a:rPr>
              <a:t>T-SQL </a:t>
            </a:r>
            <a:r>
              <a:rPr lang="ru-RU" sz="2000" b="1" dirty="0">
                <a:solidFill>
                  <a:srgbClr val="FF0000"/>
                </a:solidFill>
                <a:latin typeface="Times New Roman" pitchFamily="18" charset="0"/>
                <a:cs typeface="Times New Roman" pitchFamily="18" charset="0"/>
              </a:rPr>
              <a:t>«фио</a:t>
            </a:r>
            <a:r>
              <a:rPr lang="en-US" sz="2000" b="1" dirty="0">
                <a:solidFill>
                  <a:srgbClr val="FF0000"/>
                </a:solidFill>
                <a:latin typeface="Times New Roman" pitchFamily="18" charset="0"/>
                <a:cs typeface="Times New Roman" pitchFamily="18" charset="0"/>
              </a:rPr>
              <a:t> </a:t>
            </a:r>
            <a:r>
              <a:rPr lang="ru-RU" sz="2000" b="1" dirty="0">
                <a:solidFill>
                  <a:srgbClr val="FF0000"/>
                </a:solidFill>
                <a:latin typeface="Times New Roman" pitchFamily="18" charset="0"/>
                <a:cs typeface="Times New Roman" pitchFamily="18" charset="0"/>
              </a:rPr>
              <a:t>+</a:t>
            </a:r>
            <a:r>
              <a:rPr lang="en-US" sz="2000" b="1" dirty="0">
                <a:solidFill>
                  <a:srgbClr val="FF0000"/>
                </a:solidFill>
                <a:latin typeface="Times New Roman" pitchFamily="18" charset="0"/>
                <a:cs typeface="Times New Roman" pitchFamily="18" charset="0"/>
              </a:rPr>
              <a:t> </a:t>
            </a:r>
            <a:r>
              <a:rPr lang="ru-RU" sz="2000" b="1" dirty="0">
                <a:solidFill>
                  <a:srgbClr val="FF0000"/>
                </a:solidFill>
                <a:latin typeface="Times New Roman" pitchFamily="18" charset="0"/>
                <a:cs typeface="Times New Roman" pitchFamily="18" charset="0"/>
              </a:rPr>
              <a:t>стипендия»</a:t>
            </a:r>
            <a:endParaRPr lang="ru-RU" sz="2000" b="1" dirty="0">
              <a:solidFill>
                <a:srgbClr val="FF0000"/>
              </a:solidFill>
            </a:endParaRPr>
          </a:p>
        </p:txBody>
      </p:sp>
      <p:pic>
        <p:nvPicPr>
          <p:cNvPr id="3" name="Рисунок 2">
            <a:extLst>
              <a:ext uri="{FF2B5EF4-FFF2-40B4-BE49-F238E27FC236}">
                <a16:creationId xmlns:a16="http://schemas.microsoft.com/office/drawing/2014/main" id="{ADE872BD-8AF9-47D9-9301-11A50E69F34C}"/>
              </a:ext>
            </a:extLst>
          </p:cNvPr>
          <p:cNvPicPr/>
          <p:nvPr/>
        </p:nvPicPr>
        <p:blipFill rotWithShape="1">
          <a:blip r:embed="rId2" cstate="print">
            <a:extLst>
              <a:ext uri="{28A0092B-C50C-407E-A947-70E740481C1C}">
                <a14:useLocalDpi xmlns:a14="http://schemas.microsoft.com/office/drawing/2010/main" val="0"/>
              </a:ext>
            </a:extLst>
          </a:blip>
          <a:srcRect t="13654" b="8203"/>
          <a:stretch/>
        </p:blipFill>
        <p:spPr bwMode="auto">
          <a:xfrm>
            <a:off x="1043608" y="1982342"/>
            <a:ext cx="7128792" cy="4601019"/>
          </a:xfrm>
          <a:prstGeom prst="rect">
            <a:avLst/>
          </a:prstGeom>
          <a:noFill/>
          <a:ln>
            <a:noFill/>
          </a:ln>
        </p:spPr>
      </p:pic>
      <p:sp>
        <p:nvSpPr>
          <p:cNvPr id="4" name="TextBox 3"/>
          <p:cNvSpPr txBox="1"/>
          <p:nvPr/>
        </p:nvSpPr>
        <p:spPr>
          <a:xfrm>
            <a:off x="971600" y="1196752"/>
            <a:ext cx="7926081" cy="523220"/>
          </a:xfrm>
          <a:prstGeom prst="rect">
            <a:avLst/>
          </a:prstGeom>
          <a:noFill/>
        </p:spPr>
        <p:txBody>
          <a:bodyPr wrap="none" rtlCol="0">
            <a:spAutoFit/>
          </a:bodyPr>
          <a:lstStyle/>
          <a:p>
            <a:r>
              <a:rPr lang="en-US" sz="2800" b="1" dirty="0">
                <a:solidFill>
                  <a:schemeClr val="accent2">
                    <a:lumMod val="50000"/>
                  </a:schemeClr>
                </a:solidFill>
              </a:rPr>
              <a:t>select</a:t>
            </a:r>
            <a:r>
              <a:rPr lang="en-US" sz="2800" b="1" dirty="0"/>
              <a:t> </a:t>
            </a:r>
            <a:r>
              <a:rPr lang="ru-RU" sz="2800" b="1" dirty="0"/>
              <a:t>фио, стипендия </a:t>
            </a:r>
            <a:r>
              <a:rPr lang="en-US" sz="2800" b="1" dirty="0">
                <a:solidFill>
                  <a:schemeClr val="accent2">
                    <a:lumMod val="50000"/>
                  </a:schemeClr>
                </a:solidFill>
              </a:rPr>
              <a:t>from</a:t>
            </a:r>
            <a:r>
              <a:rPr lang="en-US" sz="2800" b="1" dirty="0"/>
              <a:t> student.dbo.</a:t>
            </a:r>
            <a:r>
              <a:rPr lang="ru-RU" sz="2800" b="1" dirty="0"/>
              <a:t>студенты</a:t>
            </a:r>
          </a:p>
        </p:txBody>
      </p:sp>
    </p:spTree>
    <p:extLst>
      <p:ext uri="{BB962C8B-B14F-4D97-AF65-F5344CB8AC3E}">
        <p14:creationId xmlns:p14="http://schemas.microsoft.com/office/powerpoint/2010/main" val="3275359294"/>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3485</TotalTime>
  <Words>2804</Words>
  <Application>Microsoft Office PowerPoint</Application>
  <PresentationFormat>Экран (4:3)</PresentationFormat>
  <Paragraphs>140</Paragraphs>
  <Slides>22</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22</vt:i4>
      </vt:variant>
    </vt:vector>
  </HeadingPairs>
  <TitlesOfParts>
    <vt:vector size="27" baseType="lpstr">
      <vt:lpstr>Arial</vt:lpstr>
      <vt:lpstr>Calibri</vt:lpstr>
      <vt:lpstr>Comic Sans MS</vt:lpstr>
      <vt:lpstr>Times New Roman</vt:lpstr>
      <vt:lpstr>Тема Office</vt:lpstr>
      <vt:lpstr>Презентация PowerPoint</vt:lpstr>
      <vt:lpstr>Microsoft SQL Server</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Выполнить запрос на T-SQL «фио + стипендия»</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Admin</dc:creator>
  <cp:lastModifiedBy>teacher</cp:lastModifiedBy>
  <cp:revision>171</cp:revision>
  <dcterms:created xsi:type="dcterms:W3CDTF">2021-03-22T08:58:18Z</dcterms:created>
  <dcterms:modified xsi:type="dcterms:W3CDTF">2026-09-04T07:18:53Z</dcterms:modified>
</cp:coreProperties>
</file>