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46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884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46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34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61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850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32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54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30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721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323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08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856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020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057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220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231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565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8642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1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0008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5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44589-74FB-473E-849D-8C0658E24705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DEE16-A845-485C-BBE1-4CB8B04833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57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BD76E-201E-4D31-B58E-7942D47870F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25.09.2026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F992B-D58A-48A2-AF67-35F97E06A22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38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microsoft.com/ru-ru/sql/ssms/download-sql-server-management-studio-ssms" TargetMode="Externa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/>
          <p:cNvCxnSpPr/>
          <p:nvPr/>
        </p:nvCxnSpPr>
        <p:spPr>
          <a:xfrm>
            <a:off x="450850" y="2624138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1" name="Заголовок 1"/>
          <p:cNvSpPr txBox="1">
            <a:spLocks/>
          </p:cNvSpPr>
          <p:nvPr/>
        </p:nvSpPr>
        <p:spPr bwMode="auto">
          <a:xfrm>
            <a:off x="863600" y="516335"/>
            <a:ext cx="10371138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ru-RU" altLang="ru-RU" sz="4400" b="1" dirty="0">
                <a:solidFill>
                  <a:prstClr val="black"/>
                </a:solidFill>
                <a:latin typeface="Calibri Light" panose="020F0302020204030204" pitchFamily="34" charset="0"/>
              </a:rPr>
              <a:t>ОТКРЫТЫЕ ИНФОРМАЦИОННЫЕ СИСТЕМЫ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50850" y="3124199"/>
            <a:ext cx="8078788" cy="1712913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prstClr val="black"/>
                </a:solidFill>
              </a:rPr>
              <a:t>Проектирование концепции открытых систем</a:t>
            </a:r>
          </a:p>
          <a:p>
            <a:r>
              <a:rPr lang="en-US" sz="5400" dirty="0">
                <a:solidFill>
                  <a:prstClr val="black"/>
                </a:solidFill>
              </a:rPr>
              <a:t>MS SQL Server Management Studio </a:t>
            </a:r>
            <a:endParaRPr lang="ru-RU" sz="5400" b="1" dirty="0">
              <a:solidFill>
                <a:prstClr val="black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761" y="3980656"/>
            <a:ext cx="3729369" cy="261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1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87204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Установка </a:t>
            </a:r>
            <a:r>
              <a:rPr lang="en-US" sz="3200" b="1" dirty="0">
                <a:solidFill>
                  <a:prstClr val="black"/>
                </a:solidFill>
              </a:rPr>
              <a:t>SQL Server Management Studio</a:t>
            </a:r>
            <a:r>
              <a:rPr lang="en-US" sz="3200" dirty="0">
                <a:solidFill>
                  <a:prstClr val="black"/>
                </a:solidFill>
              </a:rPr>
              <a:t> (SSMS)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838195" y="993379"/>
            <a:ext cx="95670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Verdana" panose="020B0604030504040204" pitchFamily="34" charset="0"/>
              </a:rPr>
              <a:t>SQL Server Management Studio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 (SSMS)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 – утилита администрирования, </a:t>
            </a:r>
          </a:p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предназначена для формирования структуры БД, выполнения запросов и т.п.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4314" y="1724106"/>
            <a:ext cx="10866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00006D"/>
                </a:solidFill>
                <a:latin typeface="Verdana" panose="020B0604030504040204" pitchFamily="34" charset="0"/>
                <a:hlinkClick r:id="rId2"/>
              </a:rPr>
              <a:t>https://docs.microsoft.com/ru-ru/sql/ssms/download-sql-server-management-studio-ssms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35" y="2093438"/>
            <a:ext cx="7596309" cy="4850655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 flipV="1">
            <a:off x="4214191" y="4479235"/>
            <a:ext cx="849524" cy="53008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79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19100" y="950463"/>
            <a:ext cx="7581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После загрузки запустить программу установки SSMS: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3483" y="139542"/>
            <a:ext cx="87204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Установка </a:t>
            </a:r>
            <a:r>
              <a:rPr lang="en-US" sz="3200" b="1" dirty="0">
                <a:solidFill>
                  <a:prstClr val="black"/>
                </a:solidFill>
              </a:rPr>
              <a:t>SQL Server Management Studio</a:t>
            </a:r>
            <a:r>
              <a:rPr lang="en-US" sz="3200" dirty="0">
                <a:solidFill>
                  <a:prstClr val="black"/>
                </a:solidFill>
              </a:rPr>
              <a:t> (SSMS)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116" y="1545941"/>
            <a:ext cx="6510227" cy="484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2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0872" y="918393"/>
            <a:ext cx="111034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После установки найдем 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SQL Server Management Studio 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в меню Пуск среди установленных программ в подпункте </a:t>
            </a:r>
            <a:r>
              <a:rPr lang="en-US" b="1" dirty="0">
                <a:solidFill>
                  <a:prstClr val="black"/>
                </a:solidFill>
                <a:latin typeface="Verdana" panose="020B0604030504040204" pitchFamily="34" charset="0"/>
              </a:rPr>
              <a:t>Microsoft SQL Server Tools 2017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: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3483" y="139542"/>
            <a:ext cx="81213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Запуск </a:t>
            </a:r>
            <a:r>
              <a:rPr lang="en-US" sz="3200" b="1" dirty="0">
                <a:solidFill>
                  <a:prstClr val="black"/>
                </a:solidFill>
              </a:rPr>
              <a:t>SQL Server Management Studio</a:t>
            </a:r>
            <a:r>
              <a:rPr lang="en-US" sz="3200" dirty="0">
                <a:solidFill>
                  <a:prstClr val="black"/>
                </a:solidFill>
              </a:rPr>
              <a:t> (SSMS)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05" y="1758800"/>
            <a:ext cx="4660220" cy="4851121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4272148" y="2690687"/>
            <a:ext cx="3400378" cy="509713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42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22515" y="870268"/>
            <a:ext cx="9846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Вначале нам будет предложено подключиться к нужному серверу.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3483" y="139542"/>
            <a:ext cx="81213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Запуск </a:t>
            </a:r>
            <a:r>
              <a:rPr lang="en-US" sz="3200" b="1" dirty="0">
                <a:solidFill>
                  <a:prstClr val="black"/>
                </a:solidFill>
              </a:rPr>
              <a:t>SQL Server Management Studio</a:t>
            </a:r>
            <a:r>
              <a:rPr lang="en-US" sz="3200" dirty="0">
                <a:solidFill>
                  <a:prstClr val="black"/>
                </a:solidFill>
              </a:rPr>
              <a:t> (SSMS)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06" y="1385552"/>
            <a:ext cx="6344011" cy="419882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152" y="1239600"/>
            <a:ext cx="6529962" cy="5351519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/>
        </p:nvSpPr>
        <p:spPr>
          <a:xfrm>
            <a:off x="4508152" y="1962390"/>
            <a:ext cx="1664048" cy="509713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954752" y="3384090"/>
            <a:ext cx="1664048" cy="509713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09" y="0"/>
            <a:ext cx="10460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9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62608" y="820483"/>
            <a:ext cx="104559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после успешного подключения программа откроет содержимое сервера - все его базы данных и другие компоненты: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3483" y="139542"/>
            <a:ext cx="81213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Запуск </a:t>
            </a:r>
            <a:r>
              <a:rPr lang="en-US" sz="3200" b="1" dirty="0">
                <a:solidFill>
                  <a:prstClr val="black"/>
                </a:solidFill>
              </a:rPr>
              <a:t>SQL Server Management Studio</a:t>
            </a:r>
            <a:r>
              <a:rPr lang="en-US" sz="3200" dirty="0">
                <a:solidFill>
                  <a:prstClr val="black"/>
                </a:solidFill>
              </a:rPr>
              <a:t> (SSMS)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464" y="1562980"/>
            <a:ext cx="4599624" cy="499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08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43408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базы данных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990600" y="1398538"/>
            <a:ext cx="10007600" cy="2544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Таблицы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: хранят собственно данные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Представления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 (</a:t>
            </a:r>
            <a:r>
              <a:rPr lang="ru-RU" dirty="0" err="1">
                <a:solidFill>
                  <a:prstClr val="black"/>
                </a:solidFill>
                <a:latin typeface="Verdana" panose="020B0604030504040204" pitchFamily="34" charset="0"/>
              </a:rPr>
              <a:t>Views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): выражения языка SQL, которые возвращают набор данных в виде таблицы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Хранимые процедуры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: выполняют код на языке SQL по отношению к данным к БД (например, получает данные или изменяет их)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Verdana" panose="020B0604030504040204" pitchFamily="34" charset="0"/>
              </a:rPr>
              <a:t>BLOB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-поля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: данные в формате больших двоичных данных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Иные метаданные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…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3483" y="863600"/>
            <a:ext cx="4135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prstClr val="black"/>
                </a:solidFill>
              </a:rPr>
              <a:t>В состав БД входят:</a:t>
            </a:r>
          </a:p>
        </p:txBody>
      </p:sp>
    </p:spTree>
    <p:extLst>
      <p:ext uri="{BB962C8B-B14F-4D97-AF65-F5344CB8AC3E}">
        <p14:creationId xmlns:p14="http://schemas.microsoft.com/office/powerpoint/2010/main" val="246157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46241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Системные базы данных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703483" y="916434"/>
            <a:ext cx="1016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эти базы можно увидеть через 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SQL Server Management Studio </a:t>
            </a:r>
            <a:endParaRPr lang="ru-RU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в узле </a:t>
            </a:r>
            <a:r>
              <a:rPr lang="en-US" b="1" dirty="0">
                <a:solidFill>
                  <a:prstClr val="black"/>
                </a:solidFill>
                <a:latin typeface="Verdana" panose="020B0604030504040204" pitchFamily="34" charset="0"/>
              </a:rPr>
              <a:t>Databases -&gt; System Databases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: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468" y="1332364"/>
            <a:ext cx="4385530" cy="5314122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500990" y="2232367"/>
            <a:ext cx="2344892" cy="153125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006" y="2040835"/>
            <a:ext cx="6232811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prstClr val="black"/>
                </a:solidFill>
              </a:rPr>
              <a:t>master</a:t>
            </a:r>
            <a:r>
              <a:rPr lang="ru-RU" sz="2000" dirty="0">
                <a:solidFill>
                  <a:prstClr val="black"/>
                </a:solidFill>
              </a:rPr>
              <a:t>: главная база данных сервера, хранит все используемые логины пользователей сервера, их роли, различные конфигурационные настройки, имена и информацию о базах данных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prstClr val="black"/>
                </a:solidFill>
              </a:rPr>
              <a:t>model</a:t>
            </a:r>
            <a:r>
              <a:rPr lang="ru-RU" sz="2000" dirty="0">
                <a:solidFill>
                  <a:prstClr val="black"/>
                </a:solidFill>
              </a:rPr>
              <a:t>: база данных представляет шаблон, на основе которого создаются другие базы данных.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prstClr val="black"/>
                </a:solidFill>
              </a:rPr>
              <a:t>msdb</a:t>
            </a:r>
            <a:r>
              <a:rPr lang="ru-RU" sz="2000" dirty="0">
                <a:solidFill>
                  <a:prstClr val="black"/>
                </a:solidFill>
              </a:rPr>
              <a:t>: хранит информацию о работе, выполняемой таким компонентом как планировщик SQL. Также она хранит информацию о </a:t>
            </a:r>
            <a:r>
              <a:rPr lang="ru-RU" sz="2000" dirty="0" err="1">
                <a:solidFill>
                  <a:prstClr val="black"/>
                </a:solidFill>
              </a:rPr>
              <a:t>бекапах</a:t>
            </a:r>
            <a:r>
              <a:rPr lang="ru-RU" sz="2000" dirty="0">
                <a:solidFill>
                  <a:prstClr val="black"/>
                </a:solidFill>
              </a:rPr>
              <a:t> баз данных.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prstClr val="black"/>
                </a:solidFill>
              </a:rPr>
              <a:t>tempdb</a:t>
            </a:r>
            <a:r>
              <a:rPr lang="ru-RU" sz="2000" dirty="0">
                <a:solidFill>
                  <a:prstClr val="black"/>
                </a:solidFill>
              </a:rPr>
              <a:t>: база данных используется как хранилище для временных объектов. Она заново пересоздается при каждом запуске сервера.</a:t>
            </a:r>
          </a:p>
        </p:txBody>
      </p:sp>
    </p:spTree>
    <p:extLst>
      <p:ext uri="{BB962C8B-B14F-4D97-AF65-F5344CB8AC3E}">
        <p14:creationId xmlns:p14="http://schemas.microsoft.com/office/powerpoint/2010/main" val="41436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8941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базы данных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274006" y="916434"/>
            <a:ext cx="11529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Открыть 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SQL Server Management Studio 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и нажмем правой кнопкой мыши на узел </a:t>
            </a:r>
            <a:r>
              <a:rPr lang="en-US" b="1" dirty="0">
                <a:solidFill>
                  <a:prstClr val="black"/>
                </a:solidFill>
                <a:latin typeface="Verdana" panose="020B0604030504040204" pitchFamily="34" charset="0"/>
              </a:rPr>
              <a:t>Databases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. 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Затем в появившемся контекстном меню выберем пункт </a:t>
            </a:r>
            <a:r>
              <a:rPr lang="en-US" b="1" dirty="0">
                <a:solidFill>
                  <a:prstClr val="black"/>
                </a:solidFill>
                <a:latin typeface="Verdana" panose="020B0604030504040204" pitchFamily="34" charset="0"/>
              </a:rPr>
              <a:t>New Database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: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83" y="1816437"/>
            <a:ext cx="4961389" cy="439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5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8941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базы данных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424069" y="870268"/>
            <a:ext cx="83621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После этого открывается окно для создания базы данных: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05" y="1239600"/>
            <a:ext cx="8698869" cy="5145809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4799891" y="1732907"/>
            <a:ext cx="2344892" cy="153125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628290" y="417845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После ввода названия базы данных нажмем на кнопку ОК, и </a:t>
            </a:r>
            <a:r>
              <a:rPr lang="ru-RU" dirty="0" err="1">
                <a:solidFill>
                  <a:prstClr val="black"/>
                </a:solidFill>
                <a:latin typeface="Verdana" panose="020B0604030504040204" pitchFamily="34" charset="0"/>
              </a:rPr>
              <a:t>бд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 будет создана.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84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835" y="0"/>
            <a:ext cx="4704330" cy="6858000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3969122" y="2974304"/>
            <a:ext cx="3400948" cy="45469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18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102840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таблиц  базы данных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473991" y="777935"/>
            <a:ext cx="107430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раскрыть узел базы данных 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university 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в 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SQL Server Management Studio, 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нажать на его </a:t>
            </a:r>
            <a:r>
              <a:rPr lang="ru-RU" dirty="0" err="1">
                <a:solidFill>
                  <a:prstClr val="black"/>
                </a:solidFill>
                <a:latin typeface="Verdana" panose="020B0604030504040204" pitchFamily="34" charset="0"/>
              </a:rPr>
              <a:t>подузел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Verdana" panose="020B0604030504040204" pitchFamily="34" charset="0"/>
              </a:rPr>
              <a:t>Tables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 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правой кнопкой мыши и далее в </a:t>
            </a:r>
            <a:r>
              <a:rPr lang="ru-RU" dirty="0" err="1">
                <a:solidFill>
                  <a:prstClr val="black"/>
                </a:solidFill>
                <a:latin typeface="Verdana" panose="020B0604030504040204" pitchFamily="34" charset="0"/>
              </a:rPr>
              <a:t>контексто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 меню выбрать </a:t>
            </a:r>
            <a:r>
              <a:rPr lang="en-US" b="1" dirty="0">
                <a:solidFill>
                  <a:prstClr val="black"/>
                </a:solidFill>
                <a:latin typeface="Verdana" panose="020B0604030504040204" pitchFamily="34" charset="0"/>
              </a:rPr>
              <a:t>New -&gt; Table...</a:t>
            </a:r>
            <a:r>
              <a:rPr lang="en-US" dirty="0">
                <a:solidFill>
                  <a:prstClr val="black"/>
                </a:solidFill>
                <a:latin typeface="Verdana" panose="020B0604030504040204" pitchFamily="34" charset="0"/>
              </a:rPr>
              <a:t>: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17" y="1460648"/>
            <a:ext cx="6577239" cy="53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8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03483" y="139542"/>
            <a:ext cx="102840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таблиц  базы данных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264"/>
            <a:ext cx="12192000" cy="31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32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102840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таблиц  базы данных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34" y="914400"/>
            <a:ext cx="9559010" cy="5943600"/>
          </a:xfrm>
          <a:prstGeom prst="rect">
            <a:avLst/>
          </a:prstGeom>
        </p:spPr>
      </p:pic>
      <p:sp>
        <p:nvSpPr>
          <p:cNvPr id="5" name="Скругленный прямоугольник 4"/>
          <p:cNvSpPr/>
          <p:nvPr/>
        </p:nvSpPr>
        <p:spPr>
          <a:xfrm>
            <a:off x="2796209" y="2358887"/>
            <a:ext cx="4573861" cy="1669774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513983" y="4218744"/>
            <a:ext cx="2438400" cy="536713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59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54157" y="854879"/>
            <a:ext cx="10033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Для установки первичного ключа нажмем на столбец </a:t>
            </a:r>
            <a:r>
              <a:rPr lang="ru-RU" dirty="0" err="1">
                <a:solidFill>
                  <a:prstClr val="black"/>
                </a:solidFill>
                <a:latin typeface="Verdana" panose="020B0604030504040204" pitchFamily="34" charset="0"/>
              </a:rPr>
              <a:t>Id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 правой кнопкой мыши и в появившемся меню выберем пункт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</a:rPr>
              <a:t>Set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</a:rPr>
              <a:t>Primary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 Key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.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3483" y="139542"/>
            <a:ext cx="102840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таблиц  базы данных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57" y="1631772"/>
            <a:ext cx="5260167" cy="4844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1861" y="2491409"/>
            <a:ext cx="50358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prstClr val="black"/>
                </a:solidFill>
              </a:rPr>
              <a:t>После этого напротив поля </a:t>
            </a:r>
            <a:r>
              <a:rPr lang="ru-RU" sz="2400" dirty="0" err="1">
                <a:solidFill>
                  <a:prstClr val="black"/>
                </a:solidFill>
              </a:rPr>
              <a:t>Id</a:t>
            </a:r>
            <a:r>
              <a:rPr lang="ru-RU" sz="2400" dirty="0">
                <a:solidFill>
                  <a:prstClr val="black"/>
                </a:solidFill>
              </a:rPr>
              <a:t> должен появиться «золотой ключ». </a:t>
            </a:r>
          </a:p>
          <a:p>
            <a:endParaRPr lang="ru-RU" sz="2400" dirty="0">
              <a:solidFill>
                <a:prstClr val="black"/>
              </a:solidFill>
            </a:endParaRPr>
          </a:p>
          <a:p>
            <a:r>
              <a:rPr lang="ru-RU" sz="2400" dirty="0">
                <a:solidFill>
                  <a:prstClr val="black"/>
                </a:solidFill>
              </a:rPr>
              <a:t>Этот ключ указывает, что столбец </a:t>
            </a:r>
            <a:r>
              <a:rPr lang="ru-RU" sz="2400" dirty="0" err="1">
                <a:solidFill>
                  <a:prstClr val="black"/>
                </a:solidFill>
              </a:rPr>
              <a:t>Id</a:t>
            </a:r>
            <a:r>
              <a:rPr lang="ru-RU" sz="2400" dirty="0">
                <a:solidFill>
                  <a:prstClr val="black"/>
                </a:solidFill>
              </a:rPr>
              <a:t> выполняет роль первичного ключа.</a:t>
            </a:r>
          </a:p>
          <a:p>
            <a:endParaRPr lang="ru-RU" sz="2400" dirty="0">
              <a:solidFill>
                <a:prstClr val="black"/>
              </a:solidFill>
            </a:endParaRPr>
          </a:p>
          <a:p>
            <a:r>
              <a:rPr lang="ru-RU" sz="2400" dirty="0">
                <a:solidFill>
                  <a:prstClr val="black"/>
                </a:solidFill>
              </a:rPr>
              <a:t>И после сохранения в базе данных </a:t>
            </a:r>
            <a:r>
              <a:rPr lang="ru-RU" sz="2400" dirty="0" err="1">
                <a:solidFill>
                  <a:prstClr val="black"/>
                </a:solidFill>
              </a:rPr>
              <a:t>university</a:t>
            </a:r>
            <a:r>
              <a:rPr lang="ru-RU" sz="2400" dirty="0">
                <a:solidFill>
                  <a:prstClr val="black"/>
                </a:solidFill>
              </a:rPr>
              <a:t> появится таблица </a:t>
            </a:r>
            <a:r>
              <a:rPr lang="ru-RU" sz="2400" dirty="0" err="1">
                <a:solidFill>
                  <a:prstClr val="black"/>
                </a:solidFill>
              </a:rPr>
              <a:t>Students</a:t>
            </a:r>
            <a:endParaRPr lang="ru-R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383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555" y="0"/>
            <a:ext cx="6036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38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447"/>
            <a:ext cx="12192000" cy="620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93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6307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Запросы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28725"/>
            <a:ext cx="6718852" cy="285304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09455" y="4470809"/>
            <a:ext cx="9752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После этого в центральной части программы откроется окно для ввода команд языка SQL.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r="14901" b="-1494"/>
          <a:stretch/>
        </p:blipFill>
        <p:spPr>
          <a:xfrm>
            <a:off x="703483" y="5506182"/>
            <a:ext cx="10375334" cy="40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96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387"/>
            <a:ext cx="12192000" cy="603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66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8941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базы данных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000125"/>
            <a:ext cx="6018143" cy="28419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83" y="4250796"/>
            <a:ext cx="10336696" cy="174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63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8499"/>
            <a:ext cx="12192000" cy="534865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03483" y="139542"/>
            <a:ext cx="8941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базы данных в SQL </a:t>
            </a:r>
            <a:r>
              <a:rPr lang="ru-RU" sz="3200" b="1" dirty="0" err="1">
                <a:solidFill>
                  <a:prstClr val="black"/>
                </a:solidFill>
              </a:rPr>
              <a:t>Management</a:t>
            </a:r>
            <a:r>
              <a:rPr lang="ru-RU" sz="3200" b="1" dirty="0">
                <a:solidFill>
                  <a:prstClr val="black"/>
                </a:solidFill>
              </a:rPr>
              <a:t> </a:t>
            </a:r>
            <a:r>
              <a:rPr lang="ru-RU" sz="3200" b="1" dirty="0" err="1">
                <a:solidFill>
                  <a:prstClr val="black"/>
                </a:solidFill>
              </a:rPr>
              <a:t>Studio</a:t>
            </a:r>
            <a:endParaRPr lang="ru-RU" sz="3200" b="1" dirty="0">
              <a:solidFill>
                <a:prstClr val="black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93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5267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Прикрепление базы данных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703483" y="917139"/>
            <a:ext cx="107066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Файл базы данных представляет файл с расширением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</a:rPr>
              <a:t>mdf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, и этот файл можно переносить. Однако если скопировать его компьютер с установленным MS SQL </a:t>
            </a:r>
            <a:r>
              <a:rPr lang="ru-RU" dirty="0" err="1">
                <a:solidFill>
                  <a:prstClr val="black"/>
                </a:solidFill>
                <a:latin typeface="Verdana" panose="020B0604030504040204" pitchFamily="34" charset="0"/>
              </a:rPr>
              <a:t>Server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, просто так скопированная база данных на сервере не появится. </a:t>
            </a:r>
          </a:p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Для этого необходимо 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выполнить прикрепление базы данных к серверу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. 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198" y="2506362"/>
            <a:ext cx="12192000" cy="110315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198" y="4231100"/>
            <a:ext cx="12192000" cy="116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53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3483" y="139542"/>
            <a:ext cx="43398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Удаление базы данных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703483" y="916434"/>
            <a:ext cx="1005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Для удаления базы данных применяется команда 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DROP DATABASE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, которая имеет следующий синтаксис: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2" y="1754882"/>
            <a:ext cx="12192000" cy="44464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2" y="2654885"/>
            <a:ext cx="12192000" cy="4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5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680"/>
            <a:ext cx="12192000" cy="301230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03483" y="139542"/>
            <a:ext cx="57765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Создание таблиц  базы данных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74006" y="654825"/>
            <a:ext cx="11396663" cy="7937"/>
          </a:xfrm>
          <a:prstGeom prst="line">
            <a:avLst/>
          </a:prstGeom>
          <a:ln w="412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703483" y="4274620"/>
            <a:ext cx="1068013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После имени таблицы в скобках указываются параметры всех столбцов и в самом конце атрибуты, которые относятся ко всей таблице. </a:t>
            </a:r>
          </a:p>
          <a:p>
            <a:endParaRPr lang="ru-RU" dirty="0">
              <a:solidFill>
                <a:prstClr val="black"/>
              </a:solidFill>
              <a:latin typeface="Verdana" panose="020B0604030504040204" pitchFamily="34" charset="0"/>
            </a:endParaRPr>
          </a:p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Атрибуты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 столбцов и 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атрибуты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 таблицы 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</a:rPr>
              <a:t>являются необязательными компонентами</a:t>
            </a:r>
            <a:r>
              <a:rPr lang="ru-RU" dirty="0">
                <a:solidFill>
                  <a:prstClr val="black"/>
                </a:solidFill>
                <a:latin typeface="Verdana" panose="020B0604030504040204" pitchFamily="34" charset="0"/>
              </a:rPr>
              <a:t>, и их можно не указывать.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0694"/>
            <a:ext cx="12192000" cy="30873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92348" y="4373217"/>
            <a:ext cx="5088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prstClr val="black"/>
                </a:solidFill>
              </a:rPr>
              <a:t>NVARCHAR(20 - </a:t>
            </a:r>
            <a:r>
              <a:rPr lang="ru-RU" dirty="0">
                <a:solidFill>
                  <a:prstClr val="black"/>
                </a:solidFill>
              </a:rPr>
              <a:t>строка UNICODE длиной не более 20 символов. </a:t>
            </a:r>
          </a:p>
          <a:p>
            <a:r>
              <a:rPr lang="ru-RU" b="1" dirty="0">
                <a:solidFill>
                  <a:prstClr val="black"/>
                </a:solidFill>
              </a:rPr>
              <a:t>VARCHAR(30/20)</a:t>
            </a:r>
            <a:r>
              <a:rPr lang="ru-RU" dirty="0">
                <a:solidFill>
                  <a:prstClr val="black"/>
                </a:solidFill>
              </a:rPr>
              <a:t> - строка в кодировке   </a:t>
            </a:r>
            <a:r>
              <a:rPr lang="en-US">
                <a:solidFill>
                  <a:prstClr val="black"/>
                </a:solidFill>
              </a:rPr>
              <a:t>ASCII</a:t>
            </a:r>
            <a:r>
              <a:rPr lang="ru-RU">
                <a:solidFill>
                  <a:prstClr val="black"/>
                </a:solidFill>
              </a:rPr>
              <a:t>.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78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471499-E094-4890-A43C-70D6006A7E79}"/>
              </a:ext>
            </a:extLst>
          </p:cNvPr>
          <p:cNvSpPr txBox="1"/>
          <p:nvPr/>
        </p:nvSpPr>
        <p:spPr>
          <a:xfrm>
            <a:off x="788565" y="1795244"/>
            <a:ext cx="107882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гайд</a:t>
            </a:r>
            <a:r>
              <a:rPr lang="ru-RU" dirty="0"/>
              <a:t> как создать сервер</a:t>
            </a:r>
          </a:p>
          <a:p>
            <a:r>
              <a:rPr lang="ru-RU" dirty="0"/>
              <a:t>https://blog.argogeo.ru/арго-6/самостоятельная-установка-sql-server-2025-express/</a:t>
            </a:r>
          </a:p>
          <a:p>
            <a:endParaRPr lang="ru-RU" dirty="0"/>
          </a:p>
          <a:p>
            <a:r>
              <a:rPr lang="ru-RU" dirty="0"/>
              <a:t>где скачать </a:t>
            </a:r>
            <a:r>
              <a:rPr lang="ru-RU" dirty="0" err="1"/>
              <a:t>ssms</a:t>
            </a:r>
            <a:r>
              <a:rPr lang="ru-RU" dirty="0"/>
              <a:t> 2022</a:t>
            </a:r>
          </a:p>
          <a:p>
            <a:r>
              <a:rPr lang="ru-RU" dirty="0"/>
              <a:t>https://learn.microsoft.com/ru-ru/ssms/install/install</a:t>
            </a:r>
          </a:p>
          <a:p>
            <a:endParaRPr lang="ru-RU" dirty="0"/>
          </a:p>
          <a:p>
            <a:r>
              <a:rPr lang="ru-RU" dirty="0"/>
              <a:t>Вам потребуется дома создать сервер, открыть его в </a:t>
            </a:r>
            <a:r>
              <a:rPr lang="ru-RU" dirty="0" err="1"/>
              <a:t>ssms</a:t>
            </a:r>
            <a:r>
              <a:rPr lang="ru-RU" dirty="0"/>
              <a:t> там создать </a:t>
            </a:r>
            <a:r>
              <a:rPr lang="ru-RU" dirty="0" err="1"/>
              <a:t>бд</a:t>
            </a:r>
            <a:r>
              <a:rPr lang="ru-RU" dirty="0"/>
              <a:t>, в ней таблицу и прислать 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226047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703</Words>
  <Application>Microsoft Office PowerPoint</Application>
  <PresentationFormat>Широкоэкранный</PresentationFormat>
  <Paragraphs>67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Verdana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Фомичева Светлана</dc:creator>
  <cp:lastModifiedBy>teacher</cp:lastModifiedBy>
  <cp:revision>3</cp:revision>
  <dcterms:created xsi:type="dcterms:W3CDTF">2025-03-06T10:23:22Z</dcterms:created>
  <dcterms:modified xsi:type="dcterms:W3CDTF">2026-09-25T19:02:02Z</dcterms:modified>
</cp:coreProperties>
</file>